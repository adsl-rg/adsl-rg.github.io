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44"/>
  </p:notesMasterIdLst>
  <p:sldIdLst>
    <p:sldId id="1366" r:id="rId3"/>
    <p:sldId id="1367" r:id="rId4"/>
    <p:sldId id="1472" r:id="rId5"/>
    <p:sldId id="1485" r:id="rId6"/>
    <p:sldId id="1488" r:id="rId7"/>
    <p:sldId id="1486" r:id="rId8"/>
    <p:sldId id="1487" r:id="rId9"/>
    <p:sldId id="1474" r:id="rId10"/>
    <p:sldId id="1475" r:id="rId11"/>
    <p:sldId id="1476" r:id="rId12"/>
    <p:sldId id="1399" r:id="rId13"/>
    <p:sldId id="1393" r:id="rId14"/>
    <p:sldId id="1454" r:id="rId15"/>
    <p:sldId id="1465" r:id="rId16"/>
    <p:sldId id="1427" r:id="rId17"/>
    <p:sldId id="1455" r:id="rId18"/>
    <p:sldId id="1456" r:id="rId19"/>
    <p:sldId id="1458" r:id="rId20"/>
    <p:sldId id="1459" r:id="rId21"/>
    <p:sldId id="1460" r:id="rId22"/>
    <p:sldId id="1461" r:id="rId23"/>
    <p:sldId id="1462" r:id="rId24"/>
    <p:sldId id="1463" r:id="rId25"/>
    <p:sldId id="1464" r:id="rId26"/>
    <p:sldId id="1400" r:id="rId27"/>
    <p:sldId id="1401" r:id="rId28"/>
    <p:sldId id="1403" r:id="rId29"/>
    <p:sldId id="1426" r:id="rId30"/>
    <p:sldId id="1404" r:id="rId31"/>
    <p:sldId id="1480" r:id="rId32"/>
    <p:sldId id="1481" r:id="rId33"/>
    <p:sldId id="1482" r:id="rId34"/>
    <p:sldId id="1483" r:id="rId35"/>
    <p:sldId id="1484" r:id="rId36"/>
    <p:sldId id="1413" r:id="rId37"/>
    <p:sldId id="1414" r:id="rId38"/>
    <p:sldId id="1477" r:id="rId39"/>
    <p:sldId id="1478" r:id="rId40"/>
    <p:sldId id="1468" r:id="rId41"/>
    <p:sldId id="1469" r:id="rId42"/>
    <p:sldId id="1471" r:id="rId4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31D261A-99E2-2C4E-9E69-DF0F6501B010}">
          <p14:sldIdLst>
            <p14:sldId id="1366"/>
            <p14:sldId id="1367"/>
            <p14:sldId id="1472"/>
            <p14:sldId id="1485"/>
            <p14:sldId id="1488"/>
            <p14:sldId id="1486"/>
            <p14:sldId id="1487"/>
            <p14:sldId id="1474"/>
            <p14:sldId id="1475"/>
            <p14:sldId id="1476"/>
            <p14:sldId id="1399"/>
            <p14:sldId id="1393"/>
            <p14:sldId id="1454"/>
            <p14:sldId id="1465"/>
            <p14:sldId id="1427"/>
            <p14:sldId id="1455"/>
            <p14:sldId id="1456"/>
            <p14:sldId id="1458"/>
            <p14:sldId id="1459"/>
            <p14:sldId id="1460"/>
            <p14:sldId id="1461"/>
            <p14:sldId id="1462"/>
            <p14:sldId id="1463"/>
            <p14:sldId id="1464"/>
            <p14:sldId id="1400"/>
            <p14:sldId id="1401"/>
            <p14:sldId id="1403"/>
            <p14:sldId id="1426"/>
            <p14:sldId id="1404"/>
            <p14:sldId id="1480"/>
            <p14:sldId id="1481"/>
            <p14:sldId id="1482"/>
            <p14:sldId id="1483"/>
            <p14:sldId id="1484"/>
            <p14:sldId id="1413"/>
            <p14:sldId id="1414"/>
          </p14:sldIdLst>
        </p14:section>
        <p14:section name="无标题节" id="{489BDB00-904F-6446-8922-5A6361FF9245}">
          <p14:sldIdLst>
            <p14:sldId id="1477"/>
            <p14:sldId id="1478"/>
            <p14:sldId id="1468"/>
            <p14:sldId id="1469"/>
            <p14:sldId id="14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AC9"/>
    <a:srgbClr val="F0C0C0"/>
    <a:srgbClr val="CFB4F9"/>
    <a:srgbClr val="DDCDFF"/>
    <a:srgbClr val="56C2FF"/>
    <a:srgbClr val="595959"/>
    <a:srgbClr val="E2F1DA"/>
    <a:srgbClr val="EFFFEA"/>
    <a:srgbClr val="F8FFF6"/>
    <a:srgbClr val="4472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4C208C-C046-932F-8774-929D89059C29}" v="3" dt="2025-10-27T13:43:16.702"/>
    <p1510:client id="{C1ABCB91-B954-D646-A339-5B8E02E213DD}" v="5936" dt="2025-10-28T11:16:09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8"/>
  </p:normalViewPr>
  <p:slideViewPr>
    <p:cSldViewPr snapToGrid="0">
      <p:cViewPr varScale="1">
        <p:scale>
          <a:sx n="99" d="100"/>
          <a:sy n="99" d="100"/>
        </p:scale>
        <p:origin x="192" y="600"/>
      </p:cViewPr>
      <p:guideLst>
        <p:guide orient="horz" pos="2183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3FD33F-A4D9-6248-8A20-040E933D49A7}" type="datetimeFigureOut">
              <a:rPr kumimoji="1" lang="zh-CN" altLang="en-US" smtClean="0"/>
              <a:t>2025/11/3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753EBD-B331-7D4C-B8D8-50C5D193DC3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/>
              </a:rPr>
              <a:t>老师同学们，大家晚上好，今天由我们🐷🐲🦩分享一篇arvix上的论文：shift parallelism。</a:t>
            </a:r>
          </a:p>
          <a:p>
            <a:r>
              <a:rPr lang="zh-CN" altLang="en-US">
                <a:ea typeface="等线"/>
              </a:rPr>
              <a:t>这篇文章通过在不同负载之间改变并行策略来实现高吞吐与低延迟。因为这篇的</a:t>
            </a:r>
            <a:r>
              <a:rPr lang="en-US" altLang="zh-CN">
                <a:ea typeface="等线"/>
              </a:rPr>
              <a:t>paper</a:t>
            </a:r>
            <a:r>
              <a:rPr lang="zh-CN" altLang="en-US">
                <a:ea typeface="等线"/>
              </a:rPr>
              <a:t> </a:t>
            </a:r>
            <a:r>
              <a:rPr lang="en-US" altLang="zh-CN">
                <a:ea typeface="等线"/>
              </a:rPr>
              <a:t>writing</a:t>
            </a:r>
            <a:r>
              <a:rPr lang="zh-CN" altLang="en-US">
                <a:ea typeface="等线"/>
              </a:rPr>
              <a:t>实在太烂了，所以如果大家对这篇的内容比较感兴趣的话，我建议认真听一下我们的讲解，并且欢迎随时提问。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/>
              <a:t>今天的内容将从这四个角度出发</a:t>
            </a:r>
            <a:endParaRPr kumimoji="1" lang="en-US" altLang="zh-CN"/>
          </a:p>
          <a:p>
            <a:endParaRPr kumimoji="1"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6145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等线"/>
              </a:rPr>
              <a:t>在推理场景中，通常会出现两类不同的负载模式：</a:t>
            </a:r>
            <a:endParaRPr lang="en-US" altLang="zh-CN">
              <a:cs typeface="+mn-lt"/>
            </a:endParaRPr>
          </a:p>
          <a:p>
            <a:r>
              <a:rPr lang="zh-CN" b="1">
                <a:ea typeface="等线"/>
              </a:rPr>
              <a:t>（1）互动型负载</a:t>
            </a:r>
            <a:r>
              <a:rPr lang="zh-CN">
                <a:ea typeface="等线"/>
              </a:rPr>
              <a:t>：例如对话式聊天。这类任务以用户体验为核心，需要尽可能降低完成延迟，也就是尽量缩短 TTFT（首 token 延迟）和 TPOT（输出 token 延迟）。</a:t>
            </a:r>
            <a:endParaRPr lang="en-US" altLang="zh-CN">
              <a:cs typeface="+mn-lt"/>
            </a:endParaRPr>
          </a:p>
          <a:p>
            <a:r>
              <a:rPr lang="zh-CN" b="1">
                <a:ea typeface="等线"/>
              </a:rPr>
              <a:t>（2）批量型负载</a:t>
            </a:r>
            <a:r>
              <a:rPr lang="zh-CN">
                <a:ea typeface="等线"/>
              </a:rPr>
              <a:t>：例如一次性处理和总结大量文档。这类任务对延迟并不敏感，但对吞吐率要求很高。</a:t>
            </a:r>
            <a:endParaRPr lang="en-US" altLang="zh-CN">
              <a:cs typeface="+mn-lt"/>
            </a:endParaRPr>
          </a:p>
          <a:p>
            <a:r>
              <a:rPr lang="zh-CN">
                <a:ea typeface="等线"/>
              </a:rPr>
              <a:t>在实际系统中，这两类负载往往不会独立出现，而是交织并发。当互动型和批量型请求混合时，系统会面临突发的高请求压力，并且不同负载对服务质量的要求存在明显差异。</a:t>
            </a:r>
          </a:p>
          <a:p>
            <a:endParaRPr lang="zh-CN" altLang="en-US">
              <a:latin typeface="Calibri"/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26365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等线"/>
              </a:rPr>
              <a:t>现有的推理框架通常借助不同并行策略来追求低延迟或高吞吐率。</a:t>
            </a:r>
          </a:p>
          <a:p>
            <a:r>
              <a:rPr lang="zh-CN"/>
              <a:t>图</a:t>
            </a:r>
            <a:r>
              <a:rPr lang="zh-CN" altLang="en-US"/>
              <a:t>中</a:t>
            </a:r>
            <a:r>
              <a:rPr lang="zh-CN"/>
              <a:t>展示了各类并行方式在性能维度上的差异化表现。</a:t>
            </a:r>
          </a:p>
          <a:p>
            <a:r>
              <a:rPr lang="zh-CN" altLang="en-US">
                <a:latin typeface="Calibri"/>
                <a:ea typeface="等线"/>
                <a:cs typeface="Calibri"/>
              </a:rPr>
              <a:t>可以看出，不同的并行方式在不同的维度上各有优势，后面我们会解释为什么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69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2701-0D75-6DFB-3755-F5B2AEA41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35DA627-DC40-322C-C856-C15D89722C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9A528E5-1D6D-1044-B0D5-27FFD133E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a typeface="等线"/>
              </a:rPr>
              <a:t>为了避免误解，关于这里</a:t>
            </a:r>
            <a:r>
              <a:rPr lang="en-US" altLang="zh-CN">
                <a:ea typeface="等线"/>
              </a:rPr>
              <a:t>TP</a:t>
            </a:r>
            <a:r>
              <a:rPr lang="zh-CN" altLang="en-US">
                <a:ea typeface="等线"/>
              </a:rPr>
              <a:t>和</a:t>
            </a:r>
            <a:r>
              <a:rPr lang="en-US" altLang="zh-CN">
                <a:ea typeface="等线"/>
              </a:rPr>
              <a:t>DP</a:t>
            </a:r>
            <a:r>
              <a:rPr lang="zh-CN" altLang="en-US">
                <a:ea typeface="等线"/>
              </a:rPr>
              <a:t>的表现，我先给大家做一个简单的解释。即为什么</a:t>
            </a:r>
            <a:r>
              <a:rPr lang="en-US" altLang="zh-CN">
                <a:ea typeface="等线"/>
              </a:rPr>
              <a:t>DP</a:t>
            </a:r>
            <a:r>
              <a:rPr lang="zh-CN" altLang="en-US">
                <a:ea typeface="等线"/>
              </a:rPr>
              <a:t>的</a:t>
            </a:r>
            <a:r>
              <a:rPr lang="en-US" altLang="zh-CN">
                <a:ea typeface="等线"/>
              </a:rPr>
              <a:t>TTFT</a:t>
            </a:r>
            <a:r>
              <a:rPr lang="zh-CN" altLang="en-US">
                <a:ea typeface="等线"/>
              </a:rPr>
              <a:t>和</a:t>
            </a:r>
            <a:r>
              <a:rPr lang="en-US" altLang="zh-CN">
                <a:ea typeface="等线"/>
              </a:rPr>
              <a:t>TPOT</a:t>
            </a:r>
            <a:r>
              <a:rPr lang="zh-CN" altLang="en-US">
                <a:ea typeface="等线"/>
              </a:rPr>
              <a:t>表现更差，但却能有更高的吞吐。这主要是因为，</a:t>
            </a:r>
            <a:r>
              <a:rPr lang="en-US" altLang="zh-CN">
                <a:ea typeface="等线"/>
              </a:rPr>
              <a:t>TTFT</a:t>
            </a:r>
            <a:r>
              <a:rPr lang="zh-CN" altLang="en-US">
                <a:ea typeface="等线"/>
              </a:rPr>
              <a:t>与</a:t>
            </a:r>
            <a:r>
              <a:rPr lang="en-US" altLang="zh-CN">
                <a:ea typeface="等线"/>
              </a:rPr>
              <a:t>TPOT</a:t>
            </a:r>
            <a:r>
              <a:rPr lang="zh-CN" altLang="en-US">
                <a:ea typeface="等线"/>
              </a:rPr>
              <a:t>更侧重于单个</a:t>
            </a:r>
            <a:r>
              <a:rPr lang="en-US" altLang="zh-CN">
                <a:ea typeface="等线"/>
              </a:rPr>
              <a:t>request</a:t>
            </a:r>
            <a:r>
              <a:rPr lang="zh-CN" altLang="en-US">
                <a:ea typeface="等线"/>
              </a:rPr>
              <a:t>的表现，而吞吐更侧重于整体</a:t>
            </a:r>
            <a:r>
              <a:rPr lang="en-US" altLang="zh-CN">
                <a:ea typeface="等线"/>
              </a:rPr>
              <a:t>batch</a:t>
            </a:r>
            <a:r>
              <a:rPr lang="zh-CN" altLang="en-US">
                <a:ea typeface="等线"/>
              </a:rPr>
              <a:t>的表现。</a:t>
            </a:r>
            <a:endParaRPr lang="en-US" altLang="zh-CN">
              <a:ea typeface="等线"/>
            </a:endParaRPr>
          </a:p>
          <a:p>
            <a:r>
              <a:rPr lang="zh-CN" altLang="en-US">
                <a:latin typeface="Calibri"/>
                <a:ea typeface="等线"/>
                <a:cs typeface="Calibri"/>
              </a:rPr>
              <a:t>如图分别展示了</a:t>
            </a:r>
            <a:r>
              <a:rPr lang="en-US" altLang="zh-CN">
                <a:latin typeface="Calibri"/>
                <a:ea typeface="等线"/>
                <a:cs typeface="Calibri"/>
              </a:rPr>
              <a:t>DP2</a:t>
            </a:r>
            <a:r>
              <a:rPr lang="zh-CN" altLang="en-US">
                <a:latin typeface="Calibri"/>
                <a:ea typeface="等线"/>
                <a:cs typeface="Calibri"/>
              </a:rPr>
              <a:t>和</a:t>
            </a:r>
            <a:r>
              <a:rPr lang="en-US" altLang="zh-CN">
                <a:latin typeface="Calibri"/>
                <a:ea typeface="等线"/>
                <a:cs typeface="Calibri"/>
              </a:rPr>
              <a:t>TP2</a:t>
            </a:r>
            <a:r>
              <a:rPr lang="zh-CN" altLang="en-US">
                <a:latin typeface="Calibri"/>
                <a:ea typeface="等线"/>
                <a:cs typeface="Calibri"/>
              </a:rPr>
              <a:t>处理同样多的</a:t>
            </a:r>
            <a:r>
              <a:rPr lang="en-US" altLang="zh-CN">
                <a:latin typeface="Calibri"/>
                <a:ea typeface="等线"/>
                <a:cs typeface="Calibri"/>
              </a:rPr>
              <a:t>request</a:t>
            </a:r>
            <a:r>
              <a:rPr lang="zh-CN" altLang="en-US">
                <a:latin typeface="Calibri"/>
                <a:ea typeface="等线"/>
                <a:cs typeface="Calibri"/>
              </a:rPr>
              <a:t>的情况，</a:t>
            </a:r>
            <a:r>
              <a:rPr lang="en-US" altLang="zh-CN">
                <a:latin typeface="Calibri"/>
                <a:ea typeface="等线"/>
                <a:cs typeface="Calibri"/>
              </a:rPr>
              <a:t>TP</a:t>
            </a:r>
            <a:r>
              <a:rPr lang="zh-CN" altLang="en-US">
                <a:latin typeface="Calibri"/>
                <a:ea typeface="等线"/>
                <a:cs typeface="Calibri"/>
              </a:rPr>
              <a:t>引入了更多的通信，因此总时间是增加的，但对于单个请求而言，</a:t>
            </a:r>
            <a:r>
              <a:rPr lang="en-US" altLang="zh-CN">
                <a:latin typeface="Calibri"/>
                <a:ea typeface="等线"/>
                <a:cs typeface="Calibri"/>
              </a:rPr>
              <a:t>TP</a:t>
            </a:r>
            <a:r>
              <a:rPr lang="zh-CN" altLang="en-US">
                <a:latin typeface="Calibri"/>
                <a:ea typeface="等线"/>
                <a:cs typeface="Calibri"/>
              </a:rPr>
              <a:t>减少了每张卡上的计算时间，因此</a:t>
            </a:r>
            <a:r>
              <a:rPr lang="en-US" altLang="zh-CN">
                <a:latin typeface="Calibri"/>
                <a:ea typeface="等线"/>
                <a:cs typeface="Calibri"/>
              </a:rPr>
              <a:t>TTFT</a:t>
            </a:r>
            <a:r>
              <a:rPr lang="zh-CN" altLang="en-US">
                <a:latin typeface="Calibri"/>
                <a:ea typeface="等线"/>
                <a:cs typeface="Calibri"/>
              </a:rPr>
              <a:t>与</a:t>
            </a:r>
            <a:r>
              <a:rPr lang="en-US" altLang="zh-CN">
                <a:latin typeface="Calibri"/>
                <a:ea typeface="等线"/>
                <a:cs typeface="Calibri"/>
              </a:rPr>
              <a:t>TPOT</a:t>
            </a:r>
            <a:r>
              <a:rPr lang="zh-CN" altLang="en-US">
                <a:latin typeface="Calibri"/>
                <a:ea typeface="等线"/>
                <a:cs typeface="Calibri"/>
              </a:rPr>
              <a:t>是更优的。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4DBBB54-A1DE-851B-059A-11423B56B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017308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ED1B8-1DF2-6FF0-8B1E-37D1B36B0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49624A-6FF1-B8B4-AEA1-942284230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8C10DF1-A300-9429-4387-F68F03464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err="1">
                <a:ea typeface="等线"/>
              </a:rPr>
              <a:t>接下来简单介绍一下</a:t>
            </a:r>
            <a:r>
              <a:rPr lang="zh-CN" altLang="en-US">
                <a:ea typeface="等线"/>
              </a:rPr>
              <a:t>刚才提到的并行方式</a:t>
            </a:r>
            <a:r>
              <a:rPr lang="en-US" altLang="zh-CN">
                <a:ea typeface="等线"/>
              </a:rPr>
              <a:t>。</a:t>
            </a:r>
          </a:p>
          <a:p>
            <a:r>
              <a:rPr lang="en-US" altLang="zh-CN">
                <a:ea typeface="等线"/>
              </a:rPr>
              <a:t>DP</a:t>
            </a:r>
            <a:r>
              <a:rPr lang="zh-CN" altLang="en-US">
                <a:ea typeface="等线"/>
              </a:rPr>
              <a:t>的计算流程比较简单，不涉及模型的变化，只是切分了输入数据，所以不做额外讲解</a:t>
            </a:r>
            <a:endParaRPr lang="en-US" altLang="zh-CN">
              <a:ea typeface="等线"/>
            </a:endParaRPr>
          </a:p>
          <a:p>
            <a:r>
              <a:rPr lang="en-US" altLang="zh-CN" err="1">
                <a:ea typeface="等线"/>
              </a:rPr>
              <a:t>张量并行会沿着hidden</a:t>
            </a:r>
            <a:r>
              <a:rPr lang="en-US" altLang="zh-CN">
                <a:ea typeface="等线"/>
              </a:rPr>
              <a:t> </a:t>
            </a:r>
            <a:r>
              <a:rPr lang="en-US" altLang="zh-CN" err="1">
                <a:ea typeface="等线"/>
              </a:rPr>
              <a:t>size维度对模型权重进行切分，并将其分布在不同的设备上</a:t>
            </a:r>
            <a:r>
              <a:rPr lang="en-US" altLang="zh-CN">
                <a:ea typeface="等线"/>
              </a:rPr>
              <a:t>。</a:t>
            </a:r>
          </a:p>
          <a:p>
            <a:r>
              <a:rPr lang="zh-CN" altLang="en-US">
                <a:ea typeface="等线"/>
              </a:rPr>
              <a:t>每个设备接收相同的输入</a:t>
            </a:r>
            <a:r>
              <a:rPr lang="en-US"/>
              <a:t>，</a:t>
            </a:r>
            <a:r>
              <a:rPr lang="en-US" err="1"/>
              <a:t>将其与本地的权重分块相乘，得到对应的局部</a:t>
            </a:r>
            <a:r>
              <a:rPr lang="en-US"/>
              <a:t> Q/K/</a:t>
            </a:r>
            <a:r>
              <a:rPr lang="en-US" err="1"/>
              <a:t>V，然后参与计算局部的注意力分数，进一步与分块后的</a:t>
            </a:r>
            <a:r>
              <a:rPr lang="en-US"/>
              <a:t> Wo </a:t>
            </a:r>
            <a:r>
              <a:rPr lang="en-US" err="1"/>
              <a:t>相乘生成部分的输出向量。最后</a:t>
            </a:r>
            <a:r>
              <a:rPr lang="en-US"/>
              <a:t>，</a:t>
            </a:r>
            <a:r>
              <a:rPr lang="zh-CN" altLang="en-US">
                <a:ea typeface="等线"/>
              </a:rPr>
              <a:t>通过一次</a:t>
            </a:r>
            <a:r>
              <a:rPr lang="en-US"/>
              <a:t> all-reduce </a:t>
            </a:r>
            <a:r>
              <a:rPr lang="zh-CN" altLang="en-US">
                <a:ea typeface="等线"/>
              </a:rPr>
              <a:t>通信将各设备的局部结果聚合</a:t>
            </a:r>
            <a:r>
              <a:rPr lang="en-US"/>
              <a:t>，</a:t>
            </a:r>
            <a:r>
              <a:rPr lang="zh-CN" altLang="en-US">
                <a:ea typeface="等线"/>
              </a:rPr>
              <a:t>恢复完整的输出</a:t>
            </a:r>
            <a:endParaRPr lang="en-US">
              <a:ea typeface="等线"/>
            </a:endParaRPr>
          </a:p>
          <a:p>
            <a:endParaRPr lang="en-US" altLang="zh-CN">
              <a:ea typeface="等线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6B5427-E27D-411A-3CBD-117AB0C064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60473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0FDB1-5F61-89EF-746A-878C19A3A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65F4FC-B283-DEDC-0FFD-97D2ACA4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2F3AF3-C431-32AA-DF3A-2E48C4F7AB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err="1">
                <a:ea typeface="等线"/>
              </a:rPr>
              <a:t>序列并行，这里要注意的是序列并行有很多种，比如</a:t>
            </a:r>
            <a:r>
              <a:rPr lang="en-US" altLang="zh-CN" err="1">
                <a:ea typeface="等线"/>
              </a:rPr>
              <a:t>megatron</a:t>
            </a:r>
            <a:r>
              <a:rPr lang="en-US" altLang="zh-CN">
                <a:ea typeface="等线"/>
              </a:rPr>
              <a:t> sp</a:t>
            </a:r>
            <a:r>
              <a:rPr lang="zh-CN" altLang="zh-CN">
                <a:ea typeface="等线"/>
              </a:rPr>
              <a:t>，</a:t>
            </a:r>
            <a:r>
              <a:rPr lang="en-US" altLang="zh-CN">
                <a:ea typeface="等线"/>
              </a:rPr>
              <a:t>loongserve</a:t>
            </a:r>
            <a:r>
              <a:rPr lang="zh-CN" altLang="zh-CN">
                <a:ea typeface="等线"/>
              </a:rPr>
              <a:t>的</a:t>
            </a:r>
            <a:r>
              <a:rPr lang="en-US" altLang="zh-CN">
                <a:ea typeface="等线"/>
              </a:rPr>
              <a:t>sp，</a:t>
            </a:r>
            <a:r>
              <a:rPr lang="zh-CN" altLang="zh-CN">
                <a:ea typeface="等线"/>
              </a:rPr>
              <a:t>而这里的是</a:t>
            </a:r>
            <a:r>
              <a:rPr lang="en-US" altLang="zh-CN">
                <a:ea typeface="等线"/>
              </a:rPr>
              <a:t>deepspeed</a:t>
            </a:r>
            <a:r>
              <a:rPr lang="zh-CN" altLang="zh-CN">
                <a:ea typeface="等线"/>
              </a:rPr>
              <a:t>的</a:t>
            </a:r>
            <a:r>
              <a:rPr lang="en-US"/>
              <a:t>Ulysses-sp。</a:t>
            </a:r>
            <a:endParaRPr lang="zh-CN" altLang="en-US"/>
          </a:p>
          <a:p>
            <a:r>
              <a:rPr lang="zh-CN" altLang="en-US">
                <a:ea typeface="等线"/>
              </a:rPr>
              <a:t>在 </a:t>
            </a:r>
            <a:r>
              <a:rPr lang="en-US" altLang="zh-CN">
                <a:ea typeface="等线"/>
              </a:rPr>
              <a:t>Ulysses-SP</a:t>
            </a:r>
            <a:r>
              <a:rPr lang="zh-CN" altLang="en-US">
                <a:ea typeface="等线"/>
              </a:rPr>
              <a:t> 中，</a:t>
            </a:r>
            <a:r>
              <a:rPr lang="zh-CN">
                <a:ea typeface="等线"/>
              </a:rPr>
              <a:t>输入首先沿着序列</a:t>
            </a:r>
            <a:r>
              <a:rPr lang="en-US" altLang="zh-CN">
                <a:ea typeface="等线"/>
              </a:rPr>
              <a:t>s</a:t>
            </a:r>
            <a:r>
              <a:rPr lang="zh-CN">
                <a:ea typeface="等线"/>
              </a:rPr>
              <a:t>eq维度进行切分，而模型权重依然保持完整不变。切分后的序列片段与完整权重相乘，从而得到该部分序列对应的完整 Q/K/V。随后执行一次 all-to-all 通信，对 QKV 的 head 进行重排，使其布局与张量并行的形状对齐。完成注意力计算后，再通过另一轮 all-to-all 将结果恢复为按</a:t>
            </a:r>
            <a:r>
              <a:rPr lang="en-US" altLang="zh-CN">
                <a:ea typeface="等线"/>
              </a:rPr>
              <a:t>seq</a:t>
            </a:r>
            <a:r>
              <a:rPr lang="zh-CN">
                <a:ea typeface="等线"/>
              </a:rPr>
              <a:t>划分的形式。</a:t>
            </a:r>
          </a:p>
          <a:p>
            <a:endParaRPr lang="zh-CN" altLang="en-US">
              <a:ea typeface="等线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4F4889-99F2-A88F-EE34-A086B152F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03765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>
                <a:ea typeface="等线"/>
              </a:rPr>
              <a:t>前</a:t>
            </a:r>
            <a:r>
              <a:rPr lang="zh-CN" altLang="en-US">
                <a:ea typeface="等线"/>
              </a:rPr>
              <a:t>面</a:t>
            </a:r>
            <a:r>
              <a:rPr lang="zh-CN">
                <a:ea typeface="等线"/>
              </a:rPr>
              <a:t>已经指出，单一策略往往只能很好地适配某一种负载模式。那么，是否可以将多种并行方案组合使用，从而同时应对不同类型的负载呢？</a:t>
            </a:r>
          </a:p>
          <a:p>
            <a:endParaRPr lang="zh-CN" altLang="en-US">
              <a:latin typeface="Calibri"/>
              <a:ea typeface="等线"/>
              <a:cs typeface="Calibri"/>
            </a:endParaRPr>
          </a:p>
          <a:p>
            <a:r>
              <a:rPr lang="zh-CN" altLang="en-US">
                <a:latin typeface="Calibri"/>
                <a:ea typeface="等线"/>
                <a:cs typeface="Calibri"/>
              </a:rPr>
              <a:t>基于这个想法，作者提出根据真实世界的负载模式来动态选择合适的并行策略。举例来说就是在高负载时保持高吞吐，选择A并行策略；而低负载时尽可能降低完成延迟，因此选择用B并行策略。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467227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Calibri"/>
                <a:ea typeface="等线"/>
                <a:cs typeface="Calibri"/>
              </a:rPr>
              <a:t>有了解决方法，作者分析了不同并行策略结合的效率。</a:t>
            </a:r>
          </a:p>
          <a:p>
            <a:r>
              <a:rPr lang="zh-CN" altLang="en-US">
                <a:latin typeface="等线"/>
                <a:ea typeface="等线"/>
                <a:cs typeface="Calibri"/>
              </a:rPr>
              <a:t>第一类是DP和其他并行结合，这种方式确实能够实现高吞吐与低延迟，但是DP与TP以及SP的KV cache布局不同，切换会引入大量迁移开销。</a:t>
            </a:r>
          </a:p>
          <a:p>
            <a:r>
              <a:rPr lang="zh-CN" altLang="en-US">
                <a:latin typeface="等线"/>
                <a:ea typeface="等线"/>
                <a:cs typeface="Calibri"/>
              </a:rPr>
              <a:t>第二类是TP与SP结合，也是作者最终选择组合的两个并行方案，不仅能满足各种负载，并且由于他们的kv cache排布相同，无需对kv cache进行额外处理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347994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Calibri"/>
                <a:ea typeface="等线"/>
                <a:cs typeface="Calibri"/>
              </a:rPr>
              <a:t>这里再次解释一下kv cache布局相同这件事。</a:t>
            </a:r>
            <a:r>
              <a:rPr lang="zh-CN">
                <a:ea typeface="等线"/>
              </a:rPr>
              <a:t>虽然 TP 与 SP 的切分对象与维度不同（TP 沿 hidden size 切分，而 SP 沿 seq 维度切分），但在真正进入注意力计算阶段时，Q/K/V 的布局会被重新整理为沿注意力 head 进行切分的形式。也就是说，无论前端的并行方式如何，到了计算注意力分数的核心步骤，它们在 GPU 间的分布方式是一致的。</a:t>
            </a:r>
            <a:endParaRPr lang="en-US">
              <a:ea typeface="等线"/>
            </a:endParaRPr>
          </a:p>
          <a:p>
            <a:endParaRPr lang="zh-CN" altLang="en-US">
              <a:latin typeface="等线"/>
              <a:ea typeface="等线"/>
              <a:cs typeface="Calibr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92322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</a:t>
            </a:r>
            <a:r>
              <a:rPr lang="en-US" altLang="zh-CN"/>
              <a:t>Shit</a:t>
            </a:r>
            <a:r>
              <a:rPr lang="zh-CN" altLang="en-US"/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Parallelism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这篇文章就提出的关键想法就是，我可以给模型设置两个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：</a:t>
            </a:r>
            <a:b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一个是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config,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这个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是刚好可以放下一个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的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。 比如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开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，刚好可以放下一个模型。然后为了增大吞吐率，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SP=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所有卡数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/TP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b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另一个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叫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shift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config,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开全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SP=1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。</a:t>
            </a:r>
            <a:endParaRPr kumimoji="1" lang="en-US" altLang="zh-CN" b="0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这样当集群负载突然变大时，这类任务通常需要满足高的吞吐，我们可以用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并行方式，即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config,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因为大的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有较高的吞吐。 而对于集群负载比较小的情况，我们可以用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并行方式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——shift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config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因为低流量时的任务需要满足严格的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TTFT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和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TPOT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，所以我们用大</a:t>
            </a:r>
            <a:r>
              <a:rPr kumimoji="1" lang="en-US" altLang="zh-CN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zh-CN" altLang="en-US" b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来加速。</a:t>
            </a:r>
            <a:endParaRPr lang="en-US" altLang="zh-CN" b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93BA5-1D2A-774F-AE48-F94990332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302B3B-260C-1218-3416-8A5301A57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04A9DDE-78A4-A6CF-D66D-59E10C954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当然，要实现在这种两种并行配置之间切换带来了更进一步的挑战：</a:t>
            </a:r>
            <a:br>
              <a:rPr lang="en-US" altLang="zh-CN"/>
            </a:br>
            <a:r>
              <a:rPr lang="en-US" altLang="zh-CN"/>
              <a:t>1.</a:t>
            </a:r>
            <a:r>
              <a:rPr lang="zh-CN" altLang="en-US"/>
              <a:t>支持推理里的</a:t>
            </a:r>
            <a:r>
              <a:rPr lang="en-US" altLang="zh-CN"/>
              <a:t>SP</a:t>
            </a:r>
            <a:r>
              <a:rPr lang="zh-CN" altLang="en-US"/>
              <a:t>， 目前的支持是不完善的，比如</a:t>
            </a:r>
            <a:r>
              <a:rPr lang="en-US" altLang="zh-CN"/>
              <a:t>GQA</a:t>
            </a:r>
            <a:r>
              <a:rPr lang="zh-CN" altLang="en-US"/>
              <a:t>的扩展</a:t>
            </a:r>
            <a:r>
              <a:rPr lang="en-US" altLang="zh-CN"/>
              <a:t>SP</a:t>
            </a:r>
            <a:r>
              <a:rPr lang="zh-CN" altLang="en-US"/>
              <a:t>是不支持的，还有</a:t>
            </a:r>
            <a:r>
              <a:rPr lang="en-US" altLang="zh-CN"/>
              <a:t>SP</a:t>
            </a:r>
            <a:r>
              <a:rPr lang="zh-CN" altLang="en-US"/>
              <a:t>在低流量的时候会有一个</a:t>
            </a:r>
            <a:r>
              <a:rPr lang="en-US" altLang="zh-CN"/>
              <a:t>load</a:t>
            </a:r>
            <a:r>
              <a:rPr lang="zh-CN" altLang="en-US"/>
              <a:t> </a:t>
            </a:r>
            <a:r>
              <a:rPr lang="en-US" altLang="zh-CN"/>
              <a:t>imbalance</a:t>
            </a:r>
            <a:r>
              <a:rPr lang="zh-CN" altLang="en-US"/>
              <a:t>的问题，这个我们后面会分析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FFF9EC-8188-D86D-27E0-F6B7CB67D3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67583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AE8BA-D532-216A-C6C7-009D7E36B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6D2CCF-AC2A-F83F-B68C-3CF45688D1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2DDEE60-24B8-C675-7540-27F950CD65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/>
              <a:t>2.</a:t>
            </a:r>
            <a:r>
              <a:rPr lang="zh-CN" altLang="en-US"/>
              <a:t> 进一步，我们如何实现两种方式直接的切换，首先，两个并行在</a:t>
            </a:r>
            <a:r>
              <a:rPr lang="en-US" altLang="zh-CN"/>
              <a:t>KV</a:t>
            </a:r>
            <a:r>
              <a:rPr lang="zh-CN" altLang="en-US"/>
              <a:t> </a:t>
            </a:r>
            <a:r>
              <a:rPr lang="en-US" altLang="zh-CN"/>
              <a:t>cache</a:t>
            </a:r>
            <a:r>
              <a:rPr lang="zh-CN" altLang="en-US"/>
              <a:t>布局上虽然是一致的，但是在头的顺序上却是不一致的，因此我们需要统一他们的顺序。此外，两种表现方式的权重布局是不同的，这点上如何处理？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2CB845E-3141-03FF-D6CF-0CEDA8F55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9375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本文依次对这两个挑战进行了解决，首先我们看一下早期</a:t>
            </a:r>
            <a:r>
              <a:rPr lang="en-US" altLang="zh-CN"/>
              <a:t>SP</a:t>
            </a:r>
            <a:r>
              <a:rPr lang="zh-CN" altLang="en-US"/>
              <a:t>在推理上的不支持问题，在</a:t>
            </a:r>
            <a:r>
              <a:rPr lang="en-US" altLang="zh-CN"/>
              <a:t>GQA</a:t>
            </a:r>
            <a:r>
              <a:rPr lang="zh-CN" altLang="en-US"/>
              <a:t>这种</a:t>
            </a:r>
            <a:r>
              <a:rPr lang="en-US" altLang="zh-CN"/>
              <a:t>Attention</a:t>
            </a:r>
            <a:r>
              <a:rPr lang="zh-CN" altLang="en-US"/>
              <a:t>算法上，多个</a:t>
            </a:r>
            <a:r>
              <a:rPr lang="en-US" altLang="zh-CN"/>
              <a:t>Q</a:t>
            </a:r>
            <a:r>
              <a:rPr lang="zh-CN" altLang="en-US"/>
              <a:t>的</a:t>
            </a:r>
            <a:r>
              <a:rPr lang="en-US" altLang="zh-CN"/>
              <a:t>head</a:t>
            </a:r>
            <a:r>
              <a:rPr lang="zh-CN" altLang="en-US"/>
              <a:t>会共享一个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en-US" altLang="zh-CN"/>
              <a:t>head</a:t>
            </a:r>
            <a:r>
              <a:rPr lang="zh-CN" altLang="en-US"/>
              <a:t>，这时候，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zh-CN" altLang="en-US"/>
              <a:t>的数量可能比较少，而</a:t>
            </a:r>
            <a:r>
              <a:rPr lang="en-US" altLang="zh-CN"/>
              <a:t>SP</a:t>
            </a:r>
            <a:r>
              <a:rPr lang="zh-CN" altLang="en-US"/>
              <a:t>恰好是在</a:t>
            </a:r>
            <a:r>
              <a:rPr lang="en-US" altLang="zh-CN"/>
              <a:t>head</a:t>
            </a:r>
            <a:r>
              <a:rPr lang="zh-CN" altLang="en-US"/>
              <a:t>维度上分的，这时候，如果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zh-CN" altLang="en-US"/>
              <a:t>的</a:t>
            </a:r>
            <a:r>
              <a:rPr lang="en-US" altLang="zh-CN"/>
              <a:t>head</a:t>
            </a:r>
            <a:r>
              <a:rPr lang="zh-CN" altLang="en-US"/>
              <a:t>小于</a:t>
            </a:r>
            <a:r>
              <a:rPr lang="en-US" altLang="zh-CN"/>
              <a:t>SP</a:t>
            </a:r>
            <a:r>
              <a:rPr lang="zh-CN" altLang="en-US"/>
              <a:t>度，那么就无法把</a:t>
            </a:r>
            <a:r>
              <a:rPr lang="en-US" altLang="zh-CN"/>
              <a:t>K</a:t>
            </a:r>
            <a:r>
              <a:rPr lang="zh-CN" altLang="en-US"/>
              <a:t>，</a:t>
            </a:r>
            <a:r>
              <a:rPr lang="en-US" altLang="zh-CN"/>
              <a:t>V</a:t>
            </a:r>
            <a:r>
              <a:rPr lang="zh-CN" altLang="en-US"/>
              <a:t>按照</a:t>
            </a:r>
            <a:r>
              <a:rPr lang="en-US" altLang="zh-CN"/>
              <a:t>head</a:t>
            </a:r>
            <a:r>
              <a:rPr lang="zh-CN" altLang="en-US"/>
              <a:t>均分到各个</a:t>
            </a:r>
            <a:r>
              <a:rPr lang="en-US" altLang="zh-CN"/>
              <a:t>GPU</a:t>
            </a:r>
            <a:r>
              <a:rPr lang="zh-CN" altLang="en-US"/>
              <a:t>上。</a:t>
            </a:r>
            <a:br>
              <a:rPr lang="en-US" altLang="zh-CN"/>
            </a:br>
            <a:r>
              <a:rPr lang="en-US" altLang="zh-CN"/>
              <a:t>TP</a:t>
            </a:r>
            <a:r>
              <a:rPr lang="zh-CN" altLang="en-US"/>
              <a:t>通过复制权重来进行冗余计算从而解决了这一问题。但是</a:t>
            </a:r>
            <a:r>
              <a:rPr lang="en-US" altLang="zh-CN"/>
              <a:t>SP</a:t>
            </a:r>
            <a:r>
              <a:rPr lang="zh-CN" altLang="en-US"/>
              <a:t>因为每个卡上的</a:t>
            </a:r>
            <a:r>
              <a:rPr lang="en-US" altLang="zh-CN"/>
              <a:t>seq</a:t>
            </a:r>
            <a:r>
              <a:rPr lang="zh-CN" altLang="en-US"/>
              <a:t>部分是不同的，所以需要不同的实现方式来支持冗余的</a:t>
            </a:r>
            <a:r>
              <a:rPr lang="en-US" altLang="zh-CN"/>
              <a:t>KV</a:t>
            </a:r>
            <a:r>
              <a:rPr lang="zh-CN" altLang="en-US"/>
              <a:t>的存储。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48C1-D76A-0DE0-459F-33561AC57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10A5EF4-AC6E-19FE-7574-1F48A459D8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39A37D7-CB4C-AAE4-47B2-1C87EA3C9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这里，本文提出了一种“多步邻居节点通信”的算法，这里有一个动画示例，首先，颜色代表不同的</a:t>
            </a:r>
            <a:r>
              <a:rPr lang="en-US" altLang="zh-CN"/>
              <a:t>seq</a:t>
            </a:r>
            <a:r>
              <a:rPr lang="zh-CN" altLang="en-US"/>
              <a:t>部分，虚线代表</a:t>
            </a:r>
            <a:r>
              <a:rPr lang="en-US" altLang="zh-CN"/>
              <a:t>head</a:t>
            </a:r>
            <a:r>
              <a:rPr lang="zh-CN" altLang="en-US"/>
              <a:t>维度，也就是左右部分，数字代表</a:t>
            </a:r>
            <a:r>
              <a:rPr lang="en-US" altLang="zh-CN"/>
              <a:t>GPU</a:t>
            </a:r>
            <a:r>
              <a:rPr lang="zh-CN" altLang="en-US"/>
              <a:t> 编号，这里首先把</a:t>
            </a:r>
            <a:r>
              <a:rPr lang="en-US" altLang="zh-CN"/>
              <a:t>0</a:t>
            </a:r>
            <a:r>
              <a:rPr lang="zh-CN" altLang="en-US"/>
              <a:t>号和</a:t>
            </a:r>
            <a:r>
              <a:rPr lang="en-US" altLang="zh-CN"/>
              <a:t>2</a:t>
            </a:r>
            <a:r>
              <a:rPr lang="zh-CN" altLang="en-US"/>
              <a:t>号的</a:t>
            </a:r>
            <a:r>
              <a:rPr lang="en-US" altLang="zh-CN"/>
              <a:t>GPU</a:t>
            </a:r>
            <a:r>
              <a:rPr lang="zh-CN" altLang="en-US"/>
              <a:t>上的块进行</a:t>
            </a:r>
            <a:r>
              <a:rPr lang="en-US" altLang="zh-CN"/>
              <a:t>all</a:t>
            </a:r>
            <a:r>
              <a:rPr lang="zh-CN" altLang="en-US"/>
              <a:t> 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all</a:t>
            </a:r>
            <a:r>
              <a:rPr lang="zh-CN" altLang="en-US"/>
              <a:t> 通信，</a:t>
            </a:r>
            <a:r>
              <a:rPr lang="en-US" altLang="zh-CN"/>
              <a:t>seq</a:t>
            </a:r>
            <a:r>
              <a:rPr lang="zh-CN" altLang="en-US"/>
              <a:t>维度变长，</a:t>
            </a:r>
            <a:r>
              <a:rPr lang="en-US" altLang="zh-CN"/>
              <a:t>head</a:t>
            </a:r>
            <a:r>
              <a:rPr lang="zh-CN" altLang="en-US"/>
              <a:t>维度减少一半，然后再在</a:t>
            </a:r>
            <a:r>
              <a:rPr lang="en-US" altLang="zh-CN"/>
              <a:t>0</a:t>
            </a:r>
            <a:r>
              <a:rPr lang="zh-CN" altLang="en-US"/>
              <a:t>，</a:t>
            </a:r>
            <a:r>
              <a:rPr lang="en-US" altLang="zh-CN"/>
              <a:t>1</a:t>
            </a:r>
            <a:r>
              <a:rPr lang="zh-CN" altLang="en-US"/>
              <a:t>号</a:t>
            </a:r>
            <a:r>
              <a:rPr lang="en-US" altLang="zh-CN"/>
              <a:t>GPU</a:t>
            </a:r>
            <a:r>
              <a:rPr lang="zh-CN" altLang="en-US"/>
              <a:t>进行</a:t>
            </a:r>
            <a:r>
              <a:rPr lang="en-US" altLang="zh-CN"/>
              <a:t>all</a:t>
            </a:r>
            <a:r>
              <a:rPr lang="zh-CN" altLang="en-US"/>
              <a:t> </a:t>
            </a:r>
            <a:r>
              <a:rPr lang="en-US" altLang="zh-CN"/>
              <a:t>gather</a:t>
            </a:r>
            <a:r>
              <a:rPr lang="zh-CN" altLang="en-US"/>
              <a:t>，从而获得全部的</a:t>
            </a:r>
            <a:r>
              <a:rPr lang="en-US" altLang="zh-CN"/>
              <a:t>seq</a:t>
            </a:r>
            <a:r>
              <a:rPr lang="zh-CN" altLang="en-US"/>
              <a:t>部分，这一步相对于复制了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zh-CN" altLang="en-US"/>
              <a:t>， 然后此时</a:t>
            </a:r>
            <a:r>
              <a:rPr lang="en-US" altLang="zh-CN"/>
              <a:t>seq</a:t>
            </a:r>
            <a:r>
              <a:rPr lang="zh-CN" altLang="en-US"/>
              <a:t>各部分顺序是乱的，所以需要重排一下。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87CA1-8A7C-FC65-E954-C61B4E73B9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1964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402F9-9070-877A-7850-BFACC1B53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AA5FE95-2B1C-0DEA-D5FD-FF4130D0C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1057DA-D1A2-E30C-E37B-B6ABC934A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这里我们介绍</a:t>
            </a:r>
            <a:r>
              <a:rPr lang="en-US" altLang="zh-CN"/>
              <a:t>SP</a:t>
            </a:r>
            <a:r>
              <a:rPr lang="zh-CN" altLang="en-US"/>
              <a:t>的</a:t>
            </a:r>
            <a:r>
              <a:rPr lang="en-US" altLang="zh-CN"/>
              <a:t>load</a:t>
            </a:r>
            <a:r>
              <a:rPr lang="zh-CN" altLang="en-US"/>
              <a:t> </a:t>
            </a:r>
            <a:r>
              <a:rPr lang="en-US" altLang="zh-CN"/>
              <a:t>imbalance</a:t>
            </a:r>
            <a:r>
              <a:rPr lang="zh-CN" altLang="en-US"/>
              <a:t>问题</a:t>
            </a:r>
            <a:r>
              <a:rPr lang="zh-CN" altLang="en-US">
                <a:sym typeface="Wingdings" pitchFamily="2" charset="2"/>
              </a:rPr>
              <a:t>，这个问题需要强调的是它是在</a:t>
            </a:r>
            <a:r>
              <a:rPr lang="en-US" altLang="zh-CN" b="1">
                <a:sym typeface="Wingdings" pitchFamily="2" charset="2"/>
              </a:rPr>
              <a:t>decoding</a:t>
            </a:r>
            <a:r>
              <a:rPr lang="zh-CN" altLang="en-US" b="1">
                <a:sym typeface="Wingdings" pitchFamily="2" charset="2"/>
              </a:rPr>
              <a:t>阶段</a:t>
            </a:r>
            <a:r>
              <a:rPr lang="zh-CN" altLang="en-US">
                <a:sym typeface="Wingdings" pitchFamily="2" charset="2"/>
              </a:rPr>
              <a:t>，并且在</a:t>
            </a:r>
            <a:r>
              <a:rPr lang="zh-CN" altLang="en-US" b="1">
                <a:sym typeface="Wingdings" pitchFamily="2" charset="2"/>
              </a:rPr>
              <a:t>低流量</a:t>
            </a:r>
            <a:r>
              <a:rPr lang="zh-CN" altLang="en-US">
                <a:sym typeface="Wingdings" pitchFamily="2" charset="2"/>
              </a:rPr>
              <a:t>下才会产生的。（</a:t>
            </a:r>
            <a:r>
              <a:rPr lang="zh-CN" altLang="en-US"/>
              <a:t>这里有个动画示例），我们先来看一下</a:t>
            </a:r>
            <a:r>
              <a:rPr lang="en-US" altLang="zh-CN"/>
              <a:t>decoding</a:t>
            </a:r>
            <a:r>
              <a:rPr lang="zh-CN" altLang="en-US"/>
              <a:t>阶段是怎么做的，</a:t>
            </a:r>
            <a:r>
              <a:rPr lang="en-US" altLang="zh-CN"/>
              <a:t>decoding</a:t>
            </a:r>
            <a:r>
              <a:rPr lang="zh-CN" altLang="en-US"/>
              <a:t>阶段相对于</a:t>
            </a:r>
            <a:r>
              <a:rPr lang="en-US" altLang="zh-CN"/>
              <a:t>Prefill</a:t>
            </a:r>
            <a:r>
              <a:rPr lang="zh-CN" altLang="en-US"/>
              <a:t>比较特殊的是，</a:t>
            </a:r>
            <a:r>
              <a:rPr lang="zh-CN" altLang="en-US" b="1"/>
              <a:t>每次的输入都是一个</a:t>
            </a:r>
            <a:r>
              <a:rPr lang="en-US" altLang="zh-CN" b="1"/>
              <a:t>token</a:t>
            </a:r>
            <a:r>
              <a:rPr lang="zh-CN" altLang="en-US"/>
              <a:t>， 每个新生成的</a:t>
            </a:r>
            <a:r>
              <a:rPr lang="en-US" altLang="zh-CN"/>
              <a:t>token</a:t>
            </a:r>
            <a:r>
              <a:rPr lang="zh-CN" altLang="en-US"/>
              <a:t>与之前已经计算过的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</a:t>
            </a:r>
            <a:r>
              <a:rPr lang="zh-CN" altLang="en-US"/>
              <a:t>进行计算（为了简略，这里只展示了</a:t>
            </a:r>
            <a:r>
              <a:rPr lang="en-US" altLang="zh-CN"/>
              <a:t>k</a:t>
            </a:r>
            <a:r>
              <a:rPr lang="zh-CN" altLang="en-US"/>
              <a:t>，没有展示</a:t>
            </a:r>
            <a:r>
              <a:rPr lang="en-US" altLang="zh-CN"/>
              <a:t>v)</a:t>
            </a:r>
            <a:r>
              <a:rPr lang="zh-CN" altLang="en-US"/>
              <a:t> 。因此，</a:t>
            </a:r>
            <a:r>
              <a:rPr lang="en-US" altLang="zh-CN"/>
              <a:t>SP</a:t>
            </a:r>
            <a:r>
              <a:rPr lang="zh-CN" altLang="en-US"/>
              <a:t>无法在</a:t>
            </a:r>
            <a:r>
              <a:rPr lang="en-US" altLang="zh-CN"/>
              <a:t>seq</a:t>
            </a:r>
            <a:r>
              <a:rPr lang="zh-CN" altLang="en-US"/>
              <a:t> 维度进行切分了，所以它会在</a:t>
            </a:r>
            <a:r>
              <a:rPr lang="en-US" altLang="zh-CN"/>
              <a:t>batch</a:t>
            </a:r>
            <a:r>
              <a:rPr lang="zh-CN" altLang="en-US"/>
              <a:t>维度进行切分。（单击显示</a:t>
            </a:r>
            <a:r>
              <a:rPr lang="en-US" altLang="zh-CN"/>
              <a:t>load</a:t>
            </a:r>
            <a:r>
              <a:rPr lang="zh-CN" altLang="en-US"/>
              <a:t> </a:t>
            </a:r>
            <a:r>
              <a:rPr lang="en-US" altLang="zh-CN"/>
              <a:t>imbalance</a:t>
            </a:r>
            <a:r>
              <a:rPr lang="zh-CN" altLang="en-US"/>
              <a:t>问题）这就会导致，不同</a:t>
            </a:r>
            <a:r>
              <a:rPr lang="en-US" altLang="zh-CN"/>
              <a:t>GPU</a:t>
            </a:r>
            <a:r>
              <a:rPr lang="zh-CN" altLang="en-US"/>
              <a:t>上分到的</a:t>
            </a:r>
            <a:r>
              <a:rPr lang="en-US" altLang="zh-CN"/>
              <a:t>req</a:t>
            </a:r>
            <a:r>
              <a:rPr lang="zh-CN" altLang="en-US"/>
              <a:t>数量可能不一致，图中有</a:t>
            </a:r>
            <a:r>
              <a:rPr lang="en-US" altLang="zh-CN"/>
              <a:t>5</a:t>
            </a:r>
            <a:r>
              <a:rPr lang="zh-CN" altLang="en-US"/>
              <a:t>个</a:t>
            </a:r>
            <a:r>
              <a:rPr lang="en-US" altLang="zh-CN"/>
              <a:t>req,</a:t>
            </a:r>
            <a:r>
              <a:rPr lang="zh-CN" altLang="en-US"/>
              <a:t> </a:t>
            </a:r>
            <a:r>
              <a:rPr lang="en-US" altLang="zh-CN"/>
              <a:t>GPU4</a:t>
            </a:r>
            <a:r>
              <a:rPr lang="zh-CN" altLang="en-US"/>
              <a:t>单独拿到了</a:t>
            </a:r>
            <a:r>
              <a:rPr lang="en-US" altLang="zh-CN"/>
              <a:t>2</a:t>
            </a:r>
            <a:r>
              <a:rPr lang="zh-CN" altLang="en-US"/>
              <a:t>个，是其他</a:t>
            </a:r>
            <a:r>
              <a:rPr lang="en-US" altLang="zh-CN"/>
              <a:t>GPU</a:t>
            </a:r>
            <a:r>
              <a:rPr lang="zh-CN" altLang="en-US"/>
              <a:t>上的两倍。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67329B-C7A7-436F-0D19-AE2814322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086572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66B89-2C9E-A0DA-6BA7-C49CD737A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C2A736-2031-A9FB-152D-A08952B201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D19EE70-1012-73EE-BF5A-4D00AE30F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然后，我们进一步来看看这个</a:t>
            </a:r>
            <a:r>
              <a:rPr lang="en" altLang="zh-CN" b="1">
                <a:solidFill>
                  <a:srgbClr val="C00000"/>
                </a:solidFill>
              </a:rPr>
              <a:t>Load imbalance</a:t>
            </a:r>
            <a:r>
              <a:rPr lang="en" altLang="zh-CN"/>
              <a:t> </a:t>
            </a:r>
            <a:r>
              <a:rPr lang="zh-CN" altLang="en"/>
              <a:t>会</a:t>
            </a:r>
            <a:r>
              <a:rPr lang="zh-CN" altLang="en-US"/>
              <a:t>导致什么问题呢？ 我们先回顾一下</a:t>
            </a:r>
            <a:r>
              <a:rPr lang="en-US" altLang="zh-CN"/>
              <a:t>prefill</a:t>
            </a:r>
            <a:r>
              <a:rPr lang="zh-CN" altLang="en-US"/>
              <a:t>阶段，</a:t>
            </a:r>
            <a:r>
              <a:rPr lang="en-US" altLang="zh-CN"/>
              <a:t>(</a:t>
            </a:r>
            <a:r>
              <a:rPr lang="zh-CN" altLang="en-US"/>
              <a:t>这里有个单击动画</a:t>
            </a:r>
            <a:r>
              <a:rPr lang="en-US" altLang="zh-CN"/>
              <a:t>)</a:t>
            </a:r>
            <a:r>
              <a:rPr lang="zh-CN" altLang="en-US"/>
              <a:t>这里灰色部分的</a:t>
            </a:r>
            <a:r>
              <a:rPr lang="en-US" altLang="zh-CN"/>
              <a:t>K,</a:t>
            </a:r>
            <a:r>
              <a:rPr lang="zh-CN" altLang="en-US"/>
              <a:t>其实在</a:t>
            </a:r>
            <a:r>
              <a:rPr lang="en-US" altLang="zh-CN"/>
              <a:t>Prefill</a:t>
            </a:r>
            <a:r>
              <a:rPr lang="zh-CN" altLang="en-US"/>
              <a:t>的时候就已经被</a:t>
            </a:r>
            <a:r>
              <a:rPr lang="en-US" altLang="zh-CN"/>
              <a:t>SP</a:t>
            </a:r>
            <a:r>
              <a:rPr lang="zh-CN" altLang="en-US"/>
              <a:t>分割，按照</a:t>
            </a:r>
            <a:r>
              <a:rPr lang="en-US" altLang="zh-CN"/>
              <a:t>head</a:t>
            </a:r>
            <a:r>
              <a:rPr lang="zh-CN" altLang="en-US"/>
              <a:t>维度放到了不同</a:t>
            </a:r>
            <a:r>
              <a:rPr lang="en-US" altLang="zh-CN"/>
              <a:t>GPU</a:t>
            </a:r>
            <a:r>
              <a:rPr lang="zh-CN" altLang="en-US"/>
              <a:t>上了，所以在</a:t>
            </a:r>
            <a:r>
              <a:rPr lang="en-US" altLang="zh-CN"/>
              <a:t>decode</a:t>
            </a:r>
            <a:r>
              <a:rPr lang="zh-CN" altLang="en-US"/>
              <a:t>阶段，如果想要完成完整的计算，它需要对新生成的</a:t>
            </a:r>
            <a:r>
              <a:rPr lang="en-US" altLang="zh-CN"/>
              <a:t>Q</a:t>
            </a:r>
            <a:r>
              <a:rPr lang="zh-CN" altLang="en-US"/>
              <a:t>和</a:t>
            </a:r>
            <a:r>
              <a:rPr lang="en-US" altLang="zh-CN"/>
              <a:t>K,</a:t>
            </a:r>
            <a:r>
              <a:rPr lang="zh-CN" altLang="en-US"/>
              <a:t>进行一次</a:t>
            </a:r>
            <a:r>
              <a:rPr lang="en-US" altLang="zh-CN"/>
              <a:t>scatter</a:t>
            </a:r>
            <a:r>
              <a:rPr lang="zh-CN" altLang="en-US"/>
              <a:t>通信（单击显示），也就是按照</a:t>
            </a:r>
            <a:r>
              <a:rPr lang="en-US" altLang="zh-CN"/>
              <a:t>head</a:t>
            </a:r>
            <a:r>
              <a:rPr lang="zh-CN" altLang="en-US"/>
              <a:t>维度切分，然后在各自</a:t>
            </a:r>
            <a:r>
              <a:rPr lang="en-US" altLang="zh-CN"/>
              <a:t>GPU</a:t>
            </a:r>
            <a:r>
              <a:rPr lang="zh-CN" altLang="en-US"/>
              <a:t>上单独计算完各</a:t>
            </a:r>
            <a:r>
              <a:rPr lang="en-US" altLang="zh-CN"/>
              <a:t>head</a:t>
            </a:r>
            <a:r>
              <a:rPr lang="zh-CN" altLang="en-US"/>
              <a:t>上的</a:t>
            </a:r>
            <a:r>
              <a:rPr lang="en-US" altLang="zh-CN"/>
              <a:t>attention</a:t>
            </a:r>
            <a:r>
              <a:rPr lang="zh-CN" altLang="en-US"/>
              <a:t>。 这里只展示了一个</a:t>
            </a:r>
            <a:r>
              <a:rPr lang="en-US" altLang="zh-CN"/>
              <a:t>req</a:t>
            </a:r>
            <a:r>
              <a:rPr lang="zh-CN" altLang="en-US"/>
              <a:t>的部分，其实还有其他</a:t>
            </a:r>
            <a:r>
              <a:rPr lang="en-US" altLang="zh-CN"/>
              <a:t>req,</a:t>
            </a:r>
            <a:r>
              <a:rPr lang="zh-CN" altLang="en-US"/>
              <a:t>所以</a:t>
            </a:r>
            <a:r>
              <a:rPr lang="en-US" altLang="zh-CN"/>
              <a:t>GPU4</a:t>
            </a:r>
            <a:r>
              <a:rPr lang="zh-CN" altLang="en-US"/>
              <a:t>上</a:t>
            </a:r>
            <a:r>
              <a:rPr lang="en-US" altLang="zh-CN"/>
              <a:t>scatter</a:t>
            </a:r>
            <a:r>
              <a:rPr lang="zh-CN" altLang="en-US"/>
              <a:t>的通信量会有</a:t>
            </a:r>
            <a:r>
              <a:rPr lang="en-US" altLang="zh-CN"/>
              <a:t>2</a:t>
            </a:r>
            <a:r>
              <a:rPr lang="zh-CN" altLang="en-US"/>
              <a:t>倍。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387AF2-5B0F-5570-C8B5-FF19850B27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911544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04E25-366F-71DD-E409-7D9F7755C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B75B49D-FFC4-8E30-E1FA-E365CD7570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7EB527-41CD-83B8-D044-3A890C516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然后各个</a:t>
            </a:r>
            <a:r>
              <a:rPr lang="en-US" altLang="zh-CN"/>
              <a:t>GPU</a:t>
            </a:r>
            <a:r>
              <a:rPr lang="zh-CN" altLang="en-US"/>
              <a:t>上的</a:t>
            </a:r>
            <a:r>
              <a:rPr lang="en-US" altLang="zh-CN"/>
              <a:t>output</a:t>
            </a:r>
            <a:r>
              <a:rPr lang="zh-CN" altLang="en-US"/>
              <a:t>需要进行一次汇聚，这里我们展示出完整的</a:t>
            </a:r>
            <a:r>
              <a:rPr lang="en-US" altLang="zh-CN"/>
              <a:t>k</a:t>
            </a:r>
            <a:r>
              <a:rPr lang="zh-CN" altLang="en-US"/>
              <a:t>和</a:t>
            </a:r>
            <a:r>
              <a:rPr lang="en-US" altLang="zh-CN"/>
              <a:t>v,</a:t>
            </a:r>
            <a:r>
              <a:rPr lang="zh-CN" altLang="en-US"/>
              <a:t>以及所有</a:t>
            </a:r>
            <a:r>
              <a:rPr lang="en-US" altLang="zh-CN"/>
              <a:t>req</a:t>
            </a:r>
            <a:r>
              <a:rPr lang="zh-CN" altLang="en-US"/>
              <a:t>的</a:t>
            </a:r>
            <a:r>
              <a:rPr lang="en-US" altLang="zh-CN"/>
              <a:t>output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zh-CN" altLang="en-US"/>
              <a:t>单击显示动画），于是按照</a:t>
            </a:r>
            <a:r>
              <a:rPr lang="en-US" altLang="zh-CN"/>
              <a:t>SP</a:t>
            </a:r>
            <a:r>
              <a:rPr lang="zh-CN" altLang="en-US"/>
              <a:t>的要求，这里需要汇聚完整的</a:t>
            </a:r>
            <a:r>
              <a:rPr lang="en-US" altLang="zh-CN"/>
              <a:t>head</a:t>
            </a:r>
            <a:r>
              <a:rPr lang="zh-CN" altLang="en-US"/>
              <a:t>上的</a:t>
            </a:r>
            <a:r>
              <a:rPr lang="en-US" altLang="zh-CN"/>
              <a:t>output</a:t>
            </a:r>
            <a:r>
              <a:rPr lang="zh-CN" altLang="en-US"/>
              <a:t>，并把</a:t>
            </a:r>
            <a:r>
              <a:rPr lang="en-US" altLang="zh-CN"/>
              <a:t>batch</a:t>
            </a:r>
            <a:r>
              <a:rPr lang="zh-CN" altLang="en-US"/>
              <a:t>维度进行划分，所以需要一个</a:t>
            </a:r>
            <a:r>
              <a:rPr lang="en-US" altLang="zh-CN"/>
              <a:t>all2all</a:t>
            </a:r>
            <a:r>
              <a:rPr lang="zh-CN" altLang="en-US"/>
              <a:t>通信，可以看到</a:t>
            </a:r>
            <a:r>
              <a:rPr lang="en-US" altLang="zh-CN"/>
              <a:t>GPU4</a:t>
            </a:r>
            <a:r>
              <a:rPr lang="zh-CN" altLang="en-US"/>
              <a:t>上有</a:t>
            </a:r>
            <a:r>
              <a:rPr lang="en-US" altLang="zh-CN"/>
              <a:t>2</a:t>
            </a:r>
            <a:r>
              <a:rPr lang="zh-CN" altLang="en-US"/>
              <a:t>倍的通信接收量。除此之外，有个更现实的问题，（单击进入下一页显示红框）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C9B716-6561-7E01-C167-B047C19E5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600367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61F2F-3C78-145F-2A3D-5B67F13A8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63C7BB6-89E8-135F-FB99-A5B4CE35B7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3467251-F460-D78D-9C51-55CA8B0BAB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这里通信的时候，</a:t>
            </a:r>
            <a:r>
              <a:rPr lang="en-US" altLang="zh-CN"/>
              <a:t>batch</a:t>
            </a:r>
            <a:r>
              <a:rPr lang="zh-CN" altLang="en-US"/>
              <a:t>维度是不匹配的，但是对于</a:t>
            </a:r>
            <a:r>
              <a:rPr lang="en-US" altLang="zh-CN"/>
              <a:t>NCCL</a:t>
            </a:r>
            <a:r>
              <a:rPr lang="zh-CN" altLang="en-US"/>
              <a:t>等通信操作，一般要求通信的</a:t>
            </a:r>
            <a:r>
              <a:rPr lang="en-US" altLang="zh-CN"/>
              <a:t>tensor</a:t>
            </a:r>
            <a:r>
              <a:rPr lang="zh-CN" altLang="en-US"/>
              <a:t>要有完全一致的形状，所以作者这里的解决办法就是把其他</a:t>
            </a:r>
            <a:r>
              <a:rPr lang="en-US" altLang="zh-CN"/>
              <a:t>GPU</a:t>
            </a:r>
            <a:r>
              <a:rPr lang="zh-CN" altLang="en-US"/>
              <a:t>上也</a:t>
            </a:r>
            <a:r>
              <a:rPr lang="en-US" altLang="zh-CN"/>
              <a:t>padding</a:t>
            </a:r>
            <a:r>
              <a:rPr lang="zh-CN" altLang="en-US"/>
              <a:t>到两个</a:t>
            </a:r>
            <a:r>
              <a:rPr lang="en-US" altLang="zh-CN"/>
              <a:t>req</a:t>
            </a:r>
            <a:r>
              <a:rPr lang="zh-CN" altLang="en-US"/>
              <a:t>（单击显示）</a:t>
            </a:r>
            <a:r>
              <a:rPr lang="en-US" altLang="zh-CN"/>
              <a:t>,</a:t>
            </a:r>
            <a:r>
              <a:rPr lang="zh-CN" altLang="en-US"/>
              <a:t>也就是总</a:t>
            </a:r>
            <a:r>
              <a:rPr lang="en-US" altLang="zh-CN"/>
              <a:t>batch</a:t>
            </a:r>
            <a:r>
              <a:rPr lang="zh-CN" altLang="en-US"/>
              <a:t>数需要满足被</a:t>
            </a:r>
            <a:r>
              <a:rPr lang="en-US" altLang="zh-CN"/>
              <a:t>SP</a:t>
            </a:r>
            <a:r>
              <a:rPr lang="zh-CN" altLang="en-US"/>
              <a:t>大小整除。所以这个解决方案会导致</a:t>
            </a:r>
            <a:r>
              <a:rPr lang="en-US" altLang="zh-CN"/>
              <a:t>SP</a:t>
            </a:r>
            <a:r>
              <a:rPr lang="zh-CN" altLang="en-US"/>
              <a:t>在</a:t>
            </a:r>
            <a:r>
              <a:rPr lang="en-US" altLang="zh-CN"/>
              <a:t>TPOT</a:t>
            </a:r>
            <a:r>
              <a:rPr lang="zh-CN" altLang="en-US"/>
              <a:t>的性能要变得差一点。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A41C0F-3996-428A-857B-94F93D8297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5931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7DC8B-A893-32C1-2835-4A3416F19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6B7697B-33CF-7E50-C362-7E5AAF573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32F7DDC-70A0-6951-7973-33422A3B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接下来，是第二个挑战，如何实现切换，首先，如何保证切换时的</a:t>
            </a:r>
            <a:r>
              <a:rPr lang="en-US" altLang="zh-CN"/>
              <a:t>KV</a:t>
            </a:r>
            <a:r>
              <a:rPr lang="zh-CN" altLang="en-US"/>
              <a:t> </a:t>
            </a:r>
            <a:r>
              <a:rPr lang="en-US" altLang="zh-CN"/>
              <a:t>cache</a:t>
            </a:r>
            <a:r>
              <a:rPr lang="zh-CN" altLang="en-US"/>
              <a:t>的一致性？</a:t>
            </a:r>
            <a:endParaRPr lang="en-US" altLang="zh-CN"/>
          </a:p>
          <a:p>
            <a:r>
              <a:rPr lang="zh-CN" altLang="en-US"/>
              <a:t>前面我们提到了，</a:t>
            </a:r>
            <a:r>
              <a:rPr lang="en-US" altLang="zh-CN" b="1"/>
              <a:t>TP</a:t>
            </a:r>
            <a:r>
              <a:rPr lang="zh-CN" altLang="en-US" b="1"/>
              <a:t>和</a:t>
            </a:r>
            <a:r>
              <a:rPr lang="en-US" altLang="zh-CN" b="1"/>
              <a:t>SP</a:t>
            </a:r>
            <a:r>
              <a:rPr lang="zh-CN" altLang="en-US" b="1"/>
              <a:t>在</a:t>
            </a:r>
            <a:r>
              <a:rPr lang="en-US" altLang="zh-CN" b="1" err="1"/>
              <a:t>kv</a:t>
            </a:r>
            <a:r>
              <a:rPr lang="zh-CN" altLang="en-US" b="1"/>
              <a:t> </a:t>
            </a:r>
            <a:r>
              <a:rPr lang="en-US" altLang="zh-CN" b="1"/>
              <a:t>cache</a:t>
            </a:r>
            <a:r>
              <a:rPr lang="zh-CN" altLang="en-US" b="1"/>
              <a:t>的布局上是一致的</a:t>
            </a:r>
            <a:r>
              <a:rPr lang="zh-CN" altLang="en-US"/>
              <a:t>，但是，如果要无代价的切换，还需要</a:t>
            </a:r>
            <a:r>
              <a:rPr lang="zh-CN" altLang="en-US" b="1"/>
              <a:t>确保</a:t>
            </a:r>
            <a:r>
              <a:rPr lang="en-US" altLang="zh-CN" b="1"/>
              <a:t>KV</a:t>
            </a:r>
            <a:r>
              <a:rPr lang="zh-CN" altLang="en-US" b="1"/>
              <a:t>的</a:t>
            </a:r>
            <a:r>
              <a:rPr lang="en-US" altLang="zh-CN" b="1"/>
              <a:t>head</a:t>
            </a:r>
            <a:r>
              <a:rPr lang="zh-CN" altLang="en-US" b="1"/>
              <a:t>顺序是一致的</a:t>
            </a:r>
            <a:r>
              <a:rPr lang="zh-CN" altLang="en-US"/>
              <a:t>，这样才能避免通信。</a:t>
            </a:r>
            <a:endParaRPr lang="en-US" altLang="zh-CN"/>
          </a:p>
          <a:p>
            <a:r>
              <a:rPr lang="zh-CN" altLang="en-US"/>
              <a:t>但不幸的是，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的</a:t>
            </a:r>
            <a:r>
              <a:rPr lang="en-US" altLang="zh-CN"/>
              <a:t>head</a:t>
            </a:r>
            <a:r>
              <a:rPr lang="zh-CN" altLang="en-US"/>
              <a:t>顺序是和纯开</a:t>
            </a:r>
            <a:r>
              <a:rPr lang="en-US" altLang="zh-CN"/>
              <a:t>TP</a:t>
            </a:r>
            <a:r>
              <a:rPr lang="zh-CN" altLang="en-US"/>
              <a:t>是不一样的。</a:t>
            </a:r>
            <a:br>
              <a:rPr lang="en-US" altLang="zh-CN"/>
            </a:br>
            <a:r>
              <a:rPr lang="zh-CN" altLang="en-US"/>
              <a:t>这里展示了一个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的示例：</a:t>
            </a:r>
            <a:br>
              <a:rPr lang="en-US" altLang="zh-CN"/>
            </a:br>
            <a:r>
              <a:rPr lang="zh-CN" altLang="en-US"/>
              <a:t>首先，这里的例子是</a:t>
            </a:r>
            <a:r>
              <a:rPr lang="en-US" altLang="zh-CN"/>
              <a:t>SP=3,TP=2,</a:t>
            </a:r>
            <a:r>
              <a:rPr lang="zh-CN" altLang="en-US"/>
              <a:t> 这个输入部分被按照</a:t>
            </a:r>
            <a:r>
              <a:rPr lang="en-US" altLang="zh-CN"/>
              <a:t>seq</a:t>
            </a:r>
            <a:r>
              <a:rPr lang="zh-CN" altLang="en-US"/>
              <a:t>维度进行切分了， 然后这里的数字代表的是</a:t>
            </a:r>
            <a:r>
              <a:rPr lang="en-US" altLang="zh-CN"/>
              <a:t>GPU</a:t>
            </a:r>
            <a:r>
              <a:rPr lang="zh-CN" altLang="en-US"/>
              <a:t>编号</a:t>
            </a:r>
            <a:r>
              <a:rPr lang="en-US" altLang="zh-CN"/>
              <a:t>.</a:t>
            </a:r>
            <a:r>
              <a:rPr lang="zh-CN" altLang="en-US"/>
              <a:t>所以</a:t>
            </a:r>
            <a:r>
              <a:rPr lang="en-US" altLang="zh-CN"/>
              <a:t>0,1</a:t>
            </a:r>
            <a:r>
              <a:rPr lang="zh-CN" altLang="en-US"/>
              <a:t>得到的相同的</a:t>
            </a:r>
            <a:r>
              <a:rPr lang="en-US" altLang="zh-CN"/>
              <a:t>seq</a:t>
            </a:r>
            <a:r>
              <a:rPr lang="zh-CN" altLang="en-US"/>
              <a:t>部分</a:t>
            </a:r>
            <a:r>
              <a:rPr lang="en-US" altLang="zh-CN"/>
              <a:t>(</a:t>
            </a:r>
            <a:r>
              <a:rPr lang="zh-CN" altLang="en-US"/>
              <a:t>单击显示动画），</a:t>
            </a:r>
            <a:r>
              <a:rPr lang="en-US" altLang="zh-CN"/>
              <a:t>2,3</a:t>
            </a:r>
            <a:r>
              <a:rPr lang="zh-CN" altLang="en-US"/>
              <a:t>是相同的部分，</a:t>
            </a:r>
            <a:r>
              <a:rPr lang="en-US" altLang="zh-CN"/>
              <a:t>4,5</a:t>
            </a:r>
            <a:r>
              <a:rPr lang="zh-CN" altLang="en-US"/>
              <a:t>是相同的部分。 然后乘以</a:t>
            </a:r>
            <a:r>
              <a:rPr lang="en-US" altLang="zh-CN"/>
              <a:t>TP</a:t>
            </a:r>
            <a:r>
              <a:rPr lang="zh-CN" altLang="en-US"/>
              <a:t>， 这里的虚线表示的是不同的</a:t>
            </a:r>
            <a:r>
              <a:rPr lang="en-US" altLang="zh-CN"/>
              <a:t>head</a:t>
            </a:r>
            <a:r>
              <a:rPr lang="zh-CN" altLang="en-US"/>
              <a:t>， 因为</a:t>
            </a:r>
            <a:r>
              <a:rPr lang="en-US" altLang="zh-CN"/>
              <a:t>TP=2,</a:t>
            </a:r>
            <a:r>
              <a:rPr lang="zh-CN" altLang="en-US"/>
              <a:t> 所以</a:t>
            </a:r>
            <a:r>
              <a:rPr lang="en-US" altLang="zh-CN"/>
              <a:t>6</a:t>
            </a:r>
            <a:r>
              <a:rPr lang="zh-CN" altLang="en-US"/>
              <a:t>个</a:t>
            </a:r>
            <a:r>
              <a:rPr lang="en-US" altLang="zh-CN"/>
              <a:t>head</a:t>
            </a:r>
            <a:r>
              <a:rPr lang="zh-CN" altLang="en-US"/>
              <a:t>，被切分开来，</a:t>
            </a:r>
            <a:r>
              <a:rPr lang="en-US" altLang="zh-CN"/>
              <a:t>0</a:t>
            </a:r>
            <a:r>
              <a:rPr lang="zh-CN" altLang="en-US"/>
              <a:t>上分到了左半部分的</a:t>
            </a:r>
            <a:r>
              <a:rPr lang="en-US" altLang="zh-CN"/>
              <a:t>head,</a:t>
            </a:r>
            <a:r>
              <a:rPr lang="zh-CN" altLang="en-US"/>
              <a:t> </a:t>
            </a:r>
            <a:r>
              <a:rPr lang="en-US" altLang="zh-CN"/>
              <a:t>1</a:t>
            </a:r>
            <a:r>
              <a:rPr lang="zh-CN" altLang="en-US"/>
              <a:t>得到了右半部分的</a:t>
            </a:r>
            <a:r>
              <a:rPr lang="en-US" altLang="zh-CN"/>
              <a:t>head.</a:t>
            </a:r>
            <a:r>
              <a:rPr lang="zh-CN" altLang="en-US"/>
              <a:t>（单击显示红框）因此</a:t>
            </a:r>
            <a:r>
              <a:rPr lang="en-US" altLang="zh-CN"/>
              <a:t>0,1</a:t>
            </a:r>
            <a:r>
              <a:rPr lang="zh-CN" altLang="en-US"/>
              <a:t>上组成了一份完整的模型权重，并且，</a:t>
            </a:r>
            <a:r>
              <a:rPr lang="en-US" altLang="zh-CN"/>
              <a:t>0,2,4</a:t>
            </a:r>
            <a:r>
              <a:rPr lang="zh-CN" altLang="en-US"/>
              <a:t>上的权重部分是一样的。接下来，（单击显示红框）经过一次矩阵乘法后得到了</a:t>
            </a:r>
            <a:r>
              <a:rPr lang="en-US" altLang="zh-CN"/>
              <a:t>Q,</a:t>
            </a:r>
            <a:r>
              <a:rPr lang="zh-CN" altLang="en-US"/>
              <a:t>各个</a:t>
            </a:r>
            <a:r>
              <a:rPr lang="en-US" altLang="zh-CN"/>
              <a:t>GPU</a:t>
            </a:r>
            <a:r>
              <a:rPr lang="zh-CN" altLang="en-US"/>
              <a:t>上得到了不同</a:t>
            </a:r>
            <a:r>
              <a:rPr lang="en-US" altLang="zh-CN"/>
              <a:t>seq</a:t>
            </a:r>
            <a:r>
              <a:rPr lang="zh-CN" altLang="en-US"/>
              <a:t>以及不同</a:t>
            </a:r>
            <a:r>
              <a:rPr lang="en-US" altLang="zh-CN"/>
              <a:t>head</a:t>
            </a:r>
            <a:r>
              <a:rPr lang="zh-CN" altLang="en-US"/>
              <a:t>上的结果。因为</a:t>
            </a:r>
            <a:r>
              <a:rPr lang="en-US" altLang="zh-CN"/>
              <a:t>SP</a:t>
            </a:r>
            <a:r>
              <a:rPr lang="zh-CN" altLang="en-US"/>
              <a:t>需要汇聚不同的</a:t>
            </a:r>
            <a:r>
              <a:rPr lang="en-US" altLang="zh-CN"/>
              <a:t>GPU</a:t>
            </a:r>
            <a:r>
              <a:rPr lang="zh-CN" altLang="en-US"/>
              <a:t>上的</a:t>
            </a:r>
            <a:r>
              <a:rPr lang="en-US" altLang="zh-CN"/>
              <a:t>seq</a:t>
            </a:r>
            <a:r>
              <a:rPr lang="zh-CN" altLang="en-US"/>
              <a:t>部分，并进一步在</a:t>
            </a:r>
            <a:r>
              <a:rPr lang="en-US" altLang="zh-CN"/>
              <a:t>head</a:t>
            </a:r>
            <a:r>
              <a:rPr lang="zh-CN" altLang="en-US"/>
              <a:t>维度上切分，因此，需要做一次</a:t>
            </a:r>
            <a:r>
              <a:rPr lang="en-US" altLang="zh-CN"/>
              <a:t>all2all</a:t>
            </a:r>
            <a:r>
              <a:rPr lang="zh-CN" altLang="en-US"/>
              <a:t>的通信，会在</a:t>
            </a:r>
            <a:r>
              <a:rPr lang="en-US" altLang="zh-CN"/>
              <a:t>0,2,4</a:t>
            </a:r>
            <a:r>
              <a:rPr lang="zh-CN" altLang="en-US"/>
              <a:t>上汇聚得到完整</a:t>
            </a:r>
            <a:r>
              <a:rPr lang="en-US" altLang="zh-CN"/>
              <a:t>seq</a:t>
            </a:r>
            <a:r>
              <a:rPr lang="zh-CN" altLang="en-US"/>
              <a:t>部分，因此，</a:t>
            </a:r>
            <a:r>
              <a:rPr lang="en-US" altLang="zh-CN"/>
              <a:t>output</a:t>
            </a:r>
            <a:r>
              <a:rPr lang="zh-CN" altLang="en-US"/>
              <a:t>首先得到的</a:t>
            </a:r>
            <a:r>
              <a:rPr lang="en-US" altLang="zh-CN"/>
              <a:t>head</a:t>
            </a:r>
            <a:r>
              <a:rPr lang="zh-CN" altLang="en-US"/>
              <a:t>顺序就是</a:t>
            </a:r>
            <a:r>
              <a:rPr lang="en-US" altLang="zh-CN"/>
              <a:t>0,2,4</a:t>
            </a:r>
            <a:r>
              <a:rPr lang="zh-CN" altLang="en-US"/>
              <a:t>，右边部分的</a:t>
            </a:r>
            <a:r>
              <a:rPr lang="en-US" altLang="zh-CN"/>
              <a:t>head</a:t>
            </a:r>
            <a:r>
              <a:rPr lang="zh-CN" altLang="en-US"/>
              <a:t>分别是</a:t>
            </a:r>
            <a:r>
              <a:rPr lang="en-US" altLang="zh-CN"/>
              <a:t>1,3,5</a:t>
            </a:r>
            <a:r>
              <a:rPr lang="zh-CN" altLang="en-US"/>
              <a:t>。 （单击显示红框）可以看到，</a:t>
            </a:r>
            <a:r>
              <a:rPr lang="en-US" altLang="zh-CN"/>
              <a:t>head</a:t>
            </a:r>
            <a:r>
              <a:rPr lang="zh-CN" altLang="en-US"/>
              <a:t>的顺序并不符合</a:t>
            </a:r>
            <a:r>
              <a:rPr lang="en-US" altLang="zh-CN"/>
              <a:t>GPU</a:t>
            </a:r>
            <a:r>
              <a:rPr lang="zh-CN" altLang="en-US"/>
              <a:t> </a:t>
            </a:r>
            <a:r>
              <a:rPr lang="en-US" altLang="zh-CN"/>
              <a:t>rank</a:t>
            </a:r>
            <a:r>
              <a:rPr lang="zh-CN" altLang="en-US"/>
              <a:t>递增顺序。</a:t>
            </a:r>
            <a:br>
              <a:rPr lang="en-US" altLang="zh-CN"/>
            </a:br>
            <a:endParaRPr lang="en-US" altLang="zh-CN"/>
          </a:p>
          <a:p>
            <a:r>
              <a:rPr lang="zh-CN" altLang="en-US"/>
              <a:t>但是在纯</a:t>
            </a:r>
            <a:r>
              <a:rPr lang="en-US" altLang="zh-CN"/>
              <a:t>TP</a:t>
            </a:r>
            <a:r>
              <a:rPr lang="zh-CN" altLang="en-US"/>
              <a:t>的</a:t>
            </a:r>
            <a:r>
              <a:rPr lang="en-US" altLang="zh-CN"/>
              <a:t>config</a:t>
            </a:r>
            <a:r>
              <a:rPr lang="zh-CN" altLang="en-US"/>
              <a:t>里，</a:t>
            </a:r>
            <a:r>
              <a:rPr lang="en-US" altLang="zh-CN"/>
              <a:t>head</a:t>
            </a:r>
            <a:r>
              <a:rPr lang="zh-CN" altLang="en-US"/>
              <a:t>是按照</a:t>
            </a:r>
            <a:r>
              <a:rPr lang="en-US" altLang="zh-CN"/>
              <a:t>GPU</a:t>
            </a:r>
            <a:r>
              <a:rPr lang="zh-CN" altLang="en-US"/>
              <a:t> </a:t>
            </a:r>
            <a:r>
              <a:rPr lang="en-US" altLang="zh-CN"/>
              <a:t>rank</a:t>
            </a:r>
            <a:r>
              <a:rPr lang="zh-CN" altLang="en-US"/>
              <a:t>递增顺序的，那么就会出现一个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和纯</a:t>
            </a:r>
            <a:r>
              <a:rPr lang="en-US" altLang="zh-CN"/>
              <a:t>TP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 </a:t>
            </a:r>
            <a:r>
              <a:rPr lang="en-US" altLang="zh-CN"/>
              <a:t>head</a:t>
            </a:r>
            <a:r>
              <a:rPr lang="zh-CN" altLang="en-US"/>
              <a:t>顺序不一致的问题。我们来看看这篇文章是怎么解决的（单击进入下一页）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F04866-F55D-15EB-16B1-C9D5526547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97522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A8AEC-3127-6DCE-E9EC-20F9B3084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560EBC-2343-2A34-CE03-3545F3515F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1E5823-C9C4-2A98-BD3A-20AAF4EBD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左边是刚刚展示的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，右边是纯开</a:t>
            </a:r>
            <a:r>
              <a:rPr lang="en-US" altLang="zh-CN"/>
              <a:t>TP</a:t>
            </a:r>
            <a:r>
              <a:rPr lang="zh-CN" altLang="en-US"/>
              <a:t>的配置，（单击显示红框）本文通过在切分</a:t>
            </a:r>
            <a:r>
              <a:rPr lang="en-US" altLang="zh-CN"/>
              <a:t>TP</a:t>
            </a:r>
            <a:r>
              <a:rPr lang="zh-CN" altLang="en-US"/>
              <a:t>划分权重的时候，把</a:t>
            </a:r>
            <a:r>
              <a:rPr lang="en-US" altLang="zh-CN"/>
              <a:t>head</a:t>
            </a:r>
            <a:r>
              <a:rPr lang="zh-CN" altLang="en-US"/>
              <a:t>重排序一下，使得这个顺序和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一致，这样乘出来得到的</a:t>
            </a:r>
            <a:r>
              <a:rPr lang="en-US" altLang="zh-CN"/>
              <a:t>QKV</a:t>
            </a:r>
            <a:r>
              <a:rPr lang="zh-CN" altLang="en-US"/>
              <a:t> 的</a:t>
            </a:r>
            <a:r>
              <a:rPr lang="en-US" altLang="zh-CN"/>
              <a:t>head</a:t>
            </a:r>
            <a:r>
              <a:rPr lang="zh-CN" altLang="en-US"/>
              <a:t>顺序也就和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一致了</a:t>
            </a:r>
            <a:r>
              <a:rPr lang="en-US" altLang="zh-CN"/>
              <a:t>(</a:t>
            </a:r>
            <a:r>
              <a:rPr lang="zh-CN" altLang="en-US"/>
              <a:t>单击显示红框），因此，通过把</a:t>
            </a:r>
            <a:r>
              <a:rPr lang="en-US" altLang="zh-CN"/>
              <a:t>head</a:t>
            </a:r>
            <a:r>
              <a:rPr lang="zh-CN" altLang="en-US"/>
              <a:t>的顺序重排序，作者解决了</a:t>
            </a:r>
            <a:r>
              <a:rPr lang="en-US" altLang="zh-CN"/>
              <a:t>TP</a:t>
            </a:r>
            <a:r>
              <a:rPr lang="zh-CN" altLang="en-US"/>
              <a:t>和</a:t>
            </a:r>
            <a:r>
              <a:rPr lang="en-US" altLang="zh-CN"/>
              <a:t>SP</a:t>
            </a:r>
            <a:r>
              <a:rPr lang="zh-CN" altLang="en-US"/>
              <a:t>在</a:t>
            </a:r>
            <a:r>
              <a:rPr lang="en-US" altLang="zh-CN"/>
              <a:t>head</a:t>
            </a:r>
            <a:r>
              <a:rPr lang="zh-CN" altLang="en-US"/>
              <a:t>顺序上的不一致问题。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5F84BD-725A-79FD-9898-9FF62063AD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3850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77347-4FF1-4722-6210-753850529D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E96C5FC-2ABD-1FD8-B0EF-01F5D0D458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E6F393D-3B89-7258-B99F-1B327E8133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然后，在切换</a:t>
            </a:r>
            <a:r>
              <a:rPr lang="en-US" altLang="zh-CN"/>
              <a:t>TP</a:t>
            </a:r>
            <a:r>
              <a:rPr lang="zh-CN" altLang="en-US"/>
              <a:t>和</a:t>
            </a:r>
            <a:r>
              <a:rPr lang="en-US" altLang="zh-CN"/>
              <a:t>SP</a:t>
            </a:r>
            <a:r>
              <a:rPr lang="zh-CN" altLang="en-US"/>
              <a:t>的时候，还会面临一个权重布局不匹配的问题，因为</a:t>
            </a:r>
            <a:r>
              <a:rPr lang="en-US" altLang="zh-CN"/>
              <a:t>TP</a:t>
            </a:r>
            <a:r>
              <a:rPr lang="zh-CN" altLang="en-US"/>
              <a:t>是划分权重的，</a:t>
            </a:r>
            <a:r>
              <a:rPr lang="en-US" altLang="zh-CN"/>
              <a:t>SP</a:t>
            </a:r>
            <a:r>
              <a:rPr lang="zh-CN" altLang="en-US"/>
              <a:t>是不划分的，所以权重的布局是不一样的，那么文中提出，有两个解决方案：</a:t>
            </a:r>
            <a:br>
              <a:rPr lang="en-US" altLang="zh-CN"/>
            </a:br>
            <a:r>
              <a:rPr lang="en-US" altLang="zh-CN" b="1"/>
              <a:t>1.</a:t>
            </a:r>
            <a:r>
              <a:rPr lang="zh-CN" altLang="en-US" b="1"/>
              <a:t> 在线切换。 </a:t>
            </a:r>
            <a:r>
              <a:rPr lang="zh-CN" altLang="en-US"/>
              <a:t>也就是</a:t>
            </a:r>
            <a:r>
              <a:rPr lang="en-US" altLang="zh-CN"/>
              <a:t>SP</a:t>
            </a:r>
            <a:r>
              <a:rPr lang="zh-CN" altLang="en-US"/>
              <a:t>切</a:t>
            </a:r>
            <a:r>
              <a:rPr lang="en-US" altLang="zh-CN"/>
              <a:t>TP</a:t>
            </a:r>
            <a:r>
              <a:rPr lang="zh-CN" altLang="en-US"/>
              <a:t>的时候通过切片权重得到</a:t>
            </a:r>
            <a:r>
              <a:rPr lang="en-US" altLang="zh-CN"/>
              <a:t>TP</a:t>
            </a:r>
            <a:r>
              <a:rPr lang="zh-CN" altLang="en-US"/>
              <a:t>需要的权重，</a:t>
            </a:r>
            <a:r>
              <a:rPr lang="en-US" altLang="zh-CN"/>
              <a:t>TP</a:t>
            </a:r>
            <a:r>
              <a:rPr lang="zh-CN" altLang="en-US"/>
              <a:t>切</a:t>
            </a:r>
            <a:r>
              <a:rPr lang="en-US" altLang="zh-CN"/>
              <a:t>SP</a:t>
            </a:r>
            <a:r>
              <a:rPr lang="zh-CN" altLang="en-US"/>
              <a:t>的时候，通过集合通信得到</a:t>
            </a:r>
            <a:r>
              <a:rPr lang="en-US" altLang="zh-CN"/>
              <a:t>SP</a:t>
            </a:r>
            <a:r>
              <a:rPr lang="zh-CN" altLang="en-US"/>
              <a:t>的权重。 这样的好处是，内存没有冗余存储，但是作者说</a:t>
            </a:r>
            <a:r>
              <a:rPr lang="en-US" altLang="zh-CN"/>
              <a:t>slicing</a:t>
            </a:r>
            <a:r>
              <a:rPr lang="zh-CN" altLang="en-US"/>
              <a:t>操作可能会带来开销，尤其是在</a:t>
            </a:r>
            <a:r>
              <a:rPr lang="en-US" altLang="zh-CN"/>
              <a:t>Hopper</a:t>
            </a:r>
            <a:r>
              <a:rPr lang="zh-CN" altLang="en-US"/>
              <a:t>框架下由于</a:t>
            </a:r>
            <a:r>
              <a:rPr lang="en-US" altLang="zh-CN"/>
              <a:t>FP8</a:t>
            </a:r>
            <a:r>
              <a:rPr lang="zh-CN" altLang="en-US"/>
              <a:t>硬件限制需要进行一次转置，这个比较耗时。这点我不太了解，不知道现场有没有大佬可以解释一下</a:t>
            </a:r>
            <a:br>
              <a:rPr lang="en-US" altLang="zh-CN"/>
            </a:br>
            <a:endParaRPr lang="en-US" altLang="zh-CN"/>
          </a:p>
          <a:p>
            <a:r>
              <a:rPr lang="en-US" altLang="zh-CN" b="1"/>
              <a:t>2.</a:t>
            </a:r>
            <a:r>
              <a:rPr lang="zh-CN" altLang="en-US" b="1"/>
              <a:t>分别存储不同的</a:t>
            </a:r>
            <a:r>
              <a:rPr lang="en-US" altLang="zh-CN" b="1"/>
              <a:t>model</a:t>
            </a:r>
            <a:r>
              <a:rPr lang="zh-CN" altLang="en-US" b="1"/>
              <a:t>。</a:t>
            </a:r>
            <a:r>
              <a:rPr lang="zh-CN" altLang="en-US"/>
              <a:t>这种方式比较显而易见，也就是会带来权重上的冗余存储，但优势就是比较快，没有切换开销。</a:t>
            </a:r>
            <a:br>
              <a:rPr lang="en-US" altLang="zh-CN"/>
            </a:br>
            <a:r>
              <a:rPr lang="zh-CN" altLang="en-US"/>
              <a:t>作者选择的方案是第二种（单击显示绿勾），然后它还显式得给出了一个内存开销的分析，如图所示，两个配置的权重，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是比较大的，因为</a:t>
            </a:r>
            <a:r>
              <a:rPr lang="en-US" altLang="zh-CN"/>
              <a:t>SP</a:t>
            </a:r>
            <a:r>
              <a:rPr lang="zh-CN" altLang="en-US"/>
              <a:t>不划分权重，对于纯开</a:t>
            </a:r>
            <a:r>
              <a:rPr lang="en-US" altLang="zh-CN"/>
              <a:t>TP</a:t>
            </a:r>
            <a:r>
              <a:rPr lang="zh-CN" altLang="en-US"/>
              <a:t>的权重，它的内存占用仅为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model</a:t>
            </a:r>
            <a:r>
              <a:rPr lang="zh-CN" altLang="en-US"/>
              <a:t>的</a:t>
            </a:r>
            <a:r>
              <a:rPr lang="en-US" altLang="zh-CN"/>
              <a:t>1/SP</a:t>
            </a:r>
            <a:r>
              <a:rPr lang="zh-CN" altLang="en-US"/>
              <a:t>，比如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config</a:t>
            </a:r>
            <a:r>
              <a:rPr lang="zh-CN" altLang="en-US"/>
              <a:t>如果开</a:t>
            </a:r>
            <a:r>
              <a:rPr lang="en-US" altLang="zh-CN"/>
              <a:t>SP=8,</a:t>
            </a:r>
            <a:r>
              <a:rPr lang="zh-CN" altLang="en-US"/>
              <a:t>那么纯</a:t>
            </a:r>
            <a:r>
              <a:rPr lang="en-US" altLang="zh-CN"/>
              <a:t>TP</a:t>
            </a:r>
            <a:r>
              <a:rPr lang="zh-CN" altLang="en-US"/>
              <a:t>的</a:t>
            </a:r>
            <a:r>
              <a:rPr lang="en-US" altLang="zh-CN"/>
              <a:t>model</a:t>
            </a:r>
            <a:r>
              <a:rPr lang="zh-CN" altLang="en-US"/>
              <a:t>占用开销仅为</a:t>
            </a:r>
            <a:r>
              <a:rPr lang="en-US" altLang="zh-CN"/>
              <a:t>base</a:t>
            </a:r>
            <a:r>
              <a:rPr lang="zh-CN" altLang="en-US"/>
              <a:t> </a:t>
            </a:r>
            <a:r>
              <a:rPr lang="en-US" altLang="zh-CN"/>
              <a:t>model</a:t>
            </a:r>
            <a:r>
              <a:rPr lang="zh-CN" altLang="en-US"/>
              <a:t>的</a:t>
            </a:r>
            <a:r>
              <a:rPr lang="en-US" altLang="zh-CN"/>
              <a:t>12.5%</a:t>
            </a:r>
            <a:r>
              <a:rPr lang="zh-CN" altLang="en-US"/>
              <a:t>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101B08-4672-8798-66FE-0D4D13455F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189224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A032A-4DE4-BD37-4754-FB0C9C740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36B7BF-E261-3183-DC37-BB45CF738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D80004-5DA4-E3BC-9B01-217BE335FA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接下来是</a:t>
            </a:r>
            <a:r>
              <a:rPr lang="en-US" altLang="zh-CN"/>
              <a:t>implementation</a:t>
            </a:r>
            <a:r>
              <a:rPr lang="zh-CN" altLang="en-US"/>
              <a:t>部分，作者是通过集成到</a:t>
            </a:r>
            <a:r>
              <a:rPr lang="en-US" altLang="zh-CN" err="1"/>
              <a:t>vllm</a:t>
            </a:r>
            <a:r>
              <a:rPr lang="zh-CN" altLang="en-US"/>
              <a:t>中实现的，通过一种</a:t>
            </a:r>
            <a:r>
              <a:rPr lang="en-US" altLang="zh-CN"/>
              <a:t>plug-in</a:t>
            </a:r>
            <a:r>
              <a:rPr lang="zh-CN" altLang="en-US"/>
              <a:t>的方式（也可以理解为钩子函数），然后实现遇到的一个问题的，捕获</a:t>
            </a:r>
            <a:r>
              <a:rPr lang="en-US" altLang="zh-CN" err="1"/>
              <a:t>cudagraph</a:t>
            </a:r>
            <a:r>
              <a:rPr lang="zh-CN" altLang="en-US"/>
              <a:t>的时候，在</a:t>
            </a:r>
            <a:r>
              <a:rPr lang="en-US" altLang="zh-CN"/>
              <a:t>SP</a:t>
            </a:r>
            <a:r>
              <a:rPr lang="zh-CN" altLang="en-US"/>
              <a:t>的</a:t>
            </a:r>
            <a:r>
              <a:rPr lang="en-US" altLang="zh-CN"/>
              <a:t>all2all</a:t>
            </a:r>
            <a:r>
              <a:rPr lang="zh-CN" altLang="en-US"/>
              <a:t>通信时失败了，作者通过修改编译来放宽了</a:t>
            </a:r>
            <a:r>
              <a:rPr lang="en-US" altLang="zh-CN" err="1"/>
              <a:t>vllm</a:t>
            </a:r>
            <a:r>
              <a:rPr lang="zh-CN" altLang="en-US"/>
              <a:t>的约束。</a:t>
            </a:r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F0627D-B718-CFB7-DAFC-91E336F50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76622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让我们来看一下实验的结果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648005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不知道大家还记不记得，本篇工作的</a:t>
            </a:r>
            <a:r>
              <a:rPr lang="en-US" altLang="zh-CN"/>
              <a:t>motivation</a:t>
            </a:r>
            <a:r>
              <a:rPr lang="zh-CN" altLang="en-US"/>
              <a:t>是希望能更好处理突发式的工作负载。</a:t>
            </a:r>
            <a:br>
              <a:rPr lang="en-US" altLang="zh-CN"/>
            </a:br>
            <a:r>
              <a:rPr lang="zh-CN" altLang="en-US"/>
              <a:t>因此，本文的实验主要回答了这四个问题，首先是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parallelism</a:t>
            </a:r>
            <a:r>
              <a:rPr lang="zh-CN" altLang="en-US"/>
              <a:t>在实际负载以及不同的</a:t>
            </a:r>
            <a:r>
              <a:rPr lang="en-US" altLang="zh-CN"/>
              <a:t>benchmark</a:t>
            </a:r>
            <a:r>
              <a:rPr lang="zh-CN" altLang="en-US"/>
              <a:t>上的情况。</a:t>
            </a:r>
            <a:endParaRPr lang="en-US" altLang="zh-CN"/>
          </a:p>
          <a:p>
            <a:r>
              <a:rPr lang="zh-CN" altLang="en-US"/>
              <a:t>另外，这篇工作已经部署到了实际生产环境，并结合了主流的推理优化技术。</a:t>
            </a:r>
            <a:endParaRPr lang="en-US" altLang="zh-CN"/>
          </a:p>
          <a:p>
            <a:r>
              <a:rPr lang="zh-CN" altLang="en-US"/>
              <a:t>最后，对于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parallelism</a:t>
            </a:r>
            <a:r>
              <a:rPr lang="zh-CN" altLang="en-US"/>
              <a:t>表现不佳的地方，作者也给出了</a:t>
            </a:r>
            <a:r>
              <a:rPr lang="en-US" altLang="zh-CN"/>
              <a:t>breakdown</a:t>
            </a:r>
            <a:r>
              <a:rPr lang="zh-CN" altLang="en-US"/>
              <a:t>试验来解释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从实验设置其实大家也能发现一个问题，本篇文章只做了单机</a:t>
            </a:r>
            <a:r>
              <a:rPr lang="en-US" altLang="zh-CN"/>
              <a:t>8</a:t>
            </a:r>
            <a:r>
              <a:rPr lang="zh-CN" altLang="en-US"/>
              <a:t>卡的实验。</a:t>
            </a:r>
            <a:endParaRPr lang="en-US" altLang="zh-CN"/>
          </a:p>
          <a:p>
            <a:r>
              <a:rPr lang="zh-CN" altLang="en-US"/>
              <a:t>一方面，</a:t>
            </a:r>
            <a:r>
              <a:rPr lang="en-US" altLang="zh-CN"/>
              <a:t>TP</a:t>
            </a:r>
            <a:r>
              <a:rPr lang="zh-CN" altLang="en-US"/>
              <a:t>与</a:t>
            </a:r>
            <a:r>
              <a:rPr lang="en-US" altLang="zh-CN"/>
              <a:t>SP</a:t>
            </a:r>
            <a:r>
              <a:rPr lang="zh-CN" altLang="en-US"/>
              <a:t>最大只能开到</a:t>
            </a:r>
            <a:r>
              <a:rPr lang="en-US" altLang="zh-CN"/>
              <a:t>8</a:t>
            </a:r>
            <a:r>
              <a:rPr lang="zh-CN" altLang="en-US"/>
              <a:t>，再大就会引入跨机通信从而大幅降低性能；另一方面，推理过程中往往采用小于</a:t>
            </a:r>
            <a:r>
              <a:rPr lang="en-US" altLang="zh-CN"/>
              <a:t>8</a:t>
            </a:r>
            <a:r>
              <a:rPr lang="zh-CN" altLang="en-US"/>
              <a:t>的</a:t>
            </a:r>
            <a:r>
              <a:rPr lang="en-US" altLang="zh-CN" err="1"/>
              <a:t>tp</a:t>
            </a:r>
            <a:r>
              <a:rPr lang="zh-CN" altLang="en-US"/>
              <a:t>即可运行。</a:t>
            </a:r>
            <a:endParaRPr lang="en-US" altLang="zh-CN"/>
          </a:p>
          <a:p>
            <a:r>
              <a:rPr lang="zh-CN" altLang="en-US"/>
              <a:t>文章主要跑了</a:t>
            </a:r>
            <a:r>
              <a:rPr lang="en-US" altLang="zh-CN"/>
              <a:t>llama-70B</a:t>
            </a:r>
            <a:r>
              <a:rPr lang="zh-CN" altLang="en-US"/>
              <a:t>和</a:t>
            </a:r>
            <a:r>
              <a:rPr lang="en-US" altLang="zh-CN"/>
              <a:t>qwen-32B</a:t>
            </a:r>
            <a:r>
              <a:rPr lang="zh-CN" altLang="en-US"/>
              <a:t>的实验，实际上文章也跑了基于</a:t>
            </a:r>
            <a:r>
              <a:rPr lang="en-US" altLang="zh-CN"/>
              <a:t>llama</a:t>
            </a:r>
            <a:r>
              <a:rPr lang="zh-CN" altLang="en-US"/>
              <a:t>和</a:t>
            </a:r>
            <a:r>
              <a:rPr lang="en-US" altLang="zh-CN" err="1"/>
              <a:t>qwen</a:t>
            </a:r>
            <a:r>
              <a:rPr lang="zh-CN" altLang="en-US"/>
              <a:t>构建的</a:t>
            </a:r>
            <a:r>
              <a:rPr lang="en-US" altLang="zh-CN" err="1"/>
              <a:t>moe</a:t>
            </a:r>
            <a:r>
              <a:rPr lang="zh-CN" altLang="en-US"/>
              <a:t>模型，但因为表现与</a:t>
            </a:r>
            <a:r>
              <a:rPr lang="en-US" altLang="zh-CN"/>
              <a:t>dense</a:t>
            </a:r>
            <a:r>
              <a:rPr lang="zh-CN" altLang="en-US"/>
              <a:t>模型差不多，再加上文章中没太多描述，所以</a:t>
            </a:r>
            <a:r>
              <a:rPr lang="en-US" altLang="zh-CN"/>
              <a:t>ppt</a:t>
            </a:r>
            <a:r>
              <a:rPr lang="zh-CN" altLang="en-US"/>
              <a:t>里没过多赘述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文章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使用了四类数据集，分别是两种基于现实世界获取的数据集，用于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的合成数据和模拟真实生产环境的突发模式</a:t>
            </a:r>
            <a:b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使用随机数据生成的合成请求，用于参数化基准测试；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ii)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包含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HumanEval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Chen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2021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年）和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CodeAct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智能体（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Neubig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 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Wang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年）在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SWEBench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（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Jimenez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等人，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2024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年）上运行的混合请求轨迹（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HumanEval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为单次尝试型，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SWEBench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为自主智能体型）；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iii)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为执行推测解码而筛选的、与合成数据集请求相匹配的真实场景数据集；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iv)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模拟真实生产环境的突发流量模式。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首先让我们来看一下在真实世界流量中的情况，最上方是</a:t>
            </a:r>
            <a:r>
              <a:rPr lang="en-US" altLang="zh-CN"/>
              <a:t>request</a:t>
            </a:r>
            <a:r>
              <a:rPr lang="zh-CN" altLang="en-US"/>
              <a:t>到达率的变化情况。从上往下分别是</a:t>
            </a:r>
            <a:r>
              <a:rPr lang="en-US" altLang="zh-CN"/>
              <a:t>TTFT</a:t>
            </a:r>
            <a:r>
              <a:rPr lang="zh-CN" altLang="en-US"/>
              <a:t>、</a:t>
            </a:r>
            <a:r>
              <a:rPr lang="en-US" altLang="zh-CN"/>
              <a:t>TPOT</a:t>
            </a:r>
            <a:r>
              <a:rPr lang="zh-CN" altLang="en-US"/>
              <a:t>与吞吐的情况，</a:t>
            </a:r>
            <a:r>
              <a:rPr lang="en-US" altLang="zh-CN"/>
              <a:t>TTFT</a:t>
            </a:r>
            <a:r>
              <a:rPr lang="zh-CN" altLang="en-US"/>
              <a:t>的纵轴是指数化的。可以看到与预料类似，本文的工作在面临突发流量时表现出了最优秀的延迟，而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相比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能实现更高的峰值吞吐量，从而以更短时间完成批量处理。这使得对延迟敏感请求的等待时间显著减少。而相比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，移位并行在有效降低了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9.16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1.63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倍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TPOT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的情况下，仍取得了与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类似的吞吐。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7206E-128B-6281-D6C2-D1F57BF8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8303491-84A6-2D15-CD5E-34BBCEA4BE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A98E52-AA9A-7881-71F8-D0815669E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这张图展示了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llama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qwen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模型在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benchmark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上的表现，三个角分别对应了基于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normalize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后的吞吐、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TPOT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能力，角越突出表示在这方面能力越好。与前面得到的结果类似，移位并行在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TPOT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方面都取得了近乎最优的成绩，在吞吐方面也并不逊色。</a:t>
            </a:r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83FDBC-3A17-828F-8A96-7A1F7687A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213466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78833-A7B5-4374-EA57-C86FD9DC1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B5756F-FF70-7F07-D561-4F86DE293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4BE952-A3B9-5B93-8E2D-5A2DE5CB6E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为研究不同输入上下文大小下的 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、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TPOT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和吞吐量，本文针对包含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至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128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的输入和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250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的输出重复了之前的实验。可以看到，由于移位并行使用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prefill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，所以展示了更优的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TTFT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能力。另外，在图里还展示出了两个趋势：</a:t>
            </a:r>
            <a:b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随着输入大小变大，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TPOT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的时间也随之增长。理论上，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decoding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阶段的计算量受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prompt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长度的变化影响应该很小，但实际上因为这里需要去读取之前计算的</a:t>
            </a:r>
            <a:r>
              <a:rPr lang="en-US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kv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，所以内存带宽成为了主要瓶颈</a:t>
            </a:r>
            <a:endParaRPr lang="en-US" altLang="zh-CN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随着输入的变大，吞吐也在迅速下降，这是因为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attention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的计算时间随之变成了主要部分。所以在长上下文的情况下，移位并行反而取得了更好的吞吐。</a:t>
            </a:r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67B116-7263-EFC3-4F73-050E87272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1430574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4BD05-753E-1DB9-909F-266CF2795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0E7765-293B-209B-6E63-2171F8DA6F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924B385-67AD-EB78-913E-015B690A33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，文章还测试了请求完成时间与到达率的关系。结果证明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 Parallelism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严格实现了所有到达率下的最低完成时间，其实简单来说，在较低的到达率，或者说对于较小的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，使用</a:t>
            </a:r>
            <a:r>
              <a:rPr lang="en-US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降低计算量提升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是更优的选择，而对于较高的到达率，即较大的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batch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size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，使用</a:t>
            </a:r>
            <a:r>
              <a:rPr lang="en-US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来提升吞吐率是更优的选择。移位并行通过实现两种并行间的切换来提供了最优的结果。</a:t>
            </a:r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B418554-EB17-1183-D9ED-FC5A0DBBB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148975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AFD07-C94F-4FC7-8B1F-79059B9F9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3BBF0F2-D919-E9CD-C7CF-C03A07195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DA1C5E-94AF-791C-D050-7102D5619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作者们通过实际生产环境中的结果展示了移位并行的有效性，通过将移位并行与</a:t>
            </a:r>
            <a:r>
              <a:rPr lang="en-US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swiftKV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和投机推理结合，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shift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parallelism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同时实现了最高吞吐量和最短完成时间，其表现超越了各类开源系统</a:t>
            </a:r>
            <a:endParaRPr lang="zh-CN" alt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132CCF-E2E1-B132-F070-3DF1B8D29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66703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5EFC4-3DE8-193D-971A-8706CD661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4F53BB-65A4-CB10-F3DB-B65230482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D1A28B4-224A-850D-4310-28903CA75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作者们还展示了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breakdown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的实验，图里展示了在单节点上处理 </a:t>
            </a:r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1,920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个请求的结果。可以明显看出移位并行的通信成本低于 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TP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另外，这里面存在着两个与移位并行无关的性能瓶颈：</a:t>
            </a: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注意力时间随序列长度显著增长，从而降低了整体吞吐量。</a:t>
            </a:r>
          </a:p>
          <a:p>
            <a:r>
              <a:rPr lang="en-US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vLLM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的并行化成本在小型模型中尤为显著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我们通过移除前向传播过程测算出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vLLM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的实际开销。这表明数据并行（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DP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与移位并行（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</a:t>
            </a:r>
            <a:r>
              <a:rPr lang="zh-CN" altLang="e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之间的剩余吞吐量差距，实际上可能大部分源自与 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无关的 </a:t>
            </a:r>
            <a:r>
              <a:rPr lang="en" altLang="zh-CN" sz="1200" b="0" i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vLLM</a:t>
            </a:r>
            <a:r>
              <a:rPr lang="en" altLang="zh-CN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zh-CN" altLang="en-US" sz="12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固有开销。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870B42-6979-82CD-A091-7F985E92C2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5025190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/>
              <a:t>最后来做一个简单的总结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3946399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总的来说</a:t>
            </a:r>
            <a:r>
              <a:rPr lang="zh-CN" altLang="en-US"/>
              <a:t>，这篇文章的优点还是非常明显的。</a:t>
            </a:r>
            <a:endParaRPr lang="en-US" altLang="zh-CN"/>
          </a:p>
          <a:p>
            <a:r>
              <a:rPr lang="en-US" err="1"/>
              <a:t>它揭示了sp和tp之间的kv</a:t>
            </a:r>
            <a:r>
              <a:rPr lang="zh-CN" altLang="en-US"/>
              <a:t> </a:t>
            </a:r>
            <a:r>
              <a:rPr lang="en-US" altLang="zh-CN"/>
              <a:t>cache</a:t>
            </a:r>
            <a:r>
              <a:rPr lang="zh-CN" altLang="en-US"/>
              <a:t>一致性，并在</a:t>
            </a:r>
            <a:r>
              <a:rPr lang="en-US" altLang="zh-CN" err="1"/>
              <a:t>vllm</a:t>
            </a:r>
            <a:r>
              <a:rPr lang="zh-CN" altLang="en-US"/>
              <a:t>中实现了</a:t>
            </a:r>
            <a:r>
              <a:rPr lang="en-US" altLang="zh-CN" err="1"/>
              <a:t>sp</a:t>
            </a:r>
            <a:r>
              <a:rPr lang="zh-CN" altLang="en-US"/>
              <a:t>，更进一步地实现了</a:t>
            </a:r>
            <a:r>
              <a:rPr lang="en-US" altLang="zh-CN"/>
              <a:t>SP</a:t>
            </a:r>
            <a:r>
              <a:rPr lang="zh-CN" altLang="en-US"/>
              <a:t>与</a:t>
            </a:r>
            <a:r>
              <a:rPr lang="en-US" altLang="zh-CN"/>
              <a:t>TP</a:t>
            </a:r>
            <a:r>
              <a:rPr lang="zh-CN" altLang="en-US"/>
              <a:t>的切换，从而能够更好地应对不同需求的工作负载</a:t>
            </a:r>
            <a:endParaRPr lang="en-US" altLang="zh-CN"/>
          </a:p>
          <a:p>
            <a:endParaRPr lang="en-US"/>
          </a:p>
          <a:p>
            <a:r>
              <a:rPr lang="zh-CN" altLang="en-US"/>
              <a:t>然而，这篇文章也存在着一些不尽如人意的地方。首先就是被我们组三位同学共同吐槽的写作问题，可以说是惨不忍睹。另外，正如我提过一次的那样，这篇工作其实很受</a:t>
            </a:r>
            <a:r>
              <a:rPr lang="en-US" altLang="zh-CN"/>
              <a:t>TP</a:t>
            </a:r>
            <a:r>
              <a:rPr lang="zh-CN" altLang="en-US"/>
              <a:t>本身的局限。另外，在实验中，作者们没有去提及不同配置的切换开销以及</a:t>
            </a:r>
            <a:r>
              <a:rPr lang="en-US" altLang="zh-CN"/>
              <a:t>request</a:t>
            </a:r>
            <a:r>
              <a:rPr lang="zh-CN" altLang="en-US"/>
              <a:t>的等待时间，在实验中只使用</a:t>
            </a:r>
            <a:r>
              <a:rPr lang="en-US" altLang="zh-CN"/>
              <a:t>TTFT</a:t>
            </a:r>
            <a:r>
              <a:rPr lang="zh-CN" altLang="en-US"/>
              <a:t>和</a:t>
            </a:r>
            <a:r>
              <a:rPr lang="en-US" altLang="zh-CN"/>
              <a:t>TPOT</a:t>
            </a:r>
            <a:r>
              <a:rPr lang="zh-CN" altLang="en-US"/>
              <a:t>，而没有使用</a:t>
            </a:r>
            <a:r>
              <a:rPr lang="en-US" altLang="zh-CN"/>
              <a:t>SLO</a:t>
            </a:r>
            <a:r>
              <a:rPr lang="zh-CN" altLang="en-US"/>
              <a:t>作为标准，我们觉得显然是不合理的。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不过瑕不掩瑜，我们觉得这个工作有着很广的扩展空间。对于平台的</a:t>
            </a:r>
            <a:r>
              <a:rPr lang="en-US" altLang="zh-CN"/>
              <a:t>serving</a:t>
            </a:r>
            <a:r>
              <a:rPr lang="zh-CN" altLang="en-US"/>
              <a:t>来说，可能大多数时候都处于一种</a:t>
            </a:r>
            <a:r>
              <a:rPr lang="en-US" altLang="zh-CN"/>
              <a:t>high</a:t>
            </a:r>
            <a:r>
              <a:rPr lang="zh-CN" altLang="en-US"/>
              <a:t> </a:t>
            </a:r>
            <a:r>
              <a:rPr lang="en-US" altLang="zh-CN"/>
              <a:t>traffic</a:t>
            </a:r>
            <a:r>
              <a:rPr lang="zh-CN" altLang="en-US"/>
              <a:t>的情况，本文引入的</a:t>
            </a:r>
            <a:r>
              <a:rPr lang="en-US" altLang="zh-CN"/>
              <a:t>SP</a:t>
            </a:r>
            <a:r>
              <a:rPr lang="zh-CN" altLang="en-US"/>
              <a:t>可以有效提升响应速度，对于调度等工作应该有不小的潜力。</a:t>
            </a:r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45AD-BDB6-8999-F62F-95E9E4695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389328C-339C-4E33-8D51-B27B58175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D479E73-FC6E-0218-3BA5-22AE80229A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71F9A1-5E66-3BD4-AF2B-5CB53723DA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889975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BF8A-A101-CFE6-6629-701F3B0E6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61D6D72-2B91-DB96-3B97-10C706052E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513ACC-20BC-4537-543A-FB933148F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BE3562-CE4B-AEF0-210E-51170026D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15844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3D472-8799-3356-597A-E80ED398D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7CE928-35DA-73FD-39A5-6F98E19892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035B7EE-1398-380E-0E8F-625705EC03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E6734-7E79-E144-7CDB-20B7990D4D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7787232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BEC0A-E758-4279-9565-BB3E4B011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F88B324-6CC6-C3D3-DBBC-A04AF8034B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41E34C2-A9D2-01A5-1D75-8998652272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816592-4434-49BF-16CC-15C3C05293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753EBD-B331-7D4C-B8D8-50C5D193DC33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7444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6137" y="1213835"/>
            <a:ext cx="11204293" cy="5153307"/>
          </a:xfrm>
          <a:prstGeom prst="rect">
            <a:avLst/>
          </a:prstGeom>
        </p:spPr>
        <p:txBody>
          <a:bodyPr lIns="46800">
            <a:normAutofit/>
          </a:bodyPr>
          <a:lstStyle>
            <a:lvl1pPr marL="0" indent="-323850">
              <a:spcBef>
                <a:spcPts val="1000"/>
              </a:spcBef>
              <a:buSzPct val="70000"/>
              <a:buFont typeface="Wingdings" panose="05000000000000000000" pitchFamily="2" charset="2"/>
              <a:buChar char="l"/>
              <a:defRPr sz="32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1pPr>
            <a:lvl2pPr marL="629920" indent="-323850">
              <a:buSzPct val="60000"/>
              <a:buFont typeface="Wingdings" panose="05000000000000000000" pitchFamily="2" charset="2"/>
              <a:buChar char="u"/>
              <a:defRPr sz="28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2pPr>
            <a:lvl3pPr marL="899795" indent="-323850">
              <a:buSzPct val="65000"/>
              <a:buFont typeface="Wingdings" panose="05000000000000000000" pitchFamily="2" charset="2"/>
              <a:buChar char="n"/>
              <a:defRPr sz="24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3pPr>
            <a:lvl4pPr marL="1188085" indent="-323850">
              <a:buSzPct val="65000"/>
              <a:buFont typeface="Wingdings" panose="05000000000000000000" pitchFamily="2" charset="2"/>
              <a:buChar char="p"/>
              <a:defRPr sz="20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4pPr>
            <a:lvl5pPr marL="1440180" indent="-323850">
              <a:buSzPct val="134000"/>
              <a:buFont typeface="系统字体常规体"/>
              <a:buChar char="⚬"/>
              <a:defRPr sz="20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5pPr>
            <a:lvl6pPr marL="1905000" indent="0">
              <a:buNone/>
              <a:defRPr/>
            </a:lvl6pPr>
          </a:lstStyle>
          <a:p>
            <a:r>
              <a:rPr lang="zh-CN" altLang="en-US"/>
              <a:t>正文级别 </a:t>
            </a:r>
            <a:r>
              <a:rPr lang="en-US" altLang="zh-CN"/>
              <a:t>1</a:t>
            </a:r>
            <a:endParaRPr lang="zh-CN" altLang="en-US"/>
          </a:p>
          <a:p>
            <a:pPr lvl="1"/>
            <a:endParaRPr lang="zh-CN" altLang="en-US"/>
          </a:p>
          <a:p>
            <a:pPr lvl="2"/>
            <a:r>
              <a:rPr lang="zh-CN" altLang="en-US"/>
              <a:t>正文级别 </a:t>
            </a:r>
            <a:r>
              <a:rPr lang="en-US" altLang="zh-CN"/>
              <a:t>3</a:t>
            </a:r>
          </a:p>
          <a:p>
            <a:pPr lvl="3"/>
            <a:r>
              <a:rPr lang="zh-CN" altLang="en-US"/>
              <a:t>正文级别 </a:t>
            </a:r>
            <a:r>
              <a:rPr lang="en-US" altLang="zh-CN"/>
              <a:t>4</a:t>
            </a:r>
            <a:endParaRPr lang="zh-CN" altLang="en-US"/>
          </a:p>
          <a:p>
            <a:pPr lvl="4"/>
            <a:r>
              <a:rPr lang="zh-CN" altLang="en-US"/>
              <a:t>正文级别 </a:t>
            </a:r>
            <a:r>
              <a:rPr lang="en-US" altLang="zh-CN"/>
              <a:t>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0042" y="6424333"/>
            <a:ext cx="381001" cy="30055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01570" y="283937"/>
            <a:ext cx="11188860" cy="6885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486137" y="1213835"/>
            <a:ext cx="11204293" cy="5153307"/>
          </a:xfrm>
          <a:prstGeom prst="rect">
            <a:avLst/>
          </a:prstGeom>
        </p:spPr>
        <p:txBody>
          <a:bodyPr lIns="46800">
            <a:normAutofit/>
          </a:bodyPr>
          <a:lstStyle>
            <a:lvl1pPr marL="0" indent="-323850">
              <a:spcBef>
                <a:spcPts val="1000"/>
              </a:spcBef>
              <a:buSzPct val="70000"/>
              <a:buFont typeface="Wingdings" panose="05000000000000000000" pitchFamily="2" charset="2"/>
              <a:buChar char="l"/>
              <a:defRPr sz="32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1pPr>
            <a:lvl2pPr marL="629920" indent="-323850">
              <a:buSzPct val="60000"/>
              <a:buFont typeface="Wingdings" panose="05000000000000000000" pitchFamily="2" charset="2"/>
              <a:buChar char="u"/>
              <a:defRPr sz="28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2pPr>
            <a:lvl3pPr marL="899795" indent="-323850">
              <a:buSzPct val="65000"/>
              <a:buFont typeface="Wingdings" panose="05000000000000000000" pitchFamily="2" charset="2"/>
              <a:buChar char="n"/>
              <a:defRPr sz="24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3pPr>
            <a:lvl4pPr marL="1188085" indent="-323850">
              <a:buSzPct val="65000"/>
              <a:buFont typeface="Wingdings" panose="05000000000000000000" pitchFamily="2" charset="2"/>
              <a:buChar char="p"/>
              <a:defRPr sz="20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4pPr>
            <a:lvl5pPr marL="1440180" indent="-323850">
              <a:buSzPct val="134000"/>
              <a:buFont typeface="系统字体常规体"/>
              <a:buChar char="⚬"/>
              <a:defRPr sz="2000" b="0" i="0">
                <a:latin typeface="Calibri" panose="020F0502020204030204" pitchFamily="34" charset="0"/>
                <a:ea typeface="Microsoft Himalaya" pitchFamily="2" charset="0"/>
                <a:cs typeface="Calibri" panose="020F0502020204030204" pitchFamily="34" charset="0"/>
              </a:defRPr>
            </a:lvl5pPr>
            <a:lvl6pPr marL="1905000" indent="0">
              <a:buNone/>
              <a:defRPr/>
            </a:lvl6pPr>
          </a:lstStyle>
          <a:p>
            <a:r>
              <a:rPr lang="zh-CN" altLang="en-US"/>
              <a:t>正文级别 </a:t>
            </a:r>
            <a:r>
              <a:rPr lang="en-US" altLang="zh-CN"/>
              <a:t>1</a:t>
            </a:r>
            <a:endParaRPr lang="zh-CN" altLang="en-US"/>
          </a:p>
          <a:p>
            <a:pPr lvl="1"/>
            <a:endParaRPr lang="zh-CN" altLang="en-US"/>
          </a:p>
          <a:p>
            <a:pPr lvl="2"/>
            <a:r>
              <a:rPr lang="zh-CN" altLang="en-US"/>
              <a:t>正文级别 </a:t>
            </a:r>
            <a:r>
              <a:rPr lang="en-US" altLang="zh-CN"/>
              <a:t>3</a:t>
            </a:r>
          </a:p>
          <a:p>
            <a:pPr lvl="3"/>
            <a:r>
              <a:rPr lang="zh-CN" altLang="en-US"/>
              <a:t>正文级别 </a:t>
            </a:r>
            <a:r>
              <a:rPr lang="en-US" altLang="zh-CN"/>
              <a:t>4</a:t>
            </a:r>
            <a:endParaRPr lang="zh-CN" altLang="en-US"/>
          </a:p>
          <a:p>
            <a:pPr lvl="4"/>
            <a:r>
              <a:rPr lang="zh-CN" altLang="en-US"/>
              <a:t>正文级别 </a:t>
            </a:r>
            <a:r>
              <a:rPr lang="en-US" altLang="zh-CN"/>
              <a:t>5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320042" y="6424333"/>
            <a:ext cx="381001" cy="300555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501570" y="283937"/>
            <a:ext cx="11188860" cy="68851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400" b="1" i="0"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D4CEF6A-A7E1-4744-8B6F-F6879D33BD3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3D4CEF6A-A7E1-4744-8B6F-F6879D33BD3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</a:t>
            </a:fld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-63365" y="1015459"/>
            <a:ext cx="12106976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3600" b="1">
                <a:latin typeface="Gill Sans MT" panose="020B0502020104020203" pitchFamily="34" charset="0"/>
              </a:rPr>
              <a:t>Shift Parallelism: Low-Latency, High-Throughput LLM</a:t>
            </a:r>
          </a:p>
          <a:p>
            <a:pPr algn="ctr"/>
            <a:r>
              <a:rPr kumimoji="1" lang="en-US" altLang="zh-CN" sz="3600" b="1">
                <a:latin typeface="Gill Sans MT" panose="020B0502020104020203" pitchFamily="34" charset="0"/>
              </a:rPr>
              <a:t>Inference for Dynamic Workloads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231" y="6005220"/>
            <a:ext cx="2386777" cy="72558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229229" y="4082415"/>
            <a:ext cx="22879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arXiv 2025.9</a:t>
            </a:r>
            <a:endParaRPr kumimoji="1" lang="en-US" altLang="zh-CN" sz="200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ea typeface="微软雅黑" panose="020B0503020204020204" pitchFamily="34" charset="-122"/>
              <a:cs typeface="Calibri" panose="020F0502020204030204" pitchFamily="34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047102" y="2584218"/>
            <a:ext cx="6652160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Mert Hidayetoglu, Aurick Qiao, Michael Wyatt, Jeff Rasley, Yuxiong He, and Samyam Rajbhandari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2769516" y="3431827"/>
            <a:ext cx="7207332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60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Snowflake AI Research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287082" y="4794851"/>
            <a:ext cx="6172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800">
                <a:latin typeface="Calibri" panose="020F0502020204030204" pitchFamily="34" charset="0"/>
                <a:cs typeface="Calibri" panose="020F0502020204030204" pitchFamily="34" charset="0"/>
              </a:rPr>
              <a:t>Presented</a:t>
            </a:r>
            <a:r>
              <a:rPr lang="zh-CN" altLang="en-US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altLang="zh-CN" sz="1800">
                <a:latin typeface="Calibri" panose="020F0502020204030204" pitchFamily="34" charset="0"/>
                <a:cs typeface="Calibri" panose="020F0502020204030204" pitchFamily="34" charset="0"/>
              </a:rPr>
              <a:t>y Jiaan Zhu, </a:t>
            </a:r>
            <a:r>
              <a:rPr lang="en-US" altLang="zh-CN" sz="1800" err="1">
                <a:latin typeface="Calibri" panose="020F0502020204030204" pitchFamily="34" charset="0"/>
                <a:cs typeface="Calibri" panose="020F0502020204030204" pitchFamily="34" charset="0"/>
              </a:rPr>
              <a:t>Qinghe</a:t>
            </a:r>
            <a:r>
              <a:rPr lang="zh-CN" altLang="en-US" sz="18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800">
                <a:latin typeface="Calibri" panose="020F0502020204030204" pitchFamily="34" charset="0"/>
                <a:cs typeface="Calibri" panose="020F0502020204030204" pitchFamily="34" charset="0"/>
              </a:rPr>
              <a:t>Wang, Long Zhao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/>
              <a:t>Background &amp; Motivation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Design &amp; Implementation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Evaluation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Conclusion</a:t>
            </a:r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Outline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2D8966-F79E-626D-295E-3515EB0D9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Inference Workload Characteristics</a:t>
            </a:r>
          </a:p>
          <a:p>
            <a:pPr lvl="1"/>
            <a:r>
              <a:rPr kumimoji="1" lang="en" altLang="zh-CN"/>
              <a:t>Interactive workloads </a:t>
            </a:r>
            <a:r>
              <a:rPr kumimoji="1" lang="en-US" altLang="zh-CN"/>
              <a:t>(Chat, Agent)</a:t>
            </a:r>
            <a:endParaRPr kumimoji="1" lang="en" altLang="zh-CN"/>
          </a:p>
          <a:p>
            <a:pPr lvl="2"/>
            <a:r>
              <a:rPr kumimoji="1" lang="en" altLang="zh-CN"/>
              <a:t>need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low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completion latency</a:t>
            </a:r>
            <a:r>
              <a:rPr kumimoji="1" lang="en-US" altLang="zh-CN"/>
              <a:t>, which depends on </a:t>
            </a:r>
            <a:r>
              <a:rPr kumimoji="1" lang="en-US" altLang="zh-CN">
                <a:solidFill>
                  <a:srgbClr val="C00000"/>
                </a:solidFill>
              </a:rPr>
              <a:t>TTFT</a:t>
            </a:r>
            <a:r>
              <a:rPr kumimoji="1" lang="en-US" altLang="zh-CN"/>
              <a:t> and </a:t>
            </a:r>
            <a:r>
              <a:rPr kumimoji="1" lang="en-US" altLang="zh-CN">
                <a:solidFill>
                  <a:srgbClr val="C00000"/>
                </a:solidFill>
              </a:rPr>
              <a:t>TPOT</a:t>
            </a:r>
            <a:endParaRPr kumimoji="1" lang="en" altLang="zh-CN">
              <a:solidFill>
                <a:srgbClr val="C00000"/>
              </a:solidFill>
            </a:endParaRPr>
          </a:p>
          <a:p>
            <a:pPr lvl="1"/>
            <a:r>
              <a:rPr kumimoji="1" lang="en" altLang="zh-CN"/>
              <a:t>Batch workloads </a:t>
            </a:r>
            <a:r>
              <a:rPr kumimoji="1" lang="en-US" altLang="zh-CN"/>
              <a:t>(summarization of hundreds of documents)</a:t>
            </a:r>
            <a:endParaRPr kumimoji="1" lang="en" altLang="zh-CN"/>
          </a:p>
          <a:p>
            <a:pPr lvl="2"/>
            <a:r>
              <a:rPr kumimoji="1" lang="en" altLang="zh-CN"/>
              <a:t>require </a:t>
            </a:r>
            <a:r>
              <a:rPr kumimoji="1" lang="en" altLang="zh-CN">
                <a:solidFill>
                  <a:srgbClr val="C00000"/>
                </a:solidFill>
              </a:rPr>
              <a:t>high throughput </a:t>
            </a:r>
            <a:r>
              <a:rPr kumimoji="1" lang="en" altLang="zh-CN"/>
              <a:t>rather than low completion latency</a:t>
            </a:r>
            <a:endParaRPr kumimoji="1"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E1CC08F-9EF8-1B36-9D46-5FF7562A04B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3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F962221-5B92-723F-1CA1-711441DCB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7D6D019-EA68-1D2F-E545-63C62365B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607" y="4119990"/>
            <a:ext cx="8152787" cy="202595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EBB035-8D80-198A-237F-386EDE0C4123}"/>
              </a:ext>
            </a:extLst>
          </p:cNvPr>
          <p:cNvSpPr txBox="1"/>
          <p:nvPr/>
        </p:nvSpPr>
        <p:spPr>
          <a:xfrm>
            <a:off x="3085826" y="3458544"/>
            <a:ext cx="60049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sz="2000" b="1">
                <a:latin typeface="Calibri" panose="020F0502020204030204" pitchFamily="34" charset="0"/>
                <a:cs typeface="Calibri" panose="020F0502020204030204" pitchFamily="34" charset="0"/>
              </a:rPr>
              <a:t>Mixed workload leads to highly bursty traffic patterns</a:t>
            </a:r>
            <a:r>
              <a:rPr lang="en" altLang="zh-CN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8" name="下箭头 7">
            <a:extLst>
              <a:ext uri="{FF2B5EF4-FFF2-40B4-BE49-F238E27FC236}">
                <a16:creationId xmlns:a16="http://schemas.microsoft.com/office/drawing/2014/main" id="{B46CAF91-ADC5-9C05-53EA-251C77FEFFCC}"/>
              </a:ext>
            </a:extLst>
          </p:cNvPr>
          <p:cNvSpPr/>
          <p:nvPr/>
        </p:nvSpPr>
        <p:spPr>
          <a:xfrm>
            <a:off x="5908964" y="3827876"/>
            <a:ext cx="374072" cy="42354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5BCDC50-617A-0E22-FB2C-DFC57CA71618}"/>
              </a:ext>
            </a:extLst>
          </p:cNvPr>
          <p:cNvSpPr txBox="1"/>
          <p:nvPr/>
        </p:nvSpPr>
        <p:spPr>
          <a:xfrm>
            <a:off x="1765792" y="6153165"/>
            <a:ext cx="8660416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But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 </a:t>
            </a:r>
            <a:r>
              <a:rPr lang="en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workload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subject to different quality-of-service metrics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063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FDB351-D209-5541-007D-39BF3079B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BBFEE2D-8055-17E8-AA00-87AD619D31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Existing inference framework utilize various parallelisms</a:t>
            </a:r>
          </a:p>
          <a:p>
            <a:pPr lvl="1"/>
            <a:r>
              <a:rPr kumimoji="1" lang="en" altLang="zh-CN"/>
              <a:t>To reduce the latency or increase throughput</a:t>
            </a:r>
          </a:p>
          <a:p>
            <a:r>
              <a:rPr kumimoji="1" lang="en" altLang="zh-CN"/>
              <a:t>Existing parallelisms exhibit prohibitive performance trade-off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2A641D4-F749-B308-A26E-0F8B4AAA2C0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4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5CC0311-2FA4-1F58-C8E7-CD45C79C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A413802-3B8C-4075-29CD-7A7DE778584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98"/>
          <a:stretch/>
        </p:blipFill>
        <p:spPr>
          <a:xfrm>
            <a:off x="1303062" y="2785500"/>
            <a:ext cx="9646874" cy="27260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89FA349A-9310-2B43-879B-390A8081C6B8}"/>
              </a:ext>
            </a:extLst>
          </p:cNvPr>
          <p:cNvSpPr txBox="1"/>
          <p:nvPr/>
        </p:nvSpPr>
        <p:spPr>
          <a:xfrm>
            <a:off x="0" y="6484492"/>
            <a:ext cx="1225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[1] Combined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Throughput (token/sec)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total number of tokens </a:t>
            </a:r>
            <a:r>
              <a:rPr kumimoji="1" lang="en" altLang="zh-CN" err="1">
                <a:latin typeface="Calibri" panose="020F0502020204030204" pitchFamily="34" charset="0"/>
                <a:cs typeface="Calibri" panose="020F0502020204030204" pitchFamily="34" charset="0"/>
              </a:rPr>
              <a:t>processe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by the inference system per unit of time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3A1EE6-4C46-81FB-3080-680205F461DB}"/>
              </a:ext>
            </a:extLst>
          </p:cNvPr>
          <p:cNvSpPr txBox="1"/>
          <p:nvPr/>
        </p:nvSpPr>
        <p:spPr>
          <a:xfrm>
            <a:off x="7026813" y="3195197"/>
            <a:ext cx="85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endParaRPr lang="zh-CN" altLang="en-US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62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0A2B1-1C88-2ECD-BD2C-CE0C83B1C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15ED40A-D557-F9A9-864D-261B25992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Existing inference framework utilize various parallelisms</a:t>
            </a:r>
          </a:p>
          <a:p>
            <a:pPr lvl="1"/>
            <a:r>
              <a:rPr kumimoji="1" lang="en" altLang="zh-CN"/>
              <a:t>To reduce the latency or increase throughput</a:t>
            </a:r>
          </a:p>
          <a:p>
            <a:r>
              <a:rPr kumimoji="1" lang="en" altLang="zh-CN"/>
              <a:t>Existing parallelisms exhibit prohibitive performance trade-off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EC17BE9-D3A7-DAEC-42D9-E0BA9305EB4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5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64D8B1F-DD3E-C9F8-5539-0692C1E52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266E314-F71C-C66C-D481-6300CE3BB3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9798"/>
          <a:stretch/>
        </p:blipFill>
        <p:spPr>
          <a:xfrm>
            <a:off x="1303062" y="2785500"/>
            <a:ext cx="9646874" cy="272601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E58B55D-1749-CD1E-4F5D-3B0C560F790D}"/>
              </a:ext>
            </a:extLst>
          </p:cNvPr>
          <p:cNvSpPr txBox="1"/>
          <p:nvPr/>
        </p:nvSpPr>
        <p:spPr>
          <a:xfrm>
            <a:off x="0" y="6484492"/>
            <a:ext cx="1225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[1] Combined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Throughput (token/sec)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total number of tokens </a:t>
            </a:r>
            <a:r>
              <a:rPr kumimoji="1" lang="en" altLang="zh-CN" err="1">
                <a:latin typeface="Calibri" panose="020F0502020204030204" pitchFamily="34" charset="0"/>
                <a:cs typeface="Calibri" panose="020F0502020204030204" pitchFamily="34" charset="0"/>
              </a:rPr>
              <a:t>processe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by the inference system per unit of time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347F945-8866-B42F-B060-10A8946B74F1}"/>
              </a:ext>
            </a:extLst>
          </p:cNvPr>
          <p:cNvSpPr txBox="1"/>
          <p:nvPr/>
        </p:nvSpPr>
        <p:spPr>
          <a:xfrm>
            <a:off x="7026813" y="3195197"/>
            <a:ext cx="85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[1] 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FCDB45-B217-30D9-03F0-7AFDCA3D7D43}"/>
              </a:ext>
            </a:extLst>
          </p:cNvPr>
          <p:cNvSpPr/>
          <p:nvPr/>
        </p:nvSpPr>
        <p:spPr>
          <a:xfrm>
            <a:off x="1103971" y="3681879"/>
            <a:ext cx="9845965" cy="1057388"/>
          </a:xfrm>
          <a:prstGeom prst="rect">
            <a:avLst/>
          </a:prstGeom>
          <a:noFill/>
          <a:ln w="317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135ED4-07E3-2A00-32DD-666A9439F88A}"/>
              </a:ext>
            </a:extLst>
          </p:cNvPr>
          <p:cNvSpPr/>
          <p:nvPr/>
        </p:nvSpPr>
        <p:spPr>
          <a:xfrm>
            <a:off x="0" y="2274849"/>
            <a:ext cx="12192000" cy="3236666"/>
          </a:xfrm>
          <a:prstGeom prst="rect">
            <a:avLst/>
          </a:prstGeom>
          <a:solidFill>
            <a:schemeClr val="accent6">
              <a:lumMod val="20000"/>
              <a:lumOff val="80000"/>
              <a:alpha val="95000"/>
            </a:schemeClr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CD9743FC-6E76-A3A9-30FE-8F04D79916DE}"/>
              </a:ext>
            </a:extLst>
          </p:cNvPr>
          <p:cNvCxnSpPr>
            <a:cxnSpLocks/>
          </p:cNvCxnSpPr>
          <p:nvPr/>
        </p:nvCxnSpPr>
        <p:spPr>
          <a:xfrm flipV="1">
            <a:off x="2763326" y="2828239"/>
            <a:ext cx="0" cy="1717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632C1379-8566-94F2-C26C-93CC560E6FA1}"/>
              </a:ext>
            </a:extLst>
          </p:cNvPr>
          <p:cNvCxnSpPr>
            <a:cxnSpLocks/>
          </p:cNvCxnSpPr>
          <p:nvPr/>
        </p:nvCxnSpPr>
        <p:spPr>
          <a:xfrm>
            <a:off x="2763326" y="4552961"/>
            <a:ext cx="20518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>
            <a:extLst>
              <a:ext uri="{FF2B5EF4-FFF2-40B4-BE49-F238E27FC236}">
                <a16:creationId xmlns:a16="http://schemas.microsoft.com/office/drawing/2014/main" id="{37566607-3994-E142-EA04-3EFC43E1B5CC}"/>
              </a:ext>
            </a:extLst>
          </p:cNvPr>
          <p:cNvSpPr/>
          <p:nvPr/>
        </p:nvSpPr>
        <p:spPr>
          <a:xfrm>
            <a:off x="2763326" y="3385800"/>
            <a:ext cx="869795" cy="115972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2s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9E48C0-C521-97B5-47B1-7C3033EA24F2}"/>
              </a:ext>
            </a:extLst>
          </p:cNvPr>
          <p:cNvSpPr/>
          <p:nvPr/>
        </p:nvSpPr>
        <p:spPr>
          <a:xfrm>
            <a:off x="3633122" y="3385800"/>
            <a:ext cx="869795" cy="1159727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2s</a:t>
            </a:r>
            <a:endParaRPr kumimoji="1"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22B4577-8C35-0E7E-2EFC-30BEB29D84BE}"/>
              </a:ext>
            </a:extLst>
          </p:cNvPr>
          <p:cNvSpPr txBox="1"/>
          <p:nvPr/>
        </p:nvSpPr>
        <p:spPr>
          <a:xfrm>
            <a:off x="3134213" y="2431403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DP=2</a:t>
            </a:r>
            <a:endParaRPr lang="zh-CN" altLang="en-US" sz="24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28288E8-DAD1-0743-2960-1D9343F433CB}"/>
              </a:ext>
            </a:extLst>
          </p:cNvPr>
          <p:cNvSpPr txBox="1"/>
          <p:nvPr/>
        </p:nvSpPr>
        <p:spPr>
          <a:xfrm>
            <a:off x="4547840" y="4540293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lang="zh-CN" altLang="en-US" sz="240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927D710-98DD-331B-62B7-B87D58948B55}"/>
              </a:ext>
            </a:extLst>
          </p:cNvPr>
          <p:cNvSpPr txBox="1"/>
          <p:nvPr/>
        </p:nvSpPr>
        <p:spPr>
          <a:xfrm>
            <a:off x="1958343" y="2488594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endParaRPr lang="zh-CN" altLang="en-US" sz="240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D13D3B3-8599-E6FA-8A21-0C432E30098F}"/>
              </a:ext>
            </a:extLst>
          </p:cNvPr>
          <p:cNvSpPr txBox="1"/>
          <p:nvPr/>
        </p:nvSpPr>
        <p:spPr>
          <a:xfrm>
            <a:off x="2731822" y="4570350"/>
            <a:ext cx="932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GPU1</a:t>
            </a:r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D1A844D-C784-0B45-2C9F-25BA93AEAE2A}"/>
              </a:ext>
            </a:extLst>
          </p:cNvPr>
          <p:cNvSpPr txBox="1"/>
          <p:nvPr/>
        </p:nvSpPr>
        <p:spPr>
          <a:xfrm>
            <a:off x="3600614" y="4570350"/>
            <a:ext cx="932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GPU2</a:t>
            </a:r>
            <a:endParaRPr lang="zh-CN" altLang="en-US"/>
          </a:p>
        </p:txBody>
      </p: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3775C25-FC35-3891-B7CC-020DE8810FB3}"/>
              </a:ext>
            </a:extLst>
          </p:cNvPr>
          <p:cNvCxnSpPr>
            <a:cxnSpLocks/>
          </p:cNvCxnSpPr>
          <p:nvPr/>
        </p:nvCxnSpPr>
        <p:spPr>
          <a:xfrm flipV="1">
            <a:off x="7275874" y="2828239"/>
            <a:ext cx="0" cy="171728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F87901F1-25BE-4EE0-631E-99E355AF3AFD}"/>
              </a:ext>
            </a:extLst>
          </p:cNvPr>
          <p:cNvCxnSpPr>
            <a:cxnSpLocks/>
          </p:cNvCxnSpPr>
          <p:nvPr/>
        </p:nvCxnSpPr>
        <p:spPr>
          <a:xfrm>
            <a:off x="7275874" y="4552961"/>
            <a:ext cx="205182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311E1B9A-F051-463F-6662-EB98506217F7}"/>
              </a:ext>
            </a:extLst>
          </p:cNvPr>
          <p:cNvSpPr/>
          <p:nvPr/>
        </p:nvSpPr>
        <p:spPr>
          <a:xfrm>
            <a:off x="7275874" y="3923236"/>
            <a:ext cx="1739588" cy="6222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1s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609277B-5BAA-B3A2-D27B-A511F81CEB97}"/>
              </a:ext>
            </a:extLst>
          </p:cNvPr>
          <p:cNvSpPr txBox="1"/>
          <p:nvPr/>
        </p:nvSpPr>
        <p:spPr>
          <a:xfrm>
            <a:off x="7646761" y="2431403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TP=2</a:t>
            </a:r>
            <a:endParaRPr lang="zh-CN" altLang="en-US" sz="240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7B1C8A2-74B6-6C2E-CB8A-D65E0F1D40F0}"/>
              </a:ext>
            </a:extLst>
          </p:cNvPr>
          <p:cNvSpPr txBox="1"/>
          <p:nvPr/>
        </p:nvSpPr>
        <p:spPr>
          <a:xfrm>
            <a:off x="9060388" y="4540293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lang="zh-CN" altLang="en-US" sz="240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694CA83-C53E-95ED-84BC-3C529F382F67}"/>
              </a:ext>
            </a:extLst>
          </p:cNvPr>
          <p:cNvSpPr txBox="1"/>
          <p:nvPr/>
        </p:nvSpPr>
        <p:spPr>
          <a:xfrm>
            <a:off x="6470891" y="2488594"/>
            <a:ext cx="9328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2400" b="1">
                <a:latin typeface="Calibri" panose="020F0502020204030204" pitchFamily="34" charset="0"/>
                <a:cs typeface="Calibri" panose="020F0502020204030204" pitchFamily="34" charset="0"/>
              </a:rPr>
              <a:t>Time</a:t>
            </a:r>
            <a:endParaRPr lang="zh-CN" altLang="en-US" sz="2400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4915D1F-F7B3-C7D2-E4B2-0ACF618CA6FE}"/>
              </a:ext>
            </a:extLst>
          </p:cNvPr>
          <p:cNvSpPr txBox="1"/>
          <p:nvPr/>
        </p:nvSpPr>
        <p:spPr>
          <a:xfrm>
            <a:off x="7244370" y="4570350"/>
            <a:ext cx="932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GPU1</a:t>
            </a:r>
            <a:endParaRPr lang="zh-CN" altLang="en-US"/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D1A95B61-7991-AD2A-F967-FD8D6E0DCEBE}"/>
              </a:ext>
            </a:extLst>
          </p:cNvPr>
          <p:cNvSpPr txBox="1"/>
          <p:nvPr/>
        </p:nvSpPr>
        <p:spPr>
          <a:xfrm>
            <a:off x="8113162" y="4570350"/>
            <a:ext cx="932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GPU2</a:t>
            </a:r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F139EB4-0B43-05B6-220E-BFD94F3BA5D5}"/>
              </a:ext>
            </a:extLst>
          </p:cNvPr>
          <p:cNvSpPr/>
          <p:nvPr/>
        </p:nvSpPr>
        <p:spPr>
          <a:xfrm>
            <a:off x="7275874" y="3791426"/>
            <a:ext cx="1739588" cy="13181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E538114-336B-A34E-EA7E-6F97A7F236C2}"/>
              </a:ext>
            </a:extLst>
          </p:cNvPr>
          <p:cNvSpPr/>
          <p:nvPr/>
        </p:nvSpPr>
        <p:spPr>
          <a:xfrm>
            <a:off x="7275874" y="3161427"/>
            <a:ext cx="1739588" cy="62229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1s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B0285F3-DA5B-F661-AFF0-8E5BF18FC5F8}"/>
              </a:ext>
            </a:extLst>
          </p:cNvPr>
          <p:cNvSpPr/>
          <p:nvPr/>
        </p:nvSpPr>
        <p:spPr>
          <a:xfrm>
            <a:off x="7275874" y="3029617"/>
            <a:ext cx="1739588" cy="13181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254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6097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9" grpId="0" animBg="1"/>
      <p:bldP spid="17" grpId="0" animBg="1"/>
      <p:bldP spid="18" grpId="0" animBg="1"/>
      <p:bldP spid="21" grpId="0"/>
      <p:bldP spid="22" grpId="0"/>
      <p:bldP spid="23" grpId="0"/>
      <p:bldP spid="31" grpId="0"/>
      <p:bldP spid="32" grpId="0"/>
      <p:bldP spid="35" grpId="0" animBg="1"/>
      <p:bldP spid="37" grpId="0"/>
      <p:bldP spid="38" grpId="0"/>
      <p:bldP spid="39" grpId="0"/>
      <p:bldP spid="40" grpId="0"/>
      <p:bldP spid="41" grpId="0"/>
      <p:bldP spid="42" grpId="0" animBg="1"/>
      <p:bldP spid="43" grpId="0" animBg="1"/>
      <p:bldP spid="4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C9788-0CAB-1F3D-027A-DA7F93454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D8C680D-3DC5-3DCA-12AC-BC3AA32CF3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734" y="1019979"/>
            <a:ext cx="11705590" cy="1061720"/>
          </a:xfrm>
        </p:spPr>
        <p:txBody>
          <a:bodyPr>
            <a:normAutofit fontScale="97500"/>
          </a:bodyPr>
          <a:lstStyle/>
          <a:p>
            <a:r>
              <a:rPr kumimoji="1" lang="en-US" altLang="zh-CN"/>
              <a:t>Tensor</a:t>
            </a:r>
            <a:r>
              <a:rPr kumimoji="1" lang="zh-CN" altLang="en-US"/>
              <a:t> </a:t>
            </a:r>
            <a:r>
              <a:rPr kumimoji="1" lang="en-US" altLang="zh-CN"/>
              <a:t>parallelism </a:t>
            </a:r>
          </a:p>
          <a:p>
            <a:pPr lvl="1"/>
            <a:r>
              <a:rPr kumimoji="1" lang="en-US" altLang="zh-CN"/>
              <a:t>TP</a:t>
            </a:r>
            <a:r>
              <a:rPr kumimoji="1" lang="zh-CN" altLang="en-US"/>
              <a:t> </a:t>
            </a:r>
            <a:r>
              <a:rPr kumimoji="1" lang="en" altLang="zh-CN"/>
              <a:t>partitions input along </a:t>
            </a:r>
            <a:r>
              <a:rPr kumimoji="1" lang="en-US" altLang="zh-CN"/>
              <a:t>weight</a:t>
            </a:r>
            <a:r>
              <a:rPr kumimoji="1" lang="zh-CN" altLang="en-US"/>
              <a:t> </a:t>
            </a:r>
            <a:r>
              <a:rPr kumimoji="1" lang="en-US" altLang="zh-CN"/>
              <a:t>along</a:t>
            </a:r>
            <a:r>
              <a:rPr kumimoji="1" lang="zh-CN" altLang="en-US"/>
              <a:t>  </a:t>
            </a:r>
            <a:r>
              <a:rPr kumimoji="1" lang="en-US" altLang="zh-CN"/>
              <a:t>hidden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  <a:r>
              <a:rPr kumimoji="1" lang="zh-CN" altLang="en-US"/>
              <a:t> </a:t>
            </a:r>
            <a:r>
              <a:rPr kumimoji="1" lang="en-US" altLang="zh-CN"/>
              <a:t>or</a:t>
            </a:r>
            <a:r>
              <a:rPr kumimoji="1" lang="zh-CN" altLang="en-US"/>
              <a:t> </a:t>
            </a:r>
            <a:r>
              <a:rPr kumimoji="1" lang="en-US" altLang="zh-CN"/>
              <a:t>head</a:t>
            </a:r>
            <a:r>
              <a:rPr kumimoji="1" lang="zh-CN" altLang="en-US"/>
              <a:t> </a:t>
            </a:r>
            <a:r>
              <a:rPr kumimoji="1" lang="en-US" altLang="zh-CN"/>
              <a:t>dim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41DFC3B-1F4C-E9B5-4588-274ED682F1B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469012" y="6424014"/>
            <a:ext cx="381001" cy="300555"/>
          </a:xfrm>
        </p:spPr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6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FD34D085-41E9-2B8D-239A-854CCDBFC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5CA03CE6-E834-2D88-CF42-2F8C4280848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68" name="图形 567" descr="关闭 纯色填充">
            <a:extLst>
              <a:ext uri="{FF2B5EF4-FFF2-40B4-BE49-F238E27FC236}">
                <a16:creationId xmlns:a16="http://schemas.microsoft.com/office/drawing/2014/main" id="{918F4A9D-695E-3DB9-B135-ED14E7F733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6590" y="3008616"/>
            <a:ext cx="331200" cy="331200"/>
          </a:xfrm>
          <a:prstGeom prst="rect">
            <a:avLst/>
          </a:prstGeom>
        </p:spPr>
      </p:pic>
      <p:sp>
        <p:nvSpPr>
          <p:cNvPr id="619" name="文本框 618">
            <a:extLst>
              <a:ext uri="{FF2B5EF4-FFF2-40B4-BE49-F238E27FC236}">
                <a16:creationId xmlns:a16="http://schemas.microsoft.com/office/drawing/2014/main" id="{8A547786-601B-9CCA-AFC5-CDA4EF2DF71B}"/>
              </a:ext>
            </a:extLst>
          </p:cNvPr>
          <p:cNvSpPr txBox="1"/>
          <p:nvPr/>
        </p:nvSpPr>
        <p:spPr>
          <a:xfrm>
            <a:off x="4486865" y="3664778"/>
            <a:ext cx="713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 K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027592CF-9614-91EB-6BEE-DD17E9E25B69}"/>
              </a:ext>
            </a:extLst>
          </p:cNvPr>
          <p:cNvGrpSpPr/>
          <p:nvPr/>
        </p:nvGrpSpPr>
        <p:grpSpPr>
          <a:xfrm>
            <a:off x="5869582" y="2811617"/>
            <a:ext cx="1259704" cy="1216774"/>
            <a:chOff x="7070832" y="2113925"/>
            <a:chExt cx="1259704" cy="1216774"/>
          </a:xfrm>
        </p:grpSpPr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208E21AF-7F0D-D037-4DAD-F389BA45FAB0}"/>
                </a:ext>
              </a:extLst>
            </p:cNvPr>
            <p:cNvGrpSpPr/>
            <p:nvPr/>
          </p:nvGrpSpPr>
          <p:grpSpPr>
            <a:xfrm>
              <a:off x="7455094" y="2113925"/>
              <a:ext cx="568818" cy="833186"/>
              <a:chOff x="7164505" y="2114368"/>
              <a:chExt cx="568818" cy="833186"/>
            </a:xfrm>
          </p:grpSpPr>
          <p:sp>
            <p:nvSpPr>
              <p:cNvPr id="601" name="圆角矩形 600">
                <a:extLst>
                  <a:ext uri="{FF2B5EF4-FFF2-40B4-BE49-F238E27FC236}">
                    <a16:creationId xmlns:a16="http://schemas.microsoft.com/office/drawing/2014/main" id="{052D15E6-AB83-AAFD-60FA-E721EA345829}"/>
                  </a:ext>
                </a:extLst>
              </p:cNvPr>
              <p:cNvSpPr/>
              <p:nvPr/>
            </p:nvSpPr>
            <p:spPr>
              <a:xfrm>
                <a:off x="7400722" y="2114368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圆角矩形 601">
                <a:extLst>
                  <a:ext uri="{FF2B5EF4-FFF2-40B4-BE49-F238E27FC236}">
                    <a16:creationId xmlns:a16="http://schemas.microsoft.com/office/drawing/2014/main" id="{0CAE56AB-4358-998A-1256-008706FFDED3}"/>
                  </a:ext>
                </a:extLst>
              </p:cNvPr>
              <p:cNvSpPr/>
              <p:nvPr/>
            </p:nvSpPr>
            <p:spPr>
              <a:xfrm>
                <a:off x="7403123" y="2450754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3" name="圆角矩形 602">
                <a:extLst>
                  <a:ext uri="{FF2B5EF4-FFF2-40B4-BE49-F238E27FC236}">
                    <a16:creationId xmlns:a16="http://schemas.microsoft.com/office/drawing/2014/main" id="{37BCE4AE-950D-C5EF-42BF-8DCB0892E9C1}"/>
                  </a:ext>
                </a:extLst>
              </p:cNvPr>
              <p:cNvSpPr/>
              <p:nvPr/>
            </p:nvSpPr>
            <p:spPr>
              <a:xfrm>
                <a:off x="7287362" y="2199829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4" name="圆角矩形 603">
                <a:extLst>
                  <a:ext uri="{FF2B5EF4-FFF2-40B4-BE49-F238E27FC236}">
                    <a16:creationId xmlns:a16="http://schemas.microsoft.com/office/drawing/2014/main" id="{65B55D61-4B17-C4FC-02D0-2F1F36588DEF}"/>
                  </a:ext>
                </a:extLst>
              </p:cNvPr>
              <p:cNvSpPr/>
              <p:nvPr/>
            </p:nvSpPr>
            <p:spPr>
              <a:xfrm>
                <a:off x="7289763" y="2536215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5" name="圆角矩形 604">
                <a:extLst>
                  <a:ext uri="{FF2B5EF4-FFF2-40B4-BE49-F238E27FC236}">
                    <a16:creationId xmlns:a16="http://schemas.microsoft.com/office/drawing/2014/main" id="{ED5BEFDA-0E68-1F88-AD37-939A4E410538}"/>
                  </a:ext>
                </a:extLst>
              </p:cNvPr>
              <p:cNvSpPr/>
              <p:nvPr/>
            </p:nvSpPr>
            <p:spPr>
              <a:xfrm>
                <a:off x="7164505" y="2279968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6" name="圆角矩形 605">
                <a:extLst>
                  <a:ext uri="{FF2B5EF4-FFF2-40B4-BE49-F238E27FC236}">
                    <a16:creationId xmlns:a16="http://schemas.microsoft.com/office/drawing/2014/main" id="{5170D725-C614-9B5C-4D22-BF63FF494E79}"/>
                  </a:ext>
                </a:extLst>
              </p:cNvPr>
              <p:cNvSpPr/>
              <p:nvPr/>
            </p:nvSpPr>
            <p:spPr>
              <a:xfrm>
                <a:off x="7166906" y="2616354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00" name="文本框 599">
              <a:extLst>
                <a:ext uri="{FF2B5EF4-FFF2-40B4-BE49-F238E27FC236}">
                  <a16:creationId xmlns:a16="http://schemas.microsoft.com/office/drawing/2014/main" id="{6C46B5AF-3D8D-8B9E-2728-1460820E3EE9}"/>
                </a:ext>
              </a:extLst>
            </p:cNvPr>
            <p:cNvSpPr txBox="1"/>
            <p:nvPr/>
          </p:nvSpPr>
          <p:spPr>
            <a:xfrm>
              <a:off x="7070832" y="2961367"/>
              <a:ext cx="1259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attn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output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76" name="圆角矩形 575">
            <a:extLst>
              <a:ext uri="{FF2B5EF4-FFF2-40B4-BE49-F238E27FC236}">
                <a16:creationId xmlns:a16="http://schemas.microsoft.com/office/drawing/2014/main" id="{8A26A21B-FD6A-0F8C-D6C5-3313CE20AD84}"/>
              </a:ext>
            </a:extLst>
          </p:cNvPr>
          <p:cNvSpPr/>
          <p:nvPr/>
        </p:nvSpPr>
        <p:spPr>
          <a:xfrm rot="16200000">
            <a:off x="5816925" y="-2009177"/>
            <a:ext cx="1803528" cy="1028304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7" name="直线箭头连接符 576">
            <a:extLst>
              <a:ext uri="{FF2B5EF4-FFF2-40B4-BE49-F238E27FC236}">
                <a16:creationId xmlns:a16="http://schemas.microsoft.com/office/drawing/2014/main" id="{F1D2E03F-CE14-5E5A-B41D-2ADD6B501807}"/>
              </a:ext>
            </a:extLst>
          </p:cNvPr>
          <p:cNvCxnSpPr>
            <a:cxnSpLocks/>
          </p:cNvCxnSpPr>
          <p:nvPr/>
        </p:nvCxnSpPr>
        <p:spPr>
          <a:xfrm>
            <a:off x="5321652" y="3197721"/>
            <a:ext cx="73800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直线箭头连接符 579">
            <a:extLst>
              <a:ext uri="{FF2B5EF4-FFF2-40B4-BE49-F238E27FC236}">
                <a16:creationId xmlns:a16="http://schemas.microsoft.com/office/drawing/2014/main" id="{C39BCCC0-81AD-D941-50F0-6CAE784E6F5F}"/>
              </a:ext>
            </a:extLst>
          </p:cNvPr>
          <p:cNvCxnSpPr>
            <a:cxnSpLocks/>
          </p:cNvCxnSpPr>
          <p:nvPr/>
        </p:nvCxnSpPr>
        <p:spPr>
          <a:xfrm>
            <a:off x="4050152" y="3184762"/>
            <a:ext cx="42526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文本框 581">
            <a:extLst>
              <a:ext uri="{FF2B5EF4-FFF2-40B4-BE49-F238E27FC236}">
                <a16:creationId xmlns:a16="http://schemas.microsoft.com/office/drawing/2014/main" id="{1CCEA12F-296F-ABBA-4ACE-2B31256D2ACC}"/>
              </a:ext>
            </a:extLst>
          </p:cNvPr>
          <p:cNvSpPr txBox="1"/>
          <p:nvPr/>
        </p:nvSpPr>
        <p:spPr>
          <a:xfrm>
            <a:off x="6341618" y="2184513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8" name="文本框 527">
            <a:extLst>
              <a:ext uri="{FF2B5EF4-FFF2-40B4-BE49-F238E27FC236}">
                <a16:creationId xmlns:a16="http://schemas.microsoft.com/office/drawing/2014/main" id="{1CE1C652-4D01-2CD7-E47C-2D3B48104564}"/>
              </a:ext>
            </a:extLst>
          </p:cNvPr>
          <p:cNvSpPr txBox="1"/>
          <p:nvPr/>
        </p:nvSpPr>
        <p:spPr>
          <a:xfrm>
            <a:off x="4543317" y="5779556"/>
            <a:ext cx="6914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 K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EF2AA9C4-DBE8-F6E0-B9C3-9927446A9F92}"/>
              </a:ext>
            </a:extLst>
          </p:cNvPr>
          <p:cNvGrpSpPr/>
          <p:nvPr/>
        </p:nvGrpSpPr>
        <p:grpSpPr>
          <a:xfrm>
            <a:off x="6265104" y="4927879"/>
            <a:ext cx="568818" cy="833186"/>
            <a:chOff x="7164505" y="2114368"/>
            <a:chExt cx="568818" cy="833186"/>
          </a:xfrm>
        </p:grpSpPr>
        <p:sp>
          <p:nvSpPr>
            <p:cNvPr id="557" name="圆角矩形 556">
              <a:extLst>
                <a:ext uri="{FF2B5EF4-FFF2-40B4-BE49-F238E27FC236}">
                  <a16:creationId xmlns:a16="http://schemas.microsoft.com/office/drawing/2014/main" id="{0CD8E8E6-BC72-CDFE-33C4-B3451935C6B9}"/>
                </a:ext>
              </a:extLst>
            </p:cNvPr>
            <p:cNvSpPr/>
            <p:nvPr/>
          </p:nvSpPr>
          <p:spPr>
            <a:xfrm>
              <a:off x="7400722" y="21143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8" name="圆角矩形 557">
              <a:extLst>
                <a:ext uri="{FF2B5EF4-FFF2-40B4-BE49-F238E27FC236}">
                  <a16:creationId xmlns:a16="http://schemas.microsoft.com/office/drawing/2014/main" id="{FB76ECDC-52A6-85AB-885F-1543EC1CA339}"/>
                </a:ext>
              </a:extLst>
            </p:cNvPr>
            <p:cNvSpPr/>
            <p:nvPr/>
          </p:nvSpPr>
          <p:spPr>
            <a:xfrm>
              <a:off x="7403123" y="24507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9" name="圆角矩形 558">
              <a:extLst>
                <a:ext uri="{FF2B5EF4-FFF2-40B4-BE49-F238E27FC236}">
                  <a16:creationId xmlns:a16="http://schemas.microsoft.com/office/drawing/2014/main" id="{6C8D9A4A-FF8D-1A6F-6928-6E928F00626E}"/>
                </a:ext>
              </a:extLst>
            </p:cNvPr>
            <p:cNvSpPr/>
            <p:nvPr/>
          </p:nvSpPr>
          <p:spPr>
            <a:xfrm>
              <a:off x="7287362" y="2199829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0" name="圆角矩形 559">
              <a:extLst>
                <a:ext uri="{FF2B5EF4-FFF2-40B4-BE49-F238E27FC236}">
                  <a16:creationId xmlns:a16="http://schemas.microsoft.com/office/drawing/2014/main" id="{E353590F-401A-4588-F017-EEBB00960D9F}"/>
                </a:ext>
              </a:extLst>
            </p:cNvPr>
            <p:cNvSpPr/>
            <p:nvPr/>
          </p:nvSpPr>
          <p:spPr>
            <a:xfrm>
              <a:off x="7289763" y="2536215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1" name="圆角矩形 560">
              <a:extLst>
                <a:ext uri="{FF2B5EF4-FFF2-40B4-BE49-F238E27FC236}">
                  <a16:creationId xmlns:a16="http://schemas.microsoft.com/office/drawing/2014/main" id="{8CFEF4EF-798B-9ED8-A00B-3C837B40F09B}"/>
                </a:ext>
              </a:extLst>
            </p:cNvPr>
            <p:cNvSpPr/>
            <p:nvPr/>
          </p:nvSpPr>
          <p:spPr>
            <a:xfrm>
              <a:off x="7164505" y="22799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2" name="圆角矩形 561">
              <a:extLst>
                <a:ext uri="{FF2B5EF4-FFF2-40B4-BE49-F238E27FC236}">
                  <a16:creationId xmlns:a16="http://schemas.microsoft.com/office/drawing/2014/main" id="{5123C3B8-ADA5-2B17-8B5D-C2B36C2CB8BD}"/>
                </a:ext>
              </a:extLst>
            </p:cNvPr>
            <p:cNvSpPr/>
            <p:nvPr/>
          </p:nvSpPr>
          <p:spPr>
            <a:xfrm>
              <a:off x="7166906" y="26163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2" name="文本框 531">
            <a:extLst>
              <a:ext uri="{FF2B5EF4-FFF2-40B4-BE49-F238E27FC236}">
                <a16:creationId xmlns:a16="http://schemas.microsoft.com/office/drawing/2014/main" id="{9324FB85-41C7-BE18-DD65-822A58D6536A}"/>
              </a:ext>
            </a:extLst>
          </p:cNvPr>
          <p:cNvSpPr txBox="1"/>
          <p:nvPr/>
        </p:nvSpPr>
        <p:spPr>
          <a:xfrm>
            <a:off x="5860209" y="5733195"/>
            <a:ext cx="12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attn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3E2B2D9E-FB96-1E2D-B1E5-56E965B7DF10}"/>
              </a:ext>
            </a:extLst>
          </p:cNvPr>
          <p:cNvSpPr txBox="1"/>
          <p:nvPr/>
        </p:nvSpPr>
        <p:spPr>
          <a:xfrm>
            <a:off x="9026350" y="3581362"/>
            <a:ext cx="516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1" name="圆角矩形 540">
            <a:extLst>
              <a:ext uri="{FF2B5EF4-FFF2-40B4-BE49-F238E27FC236}">
                <a16:creationId xmlns:a16="http://schemas.microsoft.com/office/drawing/2014/main" id="{6A697255-97F2-1A1C-8921-8A281A047806}"/>
              </a:ext>
            </a:extLst>
          </p:cNvPr>
          <p:cNvSpPr/>
          <p:nvPr/>
        </p:nvSpPr>
        <p:spPr>
          <a:xfrm rot="16200000">
            <a:off x="5825336" y="132328"/>
            <a:ext cx="1803529" cy="10283048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5" name="直线箭头连接符 544">
            <a:extLst>
              <a:ext uri="{FF2B5EF4-FFF2-40B4-BE49-F238E27FC236}">
                <a16:creationId xmlns:a16="http://schemas.microsoft.com/office/drawing/2014/main" id="{F1016093-B680-9360-D31D-AB583BB0C68C}"/>
              </a:ext>
            </a:extLst>
          </p:cNvPr>
          <p:cNvCxnSpPr>
            <a:cxnSpLocks/>
          </p:cNvCxnSpPr>
          <p:nvPr/>
        </p:nvCxnSpPr>
        <p:spPr>
          <a:xfrm flipV="1">
            <a:off x="4034092" y="5299496"/>
            <a:ext cx="314792" cy="68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文本框 546">
            <a:extLst>
              <a:ext uri="{FF2B5EF4-FFF2-40B4-BE49-F238E27FC236}">
                <a16:creationId xmlns:a16="http://schemas.microsoft.com/office/drawing/2014/main" id="{9DB6008E-3B98-E74B-E656-29D84ABBA9E9}"/>
              </a:ext>
            </a:extLst>
          </p:cNvPr>
          <p:cNvSpPr txBox="1"/>
          <p:nvPr/>
        </p:nvSpPr>
        <p:spPr>
          <a:xfrm>
            <a:off x="6265104" y="4354258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3" name="直线箭头连接符 512">
            <a:extLst>
              <a:ext uri="{FF2B5EF4-FFF2-40B4-BE49-F238E27FC236}">
                <a16:creationId xmlns:a16="http://schemas.microsoft.com/office/drawing/2014/main" id="{1A6F97B4-CDF9-199B-3B69-1C0A3307D61B}"/>
              </a:ext>
            </a:extLst>
          </p:cNvPr>
          <p:cNvCxnSpPr>
            <a:cxnSpLocks/>
          </p:cNvCxnSpPr>
          <p:nvPr/>
        </p:nvCxnSpPr>
        <p:spPr>
          <a:xfrm flipV="1">
            <a:off x="1523109" y="3747056"/>
            <a:ext cx="348068" cy="48592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线箭头连接符 513">
            <a:extLst>
              <a:ext uri="{FF2B5EF4-FFF2-40B4-BE49-F238E27FC236}">
                <a16:creationId xmlns:a16="http://schemas.microsoft.com/office/drawing/2014/main" id="{CFFF1CEE-E134-0D41-2A70-73E722190395}"/>
              </a:ext>
            </a:extLst>
          </p:cNvPr>
          <p:cNvCxnSpPr>
            <a:cxnSpLocks/>
          </p:cNvCxnSpPr>
          <p:nvPr/>
        </p:nvCxnSpPr>
        <p:spPr>
          <a:xfrm>
            <a:off x="1350737" y="4681756"/>
            <a:ext cx="355636" cy="3785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25CBDDD-6A13-642E-CF93-C7DE37ECFEC5}"/>
              </a:ext>
            </a:extLst>
          </p:cNvPr>
          <p:cNvSpPr/>
          <p:nvPr/>
        </p:nvSpPr>
        <p:spPr>
          <a:xfrm>
            <a:off x="4284057" y="2129224"/>
            <a:ext cx="2960852" cy="4045705"/>
          </a:xfrm>
          <a:prstGeom prst="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2B2C32E6-ACEF-E0B1-51A1-46BB8C47148F}"/>
              </a:ext>
            </a:extLst>
          </p:cNvPr>
          <p:cNvGrpSpPr/>
          <p:nvPr/>
        </p:nvGrpSpPr>
        <p:grpSpPr>
          <a:xfrm>
            <a:off x="3034337" y="2471590"/>
            <a:ext cx="1398471" cy="1557596"/>
            <a:chOff x="2586977" y="2444663"/>
            <a:chExt cx="1398471" cy="1557596"/>
          </a:xfrm>
        </p:grpSpPr>
        <p:grpSp>
          <p:nvGrpSpPr>
            <p:cNvPr id="570" name="组合 569">
              <a:extLst>
                <a:ext uri="{FF2B5EF4-FFF2-40B4-BE49-F238E27FC236}">
                  <a16:creationId xmlns:a16="http://schemas.microsoft.com/office/drawing/2014/main" id="{20E5DC5D-9476-BBE5-46BF-549B20D71319}"/>
                </a:ext>
              </a:extLst>
            </p:cNvPr>
            <p:cNvGrpSpPr/>
            <p:nvPr/>
          </p:nvGrpSpPr>
          <p:grpSpPr>
            <a:xfrm>
              <a:off x="2716408" y="2839594"/>
              <a:ext cx="1269040" cy="1162665"/>
              <a:chOff x="2566455" y="2242960"/>
              <a:chExt cx="1269040" cy="1162665"/>
            </a:xfrm>
          </p:grpSpPr>
          <p:sp>
            <p:nvSpPr>
              <p:cNvPr id="607" name="文本框 606">
                <a:extLst>
                  <a:ext uri="{FF2B5EF4-FFF2-40B4-BE49-F238E27FC236}">
                    <a16:creationId xmlns:a16="http://schemas.microsoft.com/office/drawing/2014/main" id="{64DBEE8F-C3C0-41DF-AC8C-7041BE1CA46B}"/>
                  </a:ext>
                </a:extLst>
              </p:cNvPr>
              <p:cNvSpPr txBox="1"/>
              <p:nvPr/>
            </p:nvSpPr>
            <p:spPr>
              <a:xfrm>
                <a:off x="2566455" y="3036293"/>
                <a:ext cx="1269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err="1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 err="1"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1" lang="en-US" altLang="zh-CN" err="1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 err="1">
                    <a:latin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, W</a:t>
                </a:r>
                <a:r>
                  <a:rPr kumimoji="1" lang="en-US" altLang="zh-CN" baseline="-2500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08" name="组合 607">
                <a:extLst>
                  <a:ext uri="{FF2B5EF4-FFF2-40B4-BE49-F238E27FC236}">
                    <a16:creationId xmlns:a16="http://schemas.microsoft.com/office/drawing/2014/main" id="{36FC1747-3AF2-6961-CCA2-0E0A32A5FD09}"/>
                  </a:ext>
                </a:extLst>
              </p:cNvPr>
              <p:cNvGrpSpPr/>
              <p:nvPr/>
            </p:nvGrpSpPr>
            <p:grpSpPr>
              <a:xfrm>
                <a:off x="2811837" y="2242960"/>
                <a:ext cx="651882" cy="664169"/>
                <a:chOff x="5181536" y="4377688"/>
                <a:chExt cx="651882" cy="664169"/>
              </a:xfrm>
            </p:grpSpPr>
            <p:sp>
              <p:nvSpPr>
                <p:cNvPr id="609" name="矩形 608">
                  <a:extLst>
                    <a:ext uri="{FF2B5EF4-FFF2-40B4-BE49-F238E27FC236}">
                      <a16:creationId xmlns:a16="http://schemas.microsoft.com/office/drawing/2014/main" id="{CEE6E822-5F69-E0DF-D942-889E4D4B25D5}"/>
                    </a:ext>
                  </a:extLst>
                </p:cNvPr>
                <p:cNvSpPr/>
                <p:nvPr/>
              </p:nvSpPr>
              <p:spPr>
                <a:xfrm>
                  <a:off x="5181536" y="4377688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0" name="矩形 609">
                  <a:extLst>
                    <a:ext uri="{FF2B5EF4-FFF2-40B4-BE49-F238E27FC236}">
                      <a16:creationId xmlns:a16="http://schemas.microsoft.com/office/drawing/2014/main" id="{8AB11794-091E-8CEE-F9E7-98DB3DE6E879}"/>
                    </a:ext>
                  </a:extLst>
                </p:cNvPr>
                <p:cNvSpPr/>
                <p:nvPr/>
              </p:nvSpPr>
              <p:spPr>
                <a:xfrm>
                  <a:off x="5507477" y="4377688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1" name="矩形 610">
                  <a:extLst>
                    <a:ext uri="{FF2B5EF4-FFF2-40B4-BE49-F238E27FC236}">
                      <a16:creationId xmlns:a16="http://schemas.microsoft.com/office/drawing/2014/main" id="{C3E1B691-35D4-67E4-CD9F-EA8441AA1F6C}"/>
                    </a:ext>
                  </a:extLst>
                </p:cNvPr>
                <p:cNvSpPr/>
                <p:nvPr/>
              </p:nvSpPr>
              <p:spPr>
                <a:xfrm>
                  <a:off x="5181536" y="4710657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12" name="矩形 611">
                  <a:extLst>
                    <a:ext uri="{FF2B5EF4-FFF2-40B4-BE49-F238E27FC236}">
                      <a16:creationId xmlns:a16="http://schemas.microsoft.com/office/drawing/2014/main" id="{C83A18F3-1984-05F7-CDA7-5A8DD5AFA75A}"/>
                    </a:ext>
                  </a:extLst>
                </p:cNvPr>
                <p:cNvSpPr/>
                <p:nvPr/>
              </p:nvSpPr>
              <p:spPr>
                <a:xfrm>
                  <a:off x="5507477" y="4710657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00852AA-70E4-A4D4-7596-4820A6DCA04D}"/>
                </a:ext>
              </a:extLst>
            </p:cNvPr>
            <p:cNvSpPr txBox="1"/>
            <p:nvPr/>
          </p:nvSpPr>
          <p:spPr>
            <a:xfrm>
              <a:off x="2586977" y="2954718"/>
              <a:ext cx="347419" cy="369332"/>
            </a:xfrm>
            <a:prstGeom prst="rect">
              <a:avLst/>
            </a:prstGeom>
            <a:noFill/>
          </p:spPr>
          <p:txBody>
            <a:bodyPr wrap="square" lIns="36000" rIns="36000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F3C9A90-5575-07E0-9922-9EC25C1DE72D}"/>
                </a:ext>
              </a:extLst>
            </p:cNvPr>
            <p:cNvSpPr txBox="1"/>
            <p:nvPr/>
          </p:nvSpPr>
          <p:spPr>
            <a:xfrm>
              <a:off x="2909143" y="2444663"/>
              <a:ext cx="817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/TP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48E0E8D1-3C27-847C-E042-2CE000735801}"/>
              </a:ext>
            </a:extLst>
          </p:cNvPr>
          <p:cNvGrpSpPr/>
          <p:nvPr/>
        </p:nvGrpSpPr>
        <p:grpSpPr>
          <a:xfrm>
            <a:off x="2937072" y="4535336"/>
            <a:ext cx="1398471" cy="1557596"/>
            <a:chOff x="2586977" y="2444663"/>
            <a:chExt cx="1398471" cy="1557596"/>
          </a:xfrm>
        </p:grpSpPr>
        <p:grpSp>
          <p:nvGrpSpPr>
            <p:cNvPr id="123" name="组合 122">
              <a:extLst>
                <a:ext uri="{FF2B5EF4-FFF2-40B4-BE49-F238E27FC236}">
                  <a16:creationId xmlns:a16="http://schemas.microsoft.com/office/drawing/2014/main" id="{3887FCBE-C8FD-3F0C-01F5-1CF1B1CC73F9}"/>
                </a:ext>
              </a:extLst>
            </p:cNvPr>
            <p:cNvGrpSpPr/>
            <p:nvPr/>
          </p:nvGrpSpPr>
          <p:grpSpPr>
            <a:xfrm>
              <a:off x="2716408" y="2839594"/>
              <a:ext cx="1269040" cy="1162665"/>
              <a:chOff x="2566455" y="2242960"/>
              <a:chExt cx="1269040" cy="1162665"/>
            </a:xfrm>
          </p:grpSpPr>
          <p:sp>
            <p:nvSpPr>
              <p:cNvPr id="126" name="文本框 125">
                <a:extLst>
                  <a:ext uri="{FF2B5EF4-FFF2-40B4-BE49-F238E27FC236}">
                    <a16:creationId xmlns:a16="http://schemas.microsoft.com/office/drawing/2014/main" id="{7D94FA92-CFFE-576A-6483-AE1515F44105}"/>
                  </a:ext>
                </a:extLst>
              </p:cNvPr>
              <p:cNvSpPr txBox="1"/>
              <p:nvPr/>
            </p:nvSpPr>
            <p:spPr>
              <a:xfrm>
                <a:off x="2566455" y="3036293"/>
                <a:ext cx="12690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err="1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 err="1"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kumimoji="1" lang="en-US" altLang="zh-CN" err="1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 err="1">
                    <a:latin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, W</a:t>
                </a:r>
                <a:r>
                  <a:rPr kumimoji="1" lang="en-US" altLang="zh-CN" baseline="-25000"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512" name="组合 511">
                <a:extLst>
                  <a:ext uri="{FF2B5EF4-FFF2-40B4-BE49-F238E27FC236}">
                    <a16:creationId xmlns:a16="http://schemas.microsoft.com/office/drawing/2014/main" id="{4A43F956-8AD5-A570-0026-9461DF083D67}"/>
                  </a:ext>
                </a:extLst>
              </p:cNvPr>
              <p:cNvGrpSpPr/>
              <p:nvPr/>
            </p:nvGrpSpPr>
            <p:grpSpPr>
              <a:xfrm>
                <a:off x="2811837" y="2242960"/>
                <a:ext cx="651882" cy="664169"/>
                <a:chOff x="5181536" y="4377688"/>
                <a:chExt cx="651882" cy="664169"/>
              </a:xfrm>
            </p:grpSpPr>
            <p:sp>
              <p:nvSpPr>
                <p:cNvPr id="516" name="矩形 515">
                  <a:extLst>
                    <a:ext uri="{FF2B5EF4-FFF2-40B4-BE49-F238E27FC236}">
                      <a16:creationId xmlns:a16="http://schemas.microsoft.com/office/drawing/2014/main" id="{E49B292B-42F1-B067-893C-7243BAE44F7A}"/>
                    </a:ext>
                  </a:extLst>
                </p:cNvPr>
                <p:cNvSpPr/>
                <p:nvPr/>
              </p:nvSpPr>
              <p:spPr>
                <a:xfrm>
                  <a:off x="5181536" y="4377688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517" name="矩形 516">
                  <a:extLst>
                    <a:ext uri="{FF2B5EF4-FFF2-40B4-BE49-F238E27FC236}">
                      <a16:creationId xmlns:a16="http://schemas.microsoft.com/office/drawing/2014/main" id="{08929A7A-E53F-B4C0-939C-32C36D2402BC}"/>
                    </a:ext>
                  </a:extLst>
                </p:cNvPr>
                <p:cNvSpPr/>
                <p:nvPr/>
              </p:nvSpPr>
              <p:spPr>
                <a:xfrm>
                  <a:off x="5507477" y="4377688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8" name="矩形 627">
                  <a:extLst>
                    <a:ext uri="{FF2B5EF4-FFF2-40B4-BE49-F238E27FC236}">
                      <a16:creationId xmlns:a16="http://schemas.microsoft.com/office/drawing/2014/main" id="{19A4A65E-EB38-0793-1C20-967B271BDC19}"/>
                    </a:ext>
                  </a:extLst>
                </p:cNvPr>
                <p:cNvSpPr/>
                <p:nvPr/>
              </p:nvSpPr>
              <p:spPr>
                <a:xfrm>
                  <a:off x="5181536" y="4710657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29" name="矩形 628">
                  <a:extLst>
                    <a:ext uri="{FF2B5EF4-FFF2-40B4-BE49-F238E27FC236}">
                      <a16:creationId xmlns:a16="http://schemas.microsoft.com/office/drawing/2014/main" id="{99BEEA79-3E62-3EAB-775E-C99A43EFA08E}"/>
                    </a:ext>
                  </a:extLst>
                </p:cNvPr>
                <p:cNvSpPr/>
                <p:nvPr/>
              </p:nvSpPr>
              <p:spPr>
                <a:xfrm>
                  <a:off x="5507477" y="4710657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124" name="文本框 123">
              <a:extLst>
                <a:ext uri="{FF2B5EF4-FFF2-40B4-BE49-F238E27FC236}">
                  <a16:creationId xmlns:a16="http://schemas.microsoft.com/office/drawing/2014/main" id="{82006B64-0A33-9FC6-0691-541A77A63717}"/>
                </a:ext>
              </a:extLst>
            </p:cNvPr>
            <p:cNvSpPr txBox="1"/>
            <p:nvPr/>
          </p:nvSpPr>
          <p:spPr>
            <a:xfrm>
              <a:off x="2586977" y="2954718"/>
              <a:ext cx="6100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5C7FFAAE-29B9-B891-31A9-DE441D72C855}"/>
                </a:ext>
              </a:extLst>
            </p:cNvPr>
            <p:cNvSpPr txBox="1"/>
            <p:nvPr/>
          </p:nvSpPr>
          <p:spPr>
            <a:xfrm>
              <a:off x="2909143" y="2444663"/>
              <a:ext cx="817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/TP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30" name="图形 629" descr="关闭 纯色填充">
            <a:extLst>
              <a:ext uri="{FF2B5EF4-FFF2-40B4-BE49-F238E27FC236}">
                <a16:creationId xmlns:a16="http://schemas.microsoft.com/office/drawing/2014/main" id="{F32F39AF-76B8-21A1-435C-2F76D9114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66590" y="5056809"/>
            <a:ext cx="331200" cy="331200"/>
          </a:xfrm>
          <a:prstGeom prst="rect">
            <a:avLst/>
          </a:prstGeom>
        </p:spPr>
      </p:pic>
      <p:grpSp>
        <p:nvGrpSpPr>
          <p:cNvPr id="632" name="组合 631">
            <a:extLst>
              <a:ext uri="{FF2B5EF4-FFF2-40B4-BE49-F238E27FC236}">
                <a16:creationId xmlns:a16="http://schemas.microsoft.com/office/drawing/2014/main" id="{453429FF-9215-BAC6-7753-9876B5AA1C7F}"/>
              </a:ext>
            </a:extLst>
          </p:cNvPr>
          <p:cNvGrpSpPr/>
          <p:nvPr/>
        </p:nvGrpSpPr>
        <p:grpSpPr>
          <a:xfrm>
            <a:off x="4513272" y="4486679"/>
            <a:ext cx="808380" cy="1315912"/>
            <a:chOff x="4442645" y="2324334"/>
            <a:chExt cx="808380" cy="1315912"/>
          </a:xfrm>
        </p:grpSpPr>
        <p:grpSp>
          <p:nvGrpSpPr>
            <p:cNvPr id="633" name="组合 632">
              <a:extLst>
                <a:ext uri="{FF2B5EF4-FFF2-40B4-BE49-F238E27FC236}">
                  <a16:creationId xmlns:a16="http://schemas.microsoft.com/office/drawing/2014/main" id="{56BA10B1-B2FD-519C-99BB-E4430104410A}"/>
                </a:ext>
              </a:extLst>
            </p:cNvPr>
            <p:cNvGrpSpPr/>
            <p:nvPr/>
          </p:nvGrpSpPr>
          <p:grpSpPr>
            <a:xfrm>
              <a:off x="4461232" y="2679626"/>
              <a:ext cx="552882" cy="960620"/>
              <a:chOff x="4461473" y="2876706"/>
              <a:chExt cx="552882" cy="960620"/>
            </a:xfrm>
          </p:grpSpPr>
          <p:sp>
            <p:nvSpPr>
              <p:cNvPr id="636" name="圆角矩形 635">
                <a:extLst>
                  <a:ext uri="{FF2B5EF4-FFF2-40B4-BE49-F238E27FC236}">
                    <a16:creationId xmlns:a16="http://schemas.microsoft.com/office/drawing/2014/main" id="{2FBE52FE-3215-96AD-8637-45392E7FA920}"/>
                  </a:ext>
                </a:extLst>
              </p:cNvPr>
              <p:cNvSpPr/>
              <p:nvPr/>
            </p:nvSpPr>
            <p:spPr>
              <a:xfrm>
                <a:off x="4684155" y="3159097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7" name="圆角矩形 636">
                <a:extLst>
                  <a:ext uri="{FF2B5EF4-FFF2-40B4-BE49-F238E27FC236}">
                    <a16:creationId xmlns:a16="http://schemas.microsoft.com/office/drawing/2014/main" id="{3A849620-0069-39F3-BD41-9917A0177202}"/>
                  </a:ext>
                </a:extLst>
              </p:cNvPr>
              <p:cNvSpPr/>
              <p:nvPr/>
            </p:nvSpPr>
            <p:spPr>
              <a:xfrm>
                <a:off x="4586243" y="3352882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8" name="圆角矩形 637">
                <a:extLst>
                  <a:ext uri="{FF2B5EF4-FFF2-40B4-BE49-F238E27FC236}">
                    <a16:creationId xmlns:a16="http://schemas.microsoft.com/office/drawing/2014/main" id="{99ED3D30-F9A2-0BF3-4920-04160BE00412}"/>
                  </a:ext>
                </a:extLst>
              </p:cNvPr>
              <p:cNvSpPr/>
              <p:nvPr/>
            </p:nvSpPr>
            <p:spPr>
              <a:xfrm>
                <a:off x="4679350" y="2876706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39" name="圆角矩形 638">
                <a:extLst>
                  <a:ext uri="{FF2B5EF4-FFF2-40B4-BE49-F238E27FC236}">
                    <a16:creationId xmlns:a16="http://schemas.microsoft.com/office/drawing/2014/main" id="{D2AA21B7-BB26-BA68-E91F-AC03283AF2F2}"/>
                  </a:ext>
                </a:extLst>
              </p:cNvPr>
              <p:cNvSpPr/>
              <p:nvPr/>
            </p:nvSpPr>
            <p:spPr>
              <a:xfrm>
                <a:off x="4589166" y="3024652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0" name="圆角矩形 639">
                <a:extLst>
                  <a:ext uri="{FF2B5EF4-FFF2-40B4-BE49-F238E27FC236}">
                    <a16:creationId xmlns:a16="http://schemas.microsoft.com/office/drawing/2014/main" id="{84070367-2C01-9FF2-2D17-1C9A4FCF96DD}"/>
                  </a:ext>
                </a:extLst>
              </p:cNvPr>
              <p:cNvSpPr/>
              <p:nvPr/>
            </p:nvSpPr>
            <p:spPr>
              <a:xfrm>
                <a:off x="4462582" y="3190252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41" name="圆角矩形 640">
                <a:extLst>
                  <a:ext uri="{FF2B5EF4-FFF2-40B4-BE49-F238E27FC236}">
                    <a16:creationId xmlns:a16="http://schemas.microsoft.com/office/drawing/2014/main" id="{2D571041-3FCE-E8DD-6EB0-F26401A4C4AF}"/>
                  </a:ext>
                </a:extLst>
              </p:cNvPr>
              <p:cNvSpPr/>
              <p:nvPr/>
            </p:nvSpPr>
            <p:spPr>
              <a:xfrm>
                <a:off x="4461473" y="3506126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35" name="文本框 634">
              <a:extLst>
                <a:ext uri="{FF2B5EF4-FFF2-40B4-BE49-F238E27FC236}">
                  <a16:creationId xmlns:a16="http://schemas.microsoft.com/office/drawing/2014/main" id="{A8A456BA-9B76-4A98-7BD8-8E14177EC67E}"/>
                </a:ext>
              </a:extLst>
            </p:cNvPr>
            <p:cNvSpPr txBox="1"/>
            <p:nvPr/>
          </p:nvSpPr>
          <p:spPr>
            <a:xfrm>
              <a:off x="4442645" y="2324334"/>
              <a:ext cx="8083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/TP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45" name="直线箭头连接符 644">
            <a:extLst>
              <a:ext uri="{FF2B5EF4-FFF2-40B4-BE49-F238E27FC236}">
                <a16:creationId xmlns:a16="http://schemas.microsoft.com/office/drawing/2014/main" id="{358D801D-8F6E-79C5-87FF-511915F2D1DF}"/>
              </a:ext>
            </a:extLst>
          </p:cNvPr>
          <p:cNvCxnSpPr>
            <a:cxnSpLocks/>
          </p:cNvCxnSpPr>
          <p:nvPr/>
        </p:nvCxnSpPr>
        <p:spPr>
          <a:xfrm>
            <a:off x="5234776" y="5349726"/>
            <a:ext cx="904229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49" name="组合 648">
            <a:extLst>
              <a:ext uri="{FF2B5EF4-FFF2-40B4-BE49-F238E27FC236}">
                <a16:creationId xmlns:a16="http://schemas.microsoft.com/office/drawing/2014/main" id="{9EB3FEC3-75AD-8150-2856-C381DA52E975}"/>
              </a:ext>
            </a:extLst>
          </p:cNvPr>
          <p:cNvGrpSpPr/>
          <p:nvPr/>
        </p:nvGrpSpPr>
        <p:grpSpPr>
          <a:xfrm>
            <a:off x="7088294" y="2434561"/>
            <a:ext cx="1377420" cy="1529881"/>
            <a:chOff x="2236252" y="2444292"/>
            <a:chExt cx="1377420" cy="1529881"/>
          </a:xfrm>
        </p:grpSpPr>
        <p:grpSp>
          <p:nvGrpSpPr>
            <p:cNvPr id="650" name="组合 649">
              <a:extLst>
                <a:ext uri="{FF2B5EF4-FFF2-40B4-BE49-F238E27FC236}">
                  <a16:creationId xmlns:a16="http://schemas.microsoft.com/office/drawing/2014/main" id="{A75279E1-5E3C-BB50-1F6C-32F92A98C9BD}"/>
                </a:ext>
              </a:extLst>
            </p:cNvPr>
            <p:cNvGrpSpPr/>
            <p:nvPr/>
          </p:nvGrpSpPr>
          <p:grpSpPr>
            <a:xfrm>
              <a:off x="2961790" y="2839594"/>
              <a:ext cx="651882" cy="1134579"/>
              <a:chOff x="2811837" y="2242960"/>
              <a:chExt cx="651882" cy="1134579"/>
            </a:xfrm>
          </p:grpSpPr>
          <p:sp>
            <p:nvSpPr>
              <p:cNvPr id="653" name="文本框 652">
                <a:extLst>
                  <a:ext uri="{FF2B5EF4-FFF2-40B4-BE49-F238E27FC236}">
                    <a16:creationId xmlns:a16="http://schemas.microsoft.com/office/drawing/2014/main" id="{B31B25F3-084F-4FC7-B712-F263A0F6BE9B}"/>
                  </a:ext>
                </a:extLst>
              </p:cNvPr>
              <p:cNvSpPr txBox="1"/>
              <p:nvPr/>
            </p:nvSpPr>
            <p:spPr>
              <a:xfrm>
                <a:off x="2885950" y="3008207"/>
                <a:ext cx="5360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>
                    <a:latin typeface="Calibri" panose="020F0502020204030204" pitchFamily="34" charset="0"/>
                    <a:cs typeface="Calibri" panose="020F0502020204030204" pitchFamily="34" charset="0"/>
                  </a:rPr>
                  <a:t>o</a:t>
                </a:r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654" name="组合 653">
                <a:extLst>
                  <a:ext uri="{FF2B5EF4-FFF2-40B4-BE49-F238E27FC236}">
                    <a16:creationId xmlns:a16="http://schemas.microsoft.com/office/drawing/2014/main" id="{D9945FD5-7632-8F99-353A-CACD3FD20B38}"/>
                  </a:ext>
                </a:extLst>
              </p:cNvPr>
              <p:cNvGrpSpPr/>
              <p:nvPr/>
            </p:nvGrpSpPr>
            <p:grpSpPr>
              <a:xfrm>
                <a:off x="2811837" y="2242960"/>
                <a:ext cx="651882" cy="664169"/>
                <a:chOff x="5181536" y="4377688"/>
                <a:chExt cx="651882" cy="664169"/>
              </a:xfrm>
            </p:grpSpPr>
            <p:sp>
              <p:nvSpPr>
                <p:cNvPr id="655" name="矩形 654">
                  <a:extLst>
                    <a:ext uri="{FF2B5EF4-FFF2-40B4-BE49-F238E27FC236}">
                      <a16:creationId xmlns:a16="http://schemas.microsoft.com/office/drawing/2014/main" id="{4D09BC61-F6A9-8056-A000-619D59E7E8E8}"/>
                    </a:ext>
                  </a:extLst>
                </p:cNvPr>
                <p:cNvSpPr/>
                <p:nvPr/>
              </p:nvSpPr>
              <p:spPr>
                <a:xfrm>
                  <a:off x="5181536" y="4377688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56" name="矩形 655">
                  <a:extLst>
                    <a:ext uri="{FF2B5EF4-FFF2-40B4-BE49-F238E27FC236}">
                      <a16:creationId xmlns:a16="http://schemas.microsoft.com/office/drawing/2014/main" id="{482DB4A3-9138-DCAC-926E-BCCAC9A20723}"/>
                    </a:ext>
                  </a:extLst>
                </p:cNvPr>
                <p:cNvSpPr/>
                <p:nvPr/>
              </p:nvSpPr>
              <p:spPr>
                <a:xfrm>
                  <a:off x="5507477" y="4377688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57" name="矩形 656">
                  <a:extLst>
                    <a:ext uri="{FF2B5EF4-FFF2-40B4-BE49-F238E27FC236}">
                      <a16:creationId xmlns:a16="http://schemas.microsoft.com/office/drawing/2014/main" id="{4D4C0932-CA7B-EFAC-FE6F-5DD80F98B5F4}"/>
                    </a:ext>
                  </a:extLst>
                </p:cNvPr>
                <p:cNvSpPr/>
                <p:nvPr/>
              </p:nvSpPr>
              <p:spPr>
                <a:xfrm>
                  <a:off x="5181536" y="4710657"/>
                  <a:ext cx="325941" cy="3312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658" name="矩形 657">
                  <a:extLst>
                    <a:ext uri="{FF2B5EF4-FFF2-40B4-BE49-F238E27FC236}">
                      <a16:creationId xmlns:a16="http://schemas.microsoft.com/office/drawing/2014/main" id="{BD1B3BF7-BF3A-4A9E-3D0F-5EB295FCB50F}"/>
                    </a:ext>
                  </a:extLst>
                </p:cNvPr>
                <p:cNvSpPr/>
                <p:nvPr/>
              </p:nvSpPr>
              <p:spPr>
                <a:xfrm>
                  <a:off x="5507477" y="4710657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651" name="文本框 650">
              <a:extLst>
                <a:ext uri="{FF2B5EF4-FFF2-40B4-BE49-F238E27FC236}">
                  <a16:creationId xmlns:a16="http://schemas.microsoft.com/office/drawing/2014/main" id="{C6E4BF0D-86EB-930E-640A-69E34CBE312A}"/>
                </a:ext>
              </a:extLst>
            </p:cNvPr>
            <p:cNvSpPr txBox="1"/>
            <p:nvPr/>
          </p:nvSpPr>
          <p:spPr>
            <a:xfrm>
              <a:off x="2236252" y="3010872"/>
              <a:ext cx="817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/TP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2" name="文本框 651">
              <a:extLst>
                <a:ext uri="{FF2B5EF4-FFF2-40B4-BE49-F238E27FC236}">
                  <a16:creationId xmlns:a16="http://schemas.microsoft.com/office/drawing/2014/main" id="{F440BBB0-F683-75A4-392E-D0B3DD8EABE7}"/>
                </a:ext>
              </a:extLst>
            </p:cNvPr>
            <p:cNvSpPr txBox="1"/>
            <p:nvPr/>
          </p:nvSpPr>
          <p:spPr>
            <a:xfrm>
              <a:off x="3085570" y="2444292"/>
              <a:ext cx="521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659" name="图形 658" descr="关闭 纯色填充">
            <a:extLst>
              <a:ext uri="{FF2B5EF4-FFF2-40B4-BE49-F238E27FC236}">
                <a16:creationId xmlns:a16="http://schemas.microsoft.com/office/drawing/2014/main" id="{DF09B95E-AD41-75E7-C189-0B659ACA53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37369" y="3049431"/>
            <a:ext cx="331200" cy="331200"/>
          </a:xfrm>
          <a:prstGeom prst="rect">
            <a:avLst/>
          </a:prstGeom>
        </p:spPr>
      </p:pic>
      <p:pic>
        <p:nvPicPr>
          <p:cNvPr id="671" name="图形 670" descr="关闭 纯色填充">
            <a:extLst>
              <a:ext uri="{FF2B5EF4-FFF2-40B4-BE49-F238E27FC236}">
                <a16:creationId xmlns:a16="http://schemas.microsoft.com/office/drawing/2014/main" id="{81C0D779-880C-AFA5-32D1-F649038AF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8010" y="5115512"/>
            <a:ext cx="331200" cy="331200"/>
          </a:xfrm>
          <a:prstGeom prst="rect">
            <a:avLst/>
          </a:prstGeom>
        </p:spPr>
      </p:pic>
      <p:cxnSp>
        <p:nvCxnSpPr>
          <p:cNvPr id="673" name="直线箭头连接符 672">
            <a:extLst>
              <a:ext uri="{FF2B5EF4-FFF2-40B4-BE49-F238E27FC236}">
                <a16:creationId xmlns:a16="http://schemas.microsoft.com/office/drawing/2014/main" id="{342DEF72-430F-22E6-0873-AB2601886CA4}"/>
              </a:ext>
            </a:extLst>
          </p:cNvPr>
          <p:cNvCxnSpPr>
            <a:cxnSpLocks/>
          </p:cNvCxnSpPr>
          <p:nvPr/>
        </p:nvCxnSpPr>
        <p:spPr>
          <a:xfrm>
            <a:off x="8550687" y="3158351"/>
            <a:ext cx="3291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5" name="文本框 674">
            <a:extLst>
              <a:ext uri="{FF2B5EF4-FFF2-40B4-BE49-F238E27FC236}">
                <a16:creationId xmlns:a16="http://schemas.microsoft.com/office/drawing/2014/main" id="{0356BC13-02B3-7412-6227-262F15A90FAB}"/>
              </a:ext>
            </a:extLst>
          </p:cNvPr>
          <p:cNvSpPr txBox="1"/>
          <p:nvPr/>
        </p:nvSpPr>
        <p:spPr>
          <a:xfrm>
            <a:off x="6191114" y="2476032"/>
            <a:ext cx="80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/TP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77" name="组合 676">
            <a:extLst>
              <a:ext uri="{FF2B5EF4-FFF2-40B4-BE49-F238E27FC236}">
                <a16:creationId xmlns:a16="http://schemas.microsoft.com/office/drawing/2014/main" id="{788FE3DC-453C-5682-8603-4195B7888534}"/>
              </a:ext>
            </a:extLst>
          </p:cNvPr>
          <p:cNvGrpSpPr/>
          <p:nvPr/>
        </p:nvGrpSpPr>
        <p:grpSpPr>
          <a:xfrm>
            <a:off x="4604403" y="2727073"/>
            <a:ext cx="568818" cy="833186"/>
            <a:chOff x="7164505" y="2114368"/>
            <a:chExt cx="568818" cy="833186"/>
          </a:xfrm>
        </p:grpSpPr>
        <p:sp>
          <p:nvSpPr>
            <p:cNvPr id="679" name="圆角矩形 678">
              <a:extLst>
                <a:ext uri="{FF2B5EF4-FFF2-40B4-BE49-F238E27FC236}">
                  <a16:creationId xmlns:a16="http://schemas.microsoft.com/office/drawing/2014/main" id="{0C9F8A36-E94A-9E13-2FC9-0BCECAEBC1F6}"/>
                </a:ext>
              </a:extLst>
            </p:cNvPr>
            <p:cNvSpPr/>
            <p:nvPr/>
          </p:nvSpPr>
          <p:spPr>
            <a:xfrm>
              <a:off x="7400722" y="21143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0" name="圆角矩形 679">
              <a:extLst>
                <a:ext uri="{FF2B5EF4-FFF2-40B4-BE49-F238E27FC236}">
                  <a16:creationId xmlns:a16="http://schemas.microsoft.com/office/drawing/2014/main" id="{27C22EDF-98EB-5317-2FA2-A5285F9500E1}"/>
                </a:ext>
              </a:extLst>
            </p:cNvPr>
            <p:cNvSpPr/>
            <p:nvPr/>
          </p:nvSpPr>
          <p:spPr>
            <a:xfrm>
              <a:off x="7403123" y="24507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1" name="圆角矩形 680">
              <a:extLst>
                <a:ext uri="{FF2B5EF4-FFF2-40B4-BE49-F238E27FC236}">
                  <a16:creationId xmlns:a16="http://schemas.microsoft.com/office/drawing/2014/main" id="{559B2184-EC7B-013A-BEDE-5C16B2290725}"/>
                </a:ext>
              </a:extLst>
            </p:cNvPr>
            <p:cNvSpPr/>
            <p:nvPr/>
          </p:nvSpPr>
          <p:spPr>
            <a:xfrm>
              <a:off x="7287362" y="2199829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2" name="圆角矩形 681">
              <a:extLst>
                <a:ext uri="{FF2B5EF4-FFF2-40B4-BE49-F238E27FC236}">
                  <a16:creationId xmlns:a16="http://schemas.microsoft.com/office/drawing/2014/main" id="{B5A000D1-8C39-C979-25D4-E4928280FEA8}"/>
                </a:ext>
              </a:extLst>
            </p:cNvPr>
            <p:cNvSpPr/>
            <p:nvPr/>
          </p:nvSpPr>
          <p:spPr>
            <a:xfrm>
              <a:off x="7289763" y="2536215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3" name="圆角矩形 682">
              <a:extLst>
                <a:ext uri="{FF2B5EF4-FFF2-40B4-BE49-F238E27FC236}">
                  <a16:creationId xmlns:a16="http://schemas.microsoft.com/office/drawing/2014/main" id="{3EE333AA-B2DA-F281-D97C-AD810BF39214}"/>
                </a:ext>
              </a:extLst>
            </p:cNvPr>
            <p:cNvSpPr/>
            <p:nvPr/>
          </p:nvSpPr>
          <p:spPr>
            <a:xfrm>
              <a:off x="7164505" y="22799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84" name="圆角矩形 683">
              <a:extLst>
                <a:ext uri="{FF2B5EF4-FFF2-40B4-BE49-F238E27FC236}">
                  <a16:creationId xmlns:a16="http://schemas.microsoft.com/office/drawing/2014/main" id="{17549A03-2043-B2EE-FBFB-BE7D3F5492F7}"/>
                </a:ext>
              </a:extLst>
            </p:cNvPr>
            <p:cNvSpPr/>
            <p:nvPr/>
          </p:nvSpPr>
          <p:spPr>
            <a:xfrm>
              <a:off x="7166906" y="26163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685" name="文本框 684">
            <a:extLst>
              <a:ext uri="{FF2B5EF4-FFF2-40B4-BE49-F238E27FC236}">
                <a16:creationId xmlns:a16="http://schemas.microsoft.com/office/drawing/2014/main" id="{40A61A48-942E-8072-EBD3-BB4358B9C406}"/>
              </a:ext>
            </a:extLst>
          </p:cNvPr>
          <p:cNvSpPr txBox="1"/>
          <p:nvPr/>
        </p:nvSpPr>
        <p:spPr>
          <a:xfrm>
            <a:off x="4513272" y="2365486"/>
            <a:ext cx="808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/TP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96" name="直线箭头连接符 695">
            <a:extLst>
              <a:ext uri="{FF2B5EF4-FFF2-40B4-BE49-F238E27FC236}">
                <a16:creationId xmlns:a16="http://schemas.microsoft.com/office/drawing/2014/main" id="{01F41A42-814B-831D-8752-7403B831BA38}"/>
              </a:ext>
            </a:extLst>
          </p:cNvPr>
          <p:cNvCxnSpPr>
            <a:cxnSpLocks/>
          </p:cNvCxnSpPr>
          <p:nvPr/>
        </p:nvCxnSpPr>
        <p:spPr>
          <a:xfrm>
            <a:off x="8586014" y="5248476"/>
            <a:ext cx="329164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03" name="组合 702">
            <a:extLst>
              <a:ext uri="{FF2B5EF4-FFF2-40B4-BE49-F238E27FC236}">
                <a16:creationId xmlns:a16="http://schemas.microsoft.com/office/drawing/2014/main" id="{B42E11AF-B0C3-C8ED-9DF2-0BBC536AED2A}"/>
              </a:ext>
            </a:extLst>
          </p:cNvPr>
          <p:cNvGrpSpPr/>
          <p:nvPr/>
        </p:nvGrpSpPr>
        <p:grpSpPr>
          <a:xfrm>
            <a:off x="8946920" y="2537326"/>
            <a:ext cx="884670" cy="960620"/>
            <a:chOff x="4461473" y="2876706"/>
            <a:chExt cx="884670" cy="960620"/>
          </a:xfrm>
        </p:grpSpPr>
        <p:sp>
          <p:nvSpPr>
            <p:cNvPr id="706" name="圆角矩形 705">
              <a:extLst>
                <a:ext uri="{FF2B5EF4-FFF2-40B4-BE49-F238E27FC236}">
                  <a16:creationId xmlns:a16="http://schemas.microsoft.com/office/drawing/2014/main" id="{B8138CE7-2ACD-7549-0099-CA71BA41756E}"/>
                </a:ext>
              </a:extLst>
            </p:cNvPr>
            <p:cNvSpPr/>
            <p:nvPr/>
          </p:nvSpPr>
          <p:spPr>
            <a:xfrm>
              <a:off x="4684155" y="3159097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7" name="圆角矩形 706">
              <a:extLst>
                <a:ext uri="{FF2B5EF4-FFF2-40B4-BE49-F238E27FC236}">
                  <a16:creationId xmlns:a16="http://schemas.microsoft.com/office/drawing/2014/main" id="{993C20BC-F0B7-C2A1-3761-C3539FCC97CD}"/>
                </a:ext>
              </a:extLst>
            </p:cNvPr>
            <p:cNvSpPr/>
            <p:nvPr/>
          </p:nvSpPr>
          <p:spPr>
            <a:xfrm>
              <a:off x="5015943" y="3159097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8" name="圆角矩形 707">
              <a:extLst>
                <a:ext uri="{FF2B5EF4-FFF2-40B4-BE49-F238E27FC236}">
                  <a16:creationId xmlns:a16="http://schemas.microsoft.com/office/drawing/2014/main" id="{F8026342-035A-ED13-36B1-C32FA6CE928D}"/>
                </a:ext>
              </a:extLst>
            </p:cNvPr>
            <p:cNvSpPr/>
            <p:nvPr/>
          </p:nvSpPr>
          <p:spPr>
            <a:xfrm>
              <a:off x="4586243" y="33528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09" name="圆角矩形 708">
              <a:extLst>
                <a:ext uri="{FF2B5EF4-FFF2-40B4-BE49-F238E27FC236}">
                  <a16:creationId xmlns:a16="http://schemas.microsoft.com/office/drawing/2014/main" id="{575CF2C2-94A1-D560-E073-878A0D84AE0E}"/>
                </a:ext>
              </a:extLst>
            </p:cNvPr>
            <p:cNvSpPr/>
            <p:nvPr/>
          </p:nvSpPr>
          <p:spPr>
            <a:xfrm>
              <a:off x="4918031" y="33528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0" name="圆角矩形 709">
              <a:extLst>
                <a:ext uri="{FF2B5EF4-FFF2-40B4-BE49-F238E27FC236}">
                  <a16:creationId xmlns:a16="http://schemas.microsoft.com/office/drawing/2014/main" id="{2D2A39C7-00C5-2FB6-BD04-14D23BA2A9DF}"/>
                </a:ext>
              </a:extLst>
            </p:cNvPr>
            <p:cNvSpPr/>
            <p:nvPr/>
          </p:nvSpPr>
          <p:spPr>
            <a:xfrm>
              <a:off x="4679350" y="2876706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1" name="圆角矩形 710">
              <a:extLst>
                <a:ext uri="{FF2B5EF4-FFF2-40B4-BE49-F238E27FC236}">
                  <a16:creationId xmlns:a16="http://schemas.microsoft.com/office/drawing/2014/main" id="{37C0861E-169F-8073-ABB2-D823B583C6FB}"/>
                </a:ext>
              </a:extLst>
            </p:cNvPr>
            <p:cNvSpPr/>
            <p:nvPr/>
          </p:nvSpPr>
          <p:spPr>
            <a:xfrm>
              <a:off x="5011138" y="2876706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2" name="圆角矩形 711">
              <a:extLst>
                <a:ext uri="{FF2B5EF4-FFF2-40B4-BE49-F238E27FC236}">
                  <a16:creationId xmlns:a16="http://schemas.microsoft.com/office/drawing/2014/main" id="{52BE919E-05D9-A7C1-342B-FC4C76BE872F}"/>
                </a:ext>
              </a:extLst>
            </p:cNvPr>
            <p:cNvSpPr/>
            <p:nvPr/>
          </p:nvSpPr>
          <p:spPr>
            <a:xfrm>
              <a:off x="4589166" y="30246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3" name="圆角矩形 712">
              <a:extLst>
                <a:ext uri="{FF2B5EF4-FFF2-40B4-BE49-F238E27FC236}">
                  <a16:creationId xmlns:a16="http://schemas.microsoft.com/office/drawing/2014/main" id="{3857FBF5-3717-A959-EB90-A452D5999EAB}"/>
                </a:ext>
              </a:extLst>
            </p:cNvPr>
            <p:cNvSpPr/>
            <p:nvPr/>
          </p:nvSpPr>
          <p:spPr>
            <a:xfrm>
              <a:off x="4920954" y="30246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4" name="圆角矩形 713">
              <a:extLst>
                <a:ext uri="{FF2B5EF4-FFF2-40B4-BE49-F238E27FC236}">
                  <a16:creationId xmlns:a16="http://schemas.microsoft.com/office/drawing/2014/main" id="{57BBCCD7-17B5-7C0E-804D-6CC898C97EE3}"/>
                </a:ext>
              </a:extLst>
            </p:cNvPr>
            <p:cNvSpPr/>
            <p:nvPr/>
          </p:nvSpPr>
          <p:spPr>
            <a:xfrm>
              <a:off x="4462582" y="31902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5" name="圆角矩形 714">
              <a:extLst>
                <a:ext uri="{FF2B5EF4-FFF2-40B4-BE49-F238E27FC236}">
                  <a16:creationId xmlns:a16="http://schemas.microsoft.com/office/drawing/2014/main" id="{F9FCF8A0-7CD9-7A35-B094-739D160849B5}"/>
                </a:ext>
              </a:extLst>
            </p:cNvPr>
            <p:cNvSpPr/>
            <p:nvPr/>
          </p:nvSpPr>
          <p:spPr>
            <a:xfrm>
              <a:off x="4794370" y="31902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6" name="圆角矩形 715">
              <a:extLst>
                <a:ext uri="{FF2B5EF4-FFF2-40B4-BE49-F238E27FC236}">
                  <a16:creationId xmlns:a16="http://schemas.microsoft.com/office/drawing/2014/main" id="{F582046D-EAEE-EBFB-B902-4CC2D5FE184E}"/>
                </a:ext>
              </a:extLst>
            </p:cNvPr>
            <p:cNvSpPr/>
            <p:nvPr/>
          </p:nvSpPr>
          <p:spPr>
            <a:xfrm>
              <a:off x="4461473" y="3506126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7" name="圆角矩形 716">
              <a:extLst>
                <a:ext uri="{FF2B5EF4-FFF2-40B4-BE49-F238E27FC236}">
                  <a16:creationId xmlns:a16="http://schemas.microsoft.com/office/drawing/2014/main" id="{F598B29A-BB99-23E7-CB86-AD367D63C92B}"/>
                </a:ext>
              </a:extLst>
            </p:cNvPr>
            <p:cNvSpPr/>
            <p:nvPr/>
          </p:nvSpPr>
          <p:spPr>
            <a:xfrm>
              <a:off x="4793261" y="3506126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21" name="组合 720">
            <a:extLst>
              <a:ext uri="{FF2B5EF4-FFF2-40B4-BE49-F238E27FC236}">
                <a16:creationId xmlns:a16="http://schemas.microsoft.com/office/drawing/2014/main" id="{7B4F2835-6DE1-4C1B-ECE3-2D3B15122F41}"/>
              </a:ext>
            </a:extLst>
          </p:cNvPr>
          <p:cNvGrpSpPr/>
          <p:nvPr/>
        </p:nvGrpSpPr>
        <p:grpSpPr>
          <a:xfrm>
            <a:off x="7129286" y="4472645"/>
            <a:ext cx="1377420" cy="1529881"/>
            <a:chOff x="2236252" y="2444292"/>
            <a:chExt cx="1377420" cy="1529881"/>
          </a:xfrm>
        </p:grpSpPr>
        <p:grpSp>
          <p:nvGrpSpPr>
            <p:cNvPr id="722" name="组合 721">
              <a:extLst>
                <a:ext uri="{FF2B5EF4-FFF2-40B4-BE49-F238E27FC236}">
                  <a16:creationId xmlns:a16="http://schemas.microsoft.com/office/drawing/2014/main" id="{E7D5FFBD-7938-0516-EB70-F7900F049CDF}"/>
                </a:ext>
              </a:extLst>
            </p:cNvPr>
            <p:cNvGrpSpPr/>
            <p:nvPr/>
          </p:nvGrpSpPr>
          <p:grpSpPr>
            <a:xfrm>
              <a:off x="2961790" y="2839594"/>
              <a:ext cx="651882" cy="1134579"/>
              <a:chOff x="2811837" y="2242960"/>
              <a:chExt cx="651882" cy="1134579"/>
            </a:xfrm>
          </p:grpSpPr>
          <p:sp>
            <p:nvSpPr>
              <p:cNvPr id="725" name="文本框 724">
                <a:extLst>
                  <a:ext uri="{FF2B5EF4-FFF2-40B4-BE49-F238E27FC236}">
                    <a16:creationId xmlns:a16="http://schemas.microsoft.com/office/drawing/2014/main" id="{80B9DF8B-998C-ED7C-5448-C842A69D7F2E}"/>
                  </a:ext>
                </a:extLst>
              </p:cNvPr>
              <p:cNvSpPr txBox="1"/>
              <p:nvPr/>
            </p:nvSpPr>
            <p:spPr>
              <a:xfrm>
                <a:off x="2885950" y="3008207"/>
                <a:ext cx="5360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>
                    <a:latin typeface="Calibri" panose="020F0502020204030204" pitchFamily="34" charset="0"/>
                    <a:cs typeface="Calibri" panose="020F0502020204030204" pitchFamily="34" charset="0"/>
                  </a:rPr>
                  <a:t>W</a:t>
                </a:r>
                <a:r>
                  <a:rPr kumimoji="1" lang="en-US" altLang="zh-CN" baseline="-25000">
                    <a:latin typeface="Calibri" panose="020F0502020204030204" pitchFamily="34" charset="0"/>
                    <a:cs typeface="Calibri" panose="020F0502020204030204" pitchFamily="34" charset="0"/>
                  </a:rPr>
                  <a:t>o</a:t>
                </a:r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726" name="组合 725">
                <a:extLst>
                  <a:ext uri="{FF2B5EF4-FFF2-40B4-BE49-F238E27FC236}">
                    <a16:creationId xmlns:a16="http://schemas.microsoft.com/office/drawing/2014/main" id="{72497A3E-62F4-AFA0-2511-9868FA124DCB}"/>
                  </a:ext>
                </a:extLst>
              </p:cNvPr>
              <p:cNvGrpSpPr/>
              <p:nvPr/>
            </p:nvGrpSpPr>
            <p:grpSpPr>
              <a:xfrm>
                <a:off x="2811837" y="2242960"/>
                <a:ext cx="651882" cy="664169"/>
                <a:chOff x="5181536" y="4377688"/>
                <a:chExt cx="651882" cy="664169"/>
              </a:xfrm>
            </p:grpSpPr>
            <p:sp>
              <p:nvSpPr>
                <p:cNvPr id="727" name="矩形 726">
                  <a:extLst>
                    <a:ext uri="{FF2B5EF4-FFF2-40B4-BE49-F238E27FC236}">
                      <a16:creationId xmlns:a16="http://schemas.microsoft.com/office/drawing/2014/main" id="{14047FAD-82D6-055E-0469-AFD90CD7645B}"/>
                    </a:ext>
                  </a:extLst>
                </p:cNvPr>
                <p:cNvSpPr/>
                <p:nvPr/>
              </p:nvSpPr>
              <p:spPr>
                <a:xfrm>
                  <a:off x="5181536" y="4377688"/>
                  <a:ext cx="325941" cy="33120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8" name="矩形 727">
                  <a:extLst>
                    <a:ext uri="{FF2B5EF4-FFF2-40B4-BE49-F238E27FC236}">
                      <a16:creationId xmlns:a16="http://schemas.microsoft.com/office/drawing/2014/main" id="{CCC57712-7DE7-6A3E-8BA4-D12120CCF4A8}"/>
                    </a:ext>
                  </a:extLst>
                </p:cNvPr>
                <p:cNvSpPr/>
                <p:nvPr/>
              </p:nvSpPr>
              <p:spPr>
                <a:xfrm>
                  <a:off x="5507477" y="4377688"/>
                  <a:ext cx="325941" cy="331200"/>
                </a:xfrm>
                <a:prstGeom prst="rect">
                  <a:avLst/>
                </a:prstGeom>
                <a:noFill/>
                <a:ln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29" name="矩形 728">
                  <a:extLst>
                    <a:ext uri="{FF2B5EF4-FFF2-40B4-BE49-F238E27FC236}">
                      <a16:creationId xmlns:a16="http://schemas.microsoft.com/office/drawing/2014/main" id="{98350050-DBEF-A399-8801-E48394BFBE11}"/>
                    </a:ext>
                  </a:extLst>
                </p:cNvPr>
                <p:cNvSpPr/>
                <p:nvPr/>
              </p:nvSpPr>
              <p:spPr>
                <a:xfrm>
                  <a:off x="5181536" y="4710657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730" name="矩形 729">
                  <a:extLst>
                    <a:ext uri="{FF2B5EF4-FFF2-40B4-BE49-F238E27FC236}">
                      <a16:creationId xmlns:a16="http://schemas.microsoft.com/office/drawing/2014/main" id="{7CF371FA-89C8-BE6F-A886-6925CBA653B2}"/>
                    </a:ext>
                  </a:extLst>
                </p:cNvPr>
                <p:cNvSpPr/>
                <p:nvPr/>
              </p:nvSpPr>
              <p:spPr>
                <a:xfrm>
                  <a:off x="5507477" y="4710657"/>
                  <a:ext cx="325941" cy="331200"/>
                </a:xfrm>
                <a:prstGeom prst="rect">
                  <a:avLst/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prstDash val="soli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</p:grpSp>
        <p:sp>
          <p:nvSpPr>
            <p:cNvPr id="723" name="文本框 722">
              <a:extLst>
                <a:ext uri="{FF2B5EF4-FFF2-40B4-BE49-F238E27FC236}">
                  <a16:creationId xmlns:a16="http://schemas.microsoft.com/office/drawing/2014/main" id="{C0A00608-F7B3-57D0-D6FD-F0A040F4E4A1}"/>
                </a:ext>
              </a:extLst>
            </p:cNvPr>
            <p:cNvSpPr txBox="1"/>
            <p:nvPr/>
          </p:nvSpPr>
          <p:spPr>
            <a:xfrm>
              <a:off x="2236252" y="3010872"/>
              <a:ext cx="817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/TP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24" name="文本框 723">
              <a:extLst>
                <a:ext uri="{FF2B5EF4-FFF2-40B4-BE49-F238E27FC236}">
                  <a16:creationId xmlns:a16="http://schemas.microsoft.com/office/drawing/2014/main" id="{035D3EBA-FA0B-131B-AFA1-DE5739A95DA6}"/>
                </a:ext>
              </a:extLst>
            </p:cNvPr>
            <p:cNvSpPr txBox="1"/>
            <p:nvPr/>
          </p:nvSpPr>
          <p:spPr>
            <a:xfrm>
              <a:off x="3085570" y="2444292"/>
              <a:ext cx="5215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31" name="组合 730">
            <a:extLst>
              <a:ext uri="{FF2B5EF4-FFF2-40B4-BE49-F238E27FC236}">
                <a16:creationId xmlns:a16="http://schemas.microsoft.com/office/drawing/2014/main" id="{293F360D-BD67-F55D-9FD3-08D123A68498}"/>
              </a:ext>
            </a:extLst>
          </p:cNvPr>
          <p:cNvGrpSpPr/>
          <p:nvPr/>
        </p:nvGrpSpPr>
        <p:grpSpPr>
          <a:xfrm>
            <a:off x="8971900" y="4695678"/>
            <a:ext cx="884670" cy="960620"/>
            <a:chOff x="4461473" y="2876706"/>
            <a:chExt cx="884670" cy="960620"/>
          </a:xfrm>
        </p:grpSpPr>
        <p:sp>
          <p:nvSpPr>
            <p:cNvPr id="732" name="圆角矩形 731">
              <a:extLst>
                <a:ext uri="{FF2B5EF4-FFF2-40B4-BE49-F238E27FC236}">
                  <a16:creationId xmlns:a16="http://schemas.microsoft.com/office/drawing/2014/main" id="{B10D7494-1489-335D-FA8D-4E7F3B8BFB01}"/>
                </a:ext>
              </a:extLst>
            </p:cNvPr>
            <p:cNvSpPr/>
            <p:nvPr/>
          </p:nvSpPr>
          <p:spPr>
            <a:xfrm>
              <a:off x="4684155" y="3159097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3" name="圆角矩形 732">
              <a:extLst>
                <a:ext uri="{FF2B5EF4-FFF2-40B4-BE49-F238E27FC236}">
                  <a16:creationId xmlns:a16="http://schemas.microsoft.com/office/drawing/2014/main" id="{A30F1AFC-E33F-579A-9067-C9E49BA59E36}"/>
                </a:ext>
              </a:extLst>
            </p:cNvPr>
            <p:cNvSpPr/>
            <p:nvPr/>
          </p:nvSpPr>
          <p:spPr>
            <a:xfrm>
              <a:off x="5015943" y="3159097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4" name="圆角矩形 733">
              <a:extLst>
                <a:ext uri="{FF2B5EF4-FFF2-40B4-BE49-F238E27FC236}">
                  <a16:creationId xmlns:a16="http://schemas.microsoft.com/office/drawing/2014/main" id="{0DAB1C3E-DE06-2DA8-EEF1-DF3ECACFC95D}"/>
                </a:ext>
              </a:extLst>
            </p:cNvPr>
            <p:cNvSpPr/>
            <p:nvPr/>
          </p:nvSpPr>
          <p:spPr>
            <a:xfrm>
              <a:off x="4586243" y="33528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5" name="圆角矩形 734">
              <a:extLst>
                <a:ext uri="{FF2B5EF4-FFF2-40B4-BE49-F238E27FC236}">
                  <a16:creationId xmlns:a16="http://schemas.microsoft.com/office/drawing/2014/main" id="{141EAADF-05DB-615E-CB0D-C1C798FA31C3}"/>
                </a:ext>
              </a:extLst>
            </p:cNvPr>
            <p:cNvSpPr/>
            <p:nvPr/>
          </p:nvSpPr>
          <p:spPr>
            <a:xfrm>
              <a:off x="4918031" y="33528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6" name="圆角矩形 735">
              <a:extLst>
                <a:ext uri="{FF2B5EF4-FFF2-40B4-BE49-F238E27FC236}">
                  <a16:creationId xmlns:a16="http://schemas.microsoft.com/office/drawing/2014/main" id="{ABAAD58A-A865-E015-55B7-F1C27DF668A5}"/>
                </a:ext>
              </a:extLst>
            </p:cNvPr>
            <p:cNvSpPr/>
            <p:nvPr/>
          </p:nvSpPr>
          <p:spPr>
            <a:xfrm>
              <a:off x="4679350" y="2876706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7" name="圆角矩形 736">
              <a:extLst>
                <a:ext uri="{FF2B5EF4-FFF2-40B4-BE49-F238E27FC236}">
                  <a16:creationId xmlns:a16="http://schemas.microsoft.com/office/drawing/2014/main" id="{78B3CA37-9B97-F852-D924-5F4A76F9DB7B}"/>
                </a:ext>
              </a:extLst>
            </p:cNvPr>
            <p:cNvSpPr/>
            <p:nvPr/>
          </p:nvSpPr>
          <p:spPr>
            <a:xfrm>
              <a:off x="5011138" y="2876706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8" name="圆角矩形 737">
              <a:extLst>
                <a:ext uri="{FF2B5EF4-FFF2-40B4-BE49-F238E27FC236}">
                  <a16:creationId xmlns:a16="http://schemas.microsoft.com/office/drawing/2014/main" id="{D4A98A6D-19CF-1960-2C84-055CEB484E17}"/>
                </a:ext>
              </a:extLst>
            </p:cNvPr>
            <p:cNvSpPr/>
            <p:nvPr/>
          </p:nvSpPr>
          <p:spPr>
            <a:xfrm>
              <a:off x="4589166" y="30246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39" name="圆角矩形 738">
              <a:extLst>
                <a:ext uri="{FF2B5EF4-FFF2-40B4-BE49-F238E27FC236}">
                  <a16:creationId xmlns:a16="http://schemas.microsoft.com/office/drawing/2014/main" id="{71B9FD88-D9AD-BBCA-278F-DEF9BBEED308}"/>
                </a:ext>
              </a:extLst>
            </p:cNvPr>
            <p:cNvSpPr/>
            <p:nvPr/>
          </p:nvSpPr>
          <p:spPr>
            <a:xfrm>
              <a:off x="4920954" y="30246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0" name="圆角矩形 739">
              <a:extLst>
                <a:ext uri="{FF2B5EF4-FFF2-40B4-BE49-F238E27FC236}">
                  <a16:creationId xmlns:a16="http://schemas.microsoft.com/office/drawing/2014/main" id="{89DE788C-5A8E-0043-20CF-A5C1F66C4B6E}"/>
                </a:ext>
              </a:extLst>
            </p:cNvPr>
            <p:cNvSpPr/>
            <p:nvPr/>
          </p:nvSpPr>
          <p:spPr>
            <a:xfrm>
              <a:off x="4462582" y="31902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1" name="圆角矩形 740">
              <a:extLst>
                <a:ext uri="{FF2B5EF4-FFF2-40B4-BE49-F238E27FC236}">
                  <a16:creationId xmlns:a16="http://schemas.microsoft.com/office/drawing/2014/main" id="{0AED6D5F-C562-5AC2-44E3-1CFB26CE8A73}"/>
                </a:ext>
              </a:extLst>
            </p:cNvPr>
            <p:cNvSpPr/>
            <p:nvPr/>
          </p:nvSpPr>
          <p:spPr>
            <a:xfrm>
              <a:off x="4794370" y="3190252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2" name="圆角矩形 741">
              <a:extLst>
                <a:ext uri="{FF2B5EF4-FFF2-40B4-BE49-F238E27FC236}">
                  <a16:creationId xmlns:a16="http://schemas.microsoft.com/office/drawing/2014/main" id="{2631423D-A13F-362D-0F6A-104CE5B46479}"/>
                </a:ext>
              </a:extLst>
            </p:cNvPr>
            <p:cNvSpPr/>
            <p:nvPr/>
          </p:nvSpPr>
          <p:spPr>
            <a:xfrm>
              <a:off x="4461473" y="3506126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43" name="圆角矩形 742">
              <a:extLst>
                <a:ext uri="{FF2B5EF4-FFF2-40B4-BE49-F238E27FC236}">
                  <a16:creationId xmlns:a16="http://schemas.microsoft.com/office/drawing/2014/main" id="{58CE9537-81B8-AF00-50CF-B7D4C447E174}"/>
                </a:ext>
              </a:extLst>
            </p:cNvPr>
            <p:cNvSpPr/>
            <p:nvPr/>
          </p:nvSpPr>
          <p:spPr>
            <a:xfrm>
              <a:off x="4793261" y="3506126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02" name="组合 801">
            <a:extLst>
              <a:ext uri="{FF2B5EF4-FFF2-40B4-BE49-F238E27FC236}">
                <a16:creationId xmlns:a16="http://schemas.microsoft.com/office/drawing/2014/main" id="{2845B67B-770D-C853-4300-07CF5CF60E04}"/>
              </a:ext>
            </a:extLst>
          </p:cNvPr>
          <p:cNvGrpSpPr/>
          <p:nvPr/>
        </p:nvGrpSpPr>
        <p:grpSpPr>
          <a:xfrm>
            <a:off x="140043" y="3866093"/>
            <a:ext cx="1141350" cy="1024303"/>
            <a:chOff x="-148970" y="3964344"/>
            <a:chExt cx="1141350" cy="1024303"/>
          </a:xfrm>
        </p:grpSpPr>
        <p:sp>
          <p:nvSpPr>
            <p:cNvPr id="803" name="圆角矩形 802">
              <a:extLst>
                <a:ext uri="{FF2B5EF4-FFF2-40B4-BE49-F238E27FC236}">
                  <a16:creationId xmlns:a16="http://schemas.microsoft.com/office/drawing/2014/main" id="{88E3DFCA-FDBD-38F5-E72A-5AD8F7C1F68A}"/>
                </a:ext>
              </a:extLst>
            </p:cNvPr>
            <p:cNvSpPr/>
            <p:nvPr/>
          </p:nvSpPr>
          <p:spPr>
            <a:xfrm>
              <a:off x="6621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4" name="圆角矩形 803">
              <a:extLst>
                <a:ext uri="{FF2B5EF4-FFF2-40B4-BE49-F238E27FC236}">
                  <a16:creationId xmlns:a16="http://schemas.microsoft.com/office/drawing/2014/main" id="{05E9208C-4C34-5C9C-996D-EFFB5D26934E}"/>
                </a:ext>
              </a:extLst>
            </p:cNvPr>
            <p:cNvSpPr/>
            <p:nvPr/>
          </p:nvSpPr>
          <p:spPr>
            <a:xfrm>
              <a:off x="3319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5" name="圆角矩形 804">
              <a:extLst>
                <a:ext uri="{FF2B5EF4-FFF2-40B4-BE49-F238E27FC236}">
                  <a16:creationId xmlns:a16="http://schemas.microsoft.com/office/drawing/2014/main" id="{E82A8E19-154F-F1A2-1EE0-992EF18DFEA7}"/>
                </a:ext>
              </a:extLst>
            </p:cNvPr>
            <p:cNvSpPr/>
            <p:nvPr/>
          </p:nvSpPr>
          <p:spPr>
            <a:xfrm>
              <a:off x="6621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6" name="圆角矩形 805">
              <a:extLst>
                <a:ext uri="{FF2B5EF4-FFF2-40B4-BE49-F238E27FC236}">
                  <a16:creationId xmlns:a16="http://schemas.microsoft.com/office/drawing/2014/main" id="{621F2EC7-F4A6-8205-C9BA-C412135101F6}"/>
                </a:ext>
              </a:extLst>
            </p:cNvPr>
            <p:cNvSpPr/>
            <p:nvPr/>
          </p:nvSpPr>
          <p:spPr>
            <a:xfrm>
              <a:off x="3319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7" name="文本框 806">
              <a:extLst>
                <a:ext uri="{FF2B5EF4-FFF2-40B4-BE49-F238E27FC236}">
                  <a16:creationId xmlns:a16="http://schemas.microsoft.com/office/drawing/2014/main" id="{69B43F86-C966-E2B4-2534-52CEBBED008C}"/>
                </a:ext>
              </a:extLst>
            </p:cNvPr>
            <p:cNvSpPr txBox="1"/>
            <p:nvPr/>
          </p:nvSpPr>
          <p:spPr>
            <a:xfrm>
              <a:off x="-148970" y="4103847"/>
              <a:ext cx="577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Seq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8" name="文本框 807">
              <a:extLst>
                <a:ext uri="{FF2B5EF4-FFF2-40B4-BE49-F238E27FC236}">
                  <a16:creationId xmlns:a16="http://schemas.microsoft.com/office/drawing/2014/main" id="{A9F79348-EB4A-A098-A572-CF8252994AEB}"/>
                </a:ext>
              </a:extLst>
            </p:cNvPr>
            <p:cNvSpPr txBox="1"/>
            <p:nvPr/>
          </p:nvSpPr>
          <p:spPr>
            <a:xfrm>
              <a:off x="456990" y="4619315"/>
              <a:ext cx="469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09" name="组合 808">
            <a:extLst>
              <a:ext uri="{FF2B5EF4-FFF2-40B4-BE49-F238E27FC236}">
                <a16:creationId xmlns:a16="http://schemas.microsoft.com/office/drawing/2014/main" id="{3D41A67C-2944-B3A5-168D-B9CB60E4071B}"/>
              </a:ext>
            </a:extLst>
          </p:cNvPr>
          <p:cNvGrpSpPr/>
          <p:nvPr/>
        </p:nvGrpSpPr>
        <p:grpSpPr>
          <a:xfrm>
            <a:off x="1496406" y="2803893"/>
            <a:ext cx="1141350" cy="1024303"/>
            <a:chOff x="-148970" y="3964344"/>
            <a:chExt cx="1141350" cy="1024303"/>
          </a:xfrm>
        </p:grpSpPr>
        <p:sp>
          <p:nvSpPr>
            <p:cNvPr id="810" name="圆角矩形 809">
              <a:extLst>
                <a:ext uri="{FF2B5EF4-FFF2-40B4-BE49-F238E27FC236}">
                  <a16:creationId xmlns:a16="http://schemas.microsoft.com/office/drawing/2014/main" id="{5F81DF95-958D-476C-2D31-C1AD93DE49B9}"/>
                </a:ext>
              </a:extLst>
            </p:cNvPr>
            <p:cNvSpPr/>
            <p:nvPr/>
          </p:nvSpPr>
          <p:spPr>
            <a:xfrm>
              <a:off x="6621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1" name="圆角矩形 810">
              <a:extLst>
                <a:ext uri="{FF2B5EF4-FFF2-40B4-BE49-F238E27FC236}">
                  <a16:creationId xmlns:a16="http://schemas.microsoft.com/office/drawing/2014/main" id="{8E2C28F2-2D91-E83E-F9D8-3BAB3CDDD7BD}"/>
                </a:ext>
              </a:extLst>
            </p:cNvPr>
            <p:cNvSpPr/>
            <p:nvPr/>
          </p:nvSpPr>
          <p:spPr>
            <a:xfrm>
              <a:off x="3319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2" name="圆角矩形 811">
              <a:extLst>
                <a:ext uri="{FF2B5EF4-FFF2-40B4-BE49-F238E27FC236}">
                  <a16:creationId xmlns:a16="http://schemas.microsoft.com/office/drawing/2014/main" id="{7A49897F-B2F1-70AD-AA11-ECC44B2D47D0}"/>
                </a:ext>
              </a:extLst>
            </p:cNvPr>
            <p:cNvSpPr/>
            <p:nvPr/>
          </p:nvSpPr>
          <p:spPr>
            <a:xfrm>
              <a:off x="6621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3" name="圆角矩形 812">
              <a:extLst>
                <a:ext uri="{FF2B5EF4-FFF2-40B4-BE49-F238E27FC236}">
                  <a16:creationId xmlns:a16="http://schemas.microsoft.com/office/drawing/2014/main" id="{AAEFF48E-1190-2077-BBDA-161E81191193}"/>
                </a:ext>
              </a:extLst>
            </p:cNvPr>
            <p:cNvSpPr/>
            <p:nvPr/>
          </p:nvSpPr>
          <p:spPr>
            <a:xfrm>
              <a:off x="3319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4" name="文本框 813">
              <a:extLst>
                <a:ext uri="{FF2B5EF4-FFF2-40B4-BE49-F238E27FC236}">
                  <a16:creationId xmlns:a16="http://schemas.microsoft.com/office/drawing/2014/main" id="{3861E3E7-C712-17EB-026D-48D3417D246D}"/>
                </a:ext>
              </a:extLst>
            </p:cNvPr>
            <p:cNvSpPr txBox="1"/>
            <p:nvPr/>
          </p:nvSpPr>
          <p:spPr>
            <a:xfrm>
              <a:off x="-148970" y="4103847"/>
              <a:ext cx="577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Seq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5" name="文本框 814">
              <a:extLst>
                <a:ext uri="{FF2B5EF4-FFF2-40B4-BE49-F238E27FC236}">
                  <a16:creationId xmlns:a16="http://schemas.microsoft.com/office/drawing/2014/main" id="{52D78BCB-5F53-9A9D-930E-A718ABCDFA87}"/>
                </a:ext>
              </a:extLst>
            </p:cNvPr>
            <p:cNvSpPr txBox="1"/>
            <p:nvPr/>
          </p:nvSpPr>
          <p:spPr>
            <a:xfrm>
              <a:off x="456990" y="4619315"/>
              <a:ext cx="469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16" name="组合 815">
            <a:extLst>
              <a:ext uri="{FF2B5EF4-FFF2-40B4-BE49-F238E27FC236}">
                <a16:creationId xmlns:a16="http://schemas.microsoft.com/office/drawing/2014/main" id="{45E05B71-58E0-4D33-1616-1FE1D60180FD}"/>
              </a:ext>
            </a:extLst>
          </p:cNvPr>
          <p:cNvGrpSpPr/>
          <p:nvPr/>
        </p:nvGrpSpPr>
        <p:grpSpPr>
          <a:xfrm>
            <a:off x="1537900" y="4892272"/>
            <a:ext cx="1141350" cy="1024303"/>
            <a:chOff x="-148970" y="3964344"/>
            <a:chExt cx="1141350" cy="1024303"/>
          </a:xfrm>
        </p:grpSpPr>
        <p:sp>
          <p:nvSpPr>
            <p:cNvPr id="817" name="圆角矩形 816">
              <a:extLst>
                <a:ext uri="{FF2B5EF4-FFF2-40B4-BE49-F238E27FC236}">
                  <a16:creationId xmlns:a16="http://schemas.microsoft.com/office/drawing/2014/main" id="{15A71171-DB5D-8C8E-D59D-FD185FB166AE}"/>
                </a:ext>
              </a:extLst>
            </p:cNvPr>
            <p:cNvSpPr/>
            <p:nvPr/>
          </p:nvSpPr>
          <p:spPr>
            <a:xfrm>
              <a:off x="6621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8" name="圆角矩形 817">
              <a:extLst>
                <a:ext uri="{FF2B5EF4-FFF2-40B4-BE49-F238E27FC236}">
                  <a16:creationId xmlns:a16="http://schemas.microsoft.com/office/drawing/2014/main" id="{7969FF56-9496-C363-0878-8192BB366386}"/>
                </a:ext>
              </a:extLst>
            </p:cNvPr>
            <p:cNvSpPr/>
            <p:nvPr/>
          </p:nvSpPr>
          <p:spPr>
            <a:xfrm>
              <a:off x="3319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9" name="圆角矩形 818">
              <a:extLst>
                <a:ext uri="{FF2B5EF4-FFF2-40B4-BE49-F238E27FC236}">
                  <a16:creationId xmlns:a16="http://schemas.microsoft.com/office/drawing/2014/main" id="{9894965E-FDC4-A08E-4CAF-2574A7C51FBB}"/>
                </a:ext>
              </a:extLst>
            </p:cNvPr>
            <p:cNvSpPr/>
            <p:nvPr/>
          </p:nvSpPr>
          <p:spPr>
            <a:xfrm>
              <a:off x="6621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0" name="圆角矩形 819">
              <a:extLst>
                <a:ext uri="{FF2B5EF4-FFF2-40B4-BE49-F238E27FC236}">
                  <a16:creationId xmlns:a16="http://schemas.microsoft.com/office/drawing/2014/main" id="{576D64FE-A064-1EAB-3840-832C48B2E2B0}"/>
                </a:ext>
              </a:extLst>
            </p:cNvPr>
            <p:cNvSpPr/>
            <p:nvPr/>
          </p:nvSpPr>
          <p:spPr>
            <a:xfrm>
              <a:off x="3319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1" name="文本框 820">
              <a:extLst>
                <a:ext uri="{FF2B5EF4-FFF2-40B4-BE49-F238E27FC236}">
                  <a16:creationId xmlns:a16="http://schemas.microsoft.com/office/drawing/2014/main" id="{C027BF8B-E6CE-B5E8-BA20-992C48E61E99}"/>
                </a:ext>
              </a:extLst>
            </p:cNvPr>
            <p:cNvSpPr txBox="1"/>
            <p:nvPr/>
          </p:nvSpPr>
          <p:spPr>
            <a:xfrm>
              <a:off x="-148970" y="4103847"/>
              <a:ext cx="577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Seq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2" name="文本框 821">
              <a:extLst>
                <a:ext uri="{FF2B5EF4-FFF2-40B4-BE49-F238E27FC236}">
                  <a16:creationId xmlns:a16="http://schemas.microsoft.com/office/drawing/2014/main" id="{1CCA9155-E9BD-7732-FA6A-CE5F49D4D515}"/>
                </a:ext>
              </a:extLst>
            </p:cNvPr>
            <p:cNvSpPr txBox="1"/>
            <p:nvPr/>
          </p:nvSpPr>
          <p:spPr>
            <a:xfrm>
              <a:off x="456990" y="4619315"/>
              <a:ext cx="469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23" name="组合 822">
            <a:extLst>
              <a:ext uri="{FF2B5EF4-FFF2-40B4-BE49-F238E27FC236}">
                <a16:creationId xmlns:a16="http://schemas.microsoft.com/office/drawing/2014/main" id="{EF6EBAFB-859E-E8B2-F55D-02F22A94E62C}"/>
              </a:ext>
            </a:extLst>
          </p:cNvPr>
          <p:cNvGrpSpPr/>
          <p:nvPr/>
        </p:nvGrpSpPr>
        <p:grpSpPr>
          <a:xfrm>
            <a:off x="8237796" y="3660576"/>
            <a:ext cx="1339370" cy="935325"/>
            <a:chOff x="8942082" y="3835374"/>
            <a:chExt cx="1339370" cy="935325"/>
          </a:xfrm>
        </p:grpSpPr>
        <p:sp>
          <p:nvSpPr>
            <p:cNvPr id="824" name="左右箭头 823">
              <a:extLst>
                <a:ext uri="{FF2B5EF4-FFF2-40B4-BE49-F238E27FC236}">
                  <a16:creationId xmlns:a16="http://schemas.microsoft.com/office/drawing/2014/main" id="{F0DFAFB2-9461-AB29-19D7-3B744FC238CB}"/>
                </a:ext>
              </a:extLst>
            </p:cNvPr>
            <p:cNvSpPr/>
            <p:nvPr/>
          </p:nvSpPr>
          <p:spPr>
            <a:xfrm rot="16200000">
              <a:off x="9697905" y="4187153"/>
              <a:ext cx="935325" cy="231768"/>
            </a:xfrm>
            <a:prstGeom prst="left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25" name="文本框 824">
              <a:extLst>
                <a:ext uri="{FF2B5EF4-FFF2-40B4-BE49-F238E27FC236}">
                  <a16:creationId xmlns:a16="http://schemas.microsoft.com/office/drawing/2014/main" id="{95C945A4-80F9-A742-4E17-F8F45F9D8183}"/>
                </a:ext>
              </a:extLst>
            </p:cNvPr>
            <p:cNvSpPr txBox="1"/>
            <p:nvPr/>
          </p:nvSpPr>
          <p:spPr>
            <a:xfrm>
              <a:off x="8942082" y="4168950"/>
              <a:ext cx="1107601" cy="368300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 lIns="36000" rIns="36000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All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Reduce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826" name="文本框 825">
            <a:extLst>
              <a:ext uri="{FF2B5EF4-FFF2-40B4-BE49-F238E27FC236}">
                <a16:creationId xmlns:a16="http://schemas.microsoft.com/office/drawing/2014/main" id="{8FA348F8-2CA4-ED1F-1BB0-BBAD62A83EFB}"/>
              </a:ext>
            </a:extLst>
          </p:cNvPr>
          <p:cNvSpPr txBox="1"/>
          <p:nvPr/>
        </p:nvSpPr>
        <p:spPr>
          <a:xfrm>
            <a:off x="9164797" y="5688842"/>
            <a:ext cx="5168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27" name="组合 826">
            <a:extLst>
              <a:ext uri="{FF2B5EF4-FFF2-40B4-BE49-F238E27FC236}">
                <a16:creationId xmlns:a16="http://schemas.microsoft.com/office/drawing/2014/main" id="{511FA1D1-600E-6A4F-4047-8AF96D23EB17}"/>
              </a:ext>
            </a:extLst>
          </p:cNvPr>
          <p:cNvGrpSpPr/>
          <p:nvPr/>
        </p:nvGrpSpPr>
        <p:grpSpPr>
          <a:xfrm>
            <a:off x="10827814" y="2743332"/>
            <a:ext cx="767671" cy="1148715"/>
            <a:chOff x="2811837" y="2242960"/>
            <a:chExt cx="767671" cy="1148715"/>
          </a:xfrm>
        </p:grpSpPr>
        <p:sp>
          <p:nvSpPr>
            <p:cNvPr id="828" name="文本框 827">
              <a:extLst>
                <a:ext uri="{FF2B5EF4-FFF2-40B4-BE49-F238E27FC236}">
                  <a16:creationId xmlns:a16="http://schemas.microsoft.com/office/drawing/2014/main" id="{8476053A-88D0-C07A-B7F9-E73915674A15}"/>
                </a:ext>
              </a:extLst>
            </p:cNvPr>
            <p:cNvSpPr txBox="1"/>
            <p:nvPr/>
          </p:nvSpPr>
          <p:spPr>
            <a:xfrm>
              <a:off x="2830668" y="3022343"/>
              <a:ext cx="748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MLP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29" name="组合 828">
              <a:extLst>
                <a:ext uri="{FF2B5EF4-FFF2-40B4-BE49-F238E27FC236}">
                  <a16:creationId xmlns:a16="http://schemas.microsoft.com/office/drawing/2014/main" id="{A9CFA871-F52A-506E-831C-8DE04E83275D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830" name="矩形 829">
                <a:extLst>
                  <a:ext uri="{FF2B5EF4-FFF2-40B4-BE49-F238E27FC236}">
                    <a16:creationId xmlns:a16="http://schemas.microsoft.com/office/drawing/2014/main" id="{558E7DA0-2C4E-E653-6007-62BDD2BEF4FF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1" name="矩形 830">
                <a:extLst>
                  <a:ext uri="{FF2B5EF4-FFF2-40B4-BE49-F238E27FC236}">
                    <a16:creationId xmlns:a16="http://schemas.microsoft.com/office/drawing/2014/main" id="{F937673B-1288-B870-A0CB-5938451EC7E6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2" name="矩形 831">
                <a:extLst>
                  <a:ext uri="{FF2B5EF4-FFF2-40B4-BE49-F238E27FC236}">
                    <a16:creationId xmlns:a16="http://schemas.microsoft.com/office/drawing/2014/main" id="{3606F808-3E07-76A4-A802-FE6DAF51EDA7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833" name="矩形 832">
                <a:extLst>
                  <a:ext uri="{FF2B5EF4-FFF2-40B4-BE49-F238E27FC236}">
                    <a16:creationId xmlns:a16="http://schemas.microsoft.com/office/drawing/2014/main" id="{39E0ACC0-95CA-8F08-C1E1-BCF44C6442A9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cxnSp>
        <p:nvCxnSpPr>
          <p:cNvPr id="834" name="直线箭头连接符 833">
            <a:extLst>
              <a:ext uri="{FF2B5EF4-FFF2-40B4-BE49-F238E27FC236}">
                <a16:creationId xmlns:a16="http://schemas.microsoft.com/office/drawing/2014/main" id="{6B5A8CBD-92A7-E1AB-4FBC-0A5314ABE43A}"/>
              </a:ext>
            </a:extLst>
          </p:cNvPr>
          <p:cNvCxnSpPr>
            <a:cxnSpLocks/>
          </p:cNvCxnSpPr>
          <p:nvPr/>
        </p:nvCxnSpPr>
        <p:spPr>
          <a:xfrm>
            <a:off x="9948434" y="3072907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35" name="组合 834">
            <a:extLst>
              <a:ext uri="{FF2B5EF4-FFF2-40B4-BE49-F238E27FC236}">
                <a16:creationId xmlns:a16="http://schemas.microsoft.com/office/drawing/2014/main" id="{F799DD8D-D5B8-EFB3-4A1F-D73BFC5C2A9A}"/>
              </a:ext>
            </a:extLst>
          </p:cNvPr>
          <p:cNvGrpSpPr/>
          <p:nvPr/>
        </p:nvGrpSpPr>
        <p:grpSpPr>
          <a:xfrm>
            <a:off x="10839074" y="4859594"/>
            <a:ext cx="651882" cy="664169"/>
            <a:chOff x="5181536" y="4377688"/>
            <a:chExt cx="651882" cy="664169"/>
          </a:xfrm>
        </p:grpSpPr>
        <p:sp>
          <p:nvSpPr>
            <p:cNvPr id="836" name="矩形 835">
              <a:extLst>
                <a:ext uri="{FF2B5EF4-FFF2-40B4-BE49-F238E27FC236}">
                  <a16:creationId xmlns:a16="http://schemas.microsoft.com/office/drawing/2014/main" id="{D4433D12-4B4A-6DF6-C059-B1CBB6CB58BB}"/>
                </a:ext>
              </a:extLst>
            </p:cNvPr>
            <p:cNvSpPr/>
            <p:nvPr/>
          </p:nvSpPr>
          <p:spPr>
            <a:xfrm>
              <a:off x="5181536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7" name="矩形 836">
              <a:extLst>
                <a:ext uri="{FF2B5EF4-FFF2-40B4-BE49-F238E27FC236}">
                  <a16:creationId xmlns:a16="http://schemas.microsoft.com/office/drawing/2014/main" id="{7C0F3062-0BC8-4825-5058-91938A277FBF}"/>
                </a:ext>
              </a:extLst>
            </p:cNvPr>
            <p:cNvSpPr/>
            <p:nvPr/>
          </p:nvSpPr>
          <p:spPr>
            <a:xfrm>
              <a:off x="5507477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8" name="矩形 837">
              <a:extLst>
                <a:ext uri="{FF2B5EF4-FFF2-40B4-BE49-F238E27FC236}">
                  <a16:creationId xmlns:a16="http://schemas.microsoft.com/office/drawing/2014/main" id="{74A40E33-9D45-E9C9-B011-BA6EBD844C44}"/>
                </a:ext>
              </a:extLst>
            </p:cNvPr>
            <p:cNvSpPr/>
            <p:nvPr/>
          </p:nvSpPr>
          <p:spPr>
            <a:xfrm>
              <a:off x="5181536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39" name="矩形 838">
              <a:extLst>
                <a:ext uri="{FF2B5EF4-FFF2-40B4-BE49-F238E27FC236}">
                  <a16:creationId xmlns:a16="http://schemas.microsoft.com/office/drawing/2014/main" id="{D9B1312E-F714-DDDF-DD29-08DDD7B5D6CB}"/>
                </a:ext>
              </a:extLst>
            </p:cNvPr>
            <p:cNvSpPr/>
            <p:nvPr/>
          </p:nvSpPr>
          <p:spPr>
            <a:xfrm>
              <a:off x="5507477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840" name="直线箭头连接符 839">
            <a:extLst>
              <a:ext uri="{FF2B5EF4-FFF2-40B4-BE49-F238E27FC236}">
                <a16:creationId xmlns:a16="http://schemas.microsoft.com/office/drawing/2014/main" id="{9C5E1068-9F51-FA80-067A-17A224D57F72}"/>
              </a:ext>
            </a:extLst>
          </p:cNvPr>
          <p:cNvCxnSpPr>
            <a:cxnSpLocks/>
          </p:cNvCxnSpPr>
          <p:nvPr/>
        </p:nvCxnSpPr>
        <p:spPr>
          <a:xfrm>
            <a:off x="9959694" y="5189169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1" name="文本框 840">
            <a:extLst>
              <a:ext uri="{FF2B5EF4-FFF2-40B4-BE49-F238E27FC236}">
                <a16:creationId xmlns:a16="http://schemas.microsoft.com/office/drawing/2014/main" id="{68C98936-AC23-EACD-83FF-4F3582CE24E1}"/>
              </a:ext>
            </a:extLst>
          </p:cNvPr>
          <p:cNvSpPr txBox="1"/>
          <p:nvPr/>
        </p:nvSpPr>
        <p:spPr>
          <a:xfrm>
            <a:off x="10867662" y="5576399"/>
            <a:ext cx="7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MLP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2" name="文本框 841">
            <a:extLst>
              <a:ext uri="{FF2B5EF4-FFF2-40B4-BE49-F238E27FC236}">
                <a16:creationId xmlns:a16="http://schemas.microsoft.com/office/drawing/2014/main" id="{8E1E04AE-E686-4445-2975-EE85D3AF1D93}"/>
              </a:ext>
            </a:extLst>
          </p:cNvPr>
          <p:cNvSpPr txBox="1"/>
          <p:nvPr/>
        </p:nvSpPr>
        <p:spPr>
          <a:xfrm>
            <a:off x="9212158" y="2199416"/>
            <a:ext cx="52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43" name="文本框 842">
            <a:extLst>
              <a:ext uri="{FF2B5EF4-FFF2-40B4-BE49-F238E27FC236}">
                <a16:creationId xmlns:a16="http://schemas.microsoft.com/office/drawing/2014/main" id="{FA3BB7FB-D01C-283E-03DC-97803D575C6E}"/>
              </a:ext>
            </a:extLst>
          </p:cNvPr>
          <p:cNvSpPr txBox="1"/>
          <p:nvPr/>
        </p:nvSpPr>
        <p:spPr>
          <a:xfrm>
            <a:off x="1977356" y="6319313"/>
            <a:ext cx="8660416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QKV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partitioned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dimension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7886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4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15F59-5DE3-CAC2-3FE3-208142318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7C19C93-6ED2-4AD8-D020-B82038E2A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734" y="1019979"/>
            <a:ext cx="11705590" cy="1061720"/>
          </a:xfrm>
        </p:spPr>
        <p:txBody>
          <a:bodyPr>
            <a:normAutofit fontScale="90000"/>
          </a:bodyPr>
          <a:lstStyle/>
          <a:p>
            <a:r>
              <a:rPr kumimoji="1" lang="en-US" altLang="zh-CN"/>
              <a:t>Sequence</a:t>
            </a:r>
            <a:r>
              <a:rPr kumimoji="1" lang="zh-CN" altLang="en-US"/>
              <a:t> </a:t>
            </a:r>
            <a:r>
              <a:rPr kumimoji="1" lang="en-US" altLang="zh-CN"/>
              <a:t>parallelism (Ulysses)</a:t>
            </a:r>
          </a:p>
          <a:p>
            <a:pPr lvl="1"/>
            <a:r>
              <a:rPr kumimoji="1" lang="en-US" altLang="zh-CN"/>
              <a:t>SP</a:t>
            </a:r>
            <a:r>
              <a:rPr kumimoji="1" lang="zh-CN" altLang="en-US"/>
              <a:t> </a:t>
            </a:r>
            <a:r>
              <a:rPr kumimoji="1" lang="en" altLang="zh-CN"/>
              <a:t>partitions input along the sequence dim</a:t>
            </a:r>
            <a:r>
              <a:rPr kumimoji="1" lang="zh-CN" altLang="en-US"/>
              <a:t> </a:t>
            </a:r>
            <a:r>
              <a:rPr kumimoji="1" lang="en" altLang="zh-CN"/>
              <a:t>while keeping the weights unchanged </a:t>
            </a:r>
            <a:endParaRPr kumimoji="1"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664122B3-A761-66A0-0844-10B5C0BC2E6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469012" y="6424014"/>
            <a:ext cx="381001" cy="300555"/>
          </a:xfrm>
        </p:spPr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7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BF15000A-3E7D-F287-732E-A3BEAC2DB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C712805C-A9B2-D7FA-22A3-1EA9918E3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0C9CEAD8-461D-AF88-A473-B090942FCB42}"/>
              </a:ext>
            </a:extLst>
          </p:cNvPr>
          <p:cNvGrpSpPr/>
          <p:nvPr/>
        </p:nvGrpSpPr>
        <p:grpSpPr>
          <a:xfrm>
            <a:off x="0" y="3964025"/>
            <a:ext cx="1141350" cy="1024303"/>
            <a:chOff x="-148970" y="3964344"/>
            <a:chExt cx="1141350" cy="1024303"/>
          </a:xfrm>
        </p:grpSpPr>
        <p:sp>
          <p:nvSpPr>
            <p:cNvPr id="622" name="圆角矩形 621">
              <a:extLst>
                <a:ext uri="{FF2B5EF4-FFF2-40B4-BE49-F238E27FC236}">
                  <a16:creationId xmlns:a16="http://schemas.microsoft.com/office/drawing/2014/main" id="{91069BAB-0204-CABA-2C97-A43EB993A021}"/>
                </a:ext>
              </a:extLst>
            </p:cNvPr>
            <p:cNvSpPr/>
            <p:nvPr/>
          </p:nvSpPr>
          <p:spPr>
            <a:xfrm>
              <a:off x="6621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3" name="圆角矩形 622">
              <a:extLst>
                <a:ext uri="{FF2B5EF4-FFF2-40B4-BE49-F238E27FC236}">
                  <a16:creationId xmlns:a16="http://schemas.microsoft.com/office/drawing/2014/main" id="{A2C51474-A265-683C-2A3F-CA5EF5176532}"/>
                </a:ext>
              </a:extLst>
            </p:cNvPr>
            <p:cNvSpPr/>
            <p:nvPr/>
          </p:nvSpPr>
          <p:spPr>
            <a:xfrm>
              <a:off x="331980" y="396434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4" name="圆角矩形 623">
              <a:extLst>
                <a:ext uri="{FF2B5EF4-FFF2-40B4-BE49-F238E27FC236}">
                  <a16:creationId xmlns:a16="http://schemas.microsoft.com/office/drawing/2014/main" id="{CD61772F-54E5-78BB-2E10-868C8A1D78AA}"/>
                </a:ext>
              </a:extLst>
            </p:cNvPr>
            <p:cNvSpPr/>
            <p:nvPr/>
          </p:nvSpPr>
          <p:spPr>
            <a:xfrm>
              <a:off x="6621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5" name="圆角矩形 624">
              <a:extLst>
                <a:ext uri="{FF2B5EF4-FFF2-40B4-BE49-F238E27FC236}">
                  <a16:creationId xmlns:a16="http://schemas.microsoft.com/office/drawing/2014/main" id="{C4A44844-C54E-15DF-458B-0203B9C99FD9}"/>
                </a:ext>
              </a:extLst>
            </p:cNvPr>
            <p:cNvSpPr/>
            <p:nvPr/>
          </p:nvSpPr>
          <p:spPr>
            <a:xfrm>
              <a:off x="331980" y="428598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6" name="文本框 625">
              <a:extLst>
                <a:ext uri="{FF2B5EF4-FFF2-40B4-BE49-F238E27FC236}">
                  <a16:creationId xmlns:a16="http://schemas.microsoft.com/office/drawing/2014/main" id="{5FAFBBA1-7202-FCA1-B588-DFA922929376}"/>
                </a:ext>
              </a:extLst>
            </p:cNvPr>
            <p:cNvSpPr txBox="1"/>
            <p:nvPr/>
          </p:nvSpPr>
          <p:spPr>
            <a:xfrm>
              <a:off x="-148970" y="4103847"/>
              <a:ext cx="5773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Seq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7" name="文本框 626">
              <a:extLst>
                <a:ext uri="{FF2B5EF4-FFF2-40B4-BE49-F238E27FC236}">
                  <a16:creationId xmlns:a16="http://schemas.microsoft.com/office/drawing/2014/main" id="{9F52B3C5-3BE2-057E-6D57-B9D1845465F6}"/>
                </a:ext>
              </a:extLst>
            </p:cNvPr>
            <p:cNvSpPr txBox="1"/>
            <p:nvPr/>
          </p:nvSpPr>
          <p:spPr>
            <a:xfrm>
              <a:off x="456990" y="4619315"/>
              <a:ext cx="469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err="1">
                  <a:latin typeface="Calibri" panose="020F0502020204030204" pitchFamily="34" charset="0"/>
                  <a:cs typeface="Calibri" panose="020F0502020204030204" pitchFamily="34" charset="0"/>
                </a:rPr>
                <a:t>Hd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67" name="组合 566">
            <a:extLst>
              <a:ext uri="{FF2B5EF4-FFF2-40B4-BE49-F238E27FC236}">
                <a16:creationId xmlns:a16="http://schemas.microsoft.com/office/drawing/2014/main" id="{36A2A0F2-D879-2505-7A9E-A041D0057AFD}"/>
              </a:ext>
            </a:extLst>
          </p:cNvPr>
          <p:cNvGrpSpPr/>
          <p:nvPr/>
        </p:nvGrpSpPr>
        <p:grpSpPr>
          <a:xfrm>
            <a:off x="1451602" y="3098607"/>
            <a:ext cx="661988" cy="331200"/>
            <a:chOff x="367636" y="2409445"/>
            <a:chExt cx="661988" cy="33120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20" name="圆角矩形 619">
              <a:extLst>
                <a:ext uri="{FF2B5EF4-FFF2-40B4-BE49-F238E27FC236}">
                  <a16:creationId xmlns:a16="http://schemas.microsoft.com/office/drawing/2014/main" id="{371358BF-0CC4-2EC3-5384-6FAD421AB305}"/>
                </a:ext>
              </a:extLst>
            </p:cNvPr>
            <p:cNvSpPr/>
            <p:nvPr/>
          </p:nvSpPr>
          <p:spPr>
            <a:xfrm>
              <a:off x="367636" y="240944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1" name="圆角矩形 620">
              <a:extLst>
                <a:ext uri="{FF2B5EF4-FFF2-40B4-BE49-F238E27FC236}">
                  <a16:creationId xmlns:a16="http://schemas.microsoft.com/office/drawing/2014/main" id="{D391097D-F769-E338-216A-D02EC7F432F8}"/>
                </a:ext>
              </a:extLst>
            </p:cNvPr>
            <p:cNvSpPr/>
            <p:nvPr/>
          </p:nvSpPr>
          <p:spPr>
            <a:xfrm>
              <a:off x="699424" y="240944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68" name="图形 567" descr="关闭 纯色填充">
            <a:extLst>
              <a:ext uri="{FF2B5EF4-FFF2-40B4-BE49-F238E27FC236}">
                <a16:creationId xmlns:a16="http://schemas.microsoft.com/office/drawing/2014/main" id="{569A8AE2-7853-3073-F638-409567FD53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56940" y="3089964"/>
            <a:ext cx="331200" cy="331200"/>
          </a:xfrm>
          <a:prstGeom prst="rect">
            <a:avLst/>
          </a:prstGeom>
        </p:spPr>
      </p:pic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597C7E66-7EB0-F2ED-10B2-BF359BE14838}"/>
              </a:ext>
            </a:extLst>
          </p:cNvPr>
          <p:cNvGrpSpPr/>
          <p:nvPr/>
        </p:nvGrpSpPr>
        <p:grpSpPr>
          <a:xfrm>
            <a:off x="4462582" y="2876706"/>
            <a:ext cx="878756" cy="1125553"/>
            <a:chOff x="5093587" y="2151979"/>
            <a:chExt cx="878756" cy="1125553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613" name="圆角矩形 612">
              <a:extLst>
                <a:ext uri="{FF2B5EF4-FFF2-40B4-BE49-F238E27FC236}">
                  <a16:creationId xmlns:a16="http://schemas.microsoft.com/office/drawing/2014/main" id="{E90EA4CC-0325-F607-E66D-73BAE533937D}"/>
                </a:ext>
              </a:extLst>
            </p:cNvPr>
            <p:cNvSpPr/>
            <p:nvPr/>
          </p:nvSpPr>
          <p:spPr>
            <a:xfrm>
              <a:off x="5310355" y="2151979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4" name="圆角矩形 613">
              <a:extLst>
                <a:ext uri="{FF2B5EF4-FFF2-40B4-BE49-F238E27FC236}">
                  <a16:creationId xmlns:a16="http://schemas.microsoft.com/office/drawing/2014/main" id="{24958324-C653-96C8-AC09-CFB62F770B84}"/>
                </a:ext>
              </a:extLst>
            </p:cNvPr>
            <p:cNvSpPr/>
            <p:nvPr/>
          </p:nvSpPr>
          <p:spPr>
            <a:xfrm>
              <a:off x="5642143" y="2151979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5" name="圆角矩形 614">
              <a:extLst>
                <a:ext uri="{FF2B5EF4-FFF2-40B4-BE49-F238E27FC236}">
                  <a16:creationId xmlns:a16="http://schemas.microsoft.com/office/drawing/2014/main" id="{532535CA-4D2C-8978-B335-8A8DC38C9D80}"/>
                </a:ext>
              </a:extLst>
            </p:cNvPr>
            <p:cNvSpPr/>
            <p:nvPr/>
          </p:nvSpPr>
          <p:spPr>
            <a:xfrm>
              <a:off x="5220171" y="229992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6" name="圆角矩形 615">
              <a:extLst>
                <a:ext uri="{FF2B5EF4-FFF2-40B4-BE49-F238E27FC236}">
                  <a16:creationId xmlns:a16="http://schemas.microsoft.com/office/drawing/2014/main" id="{8518A66E-C6EC-E461-DF0B-92B6A8677D5A}"/>
                </a:ext>
              </a:extLst>
            </p:cNvPr>
            <p:cNvSpPr/>
            <p:nvPr/>
          </p:nvSpPr>
          <p:spPr>
            <a:xfrm>
              <a:off x="5551959" y="229992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7" name="圆角矩形 616">
              <a:extLst>
                <a:ext uri="{FF2B5EF4-FFF2-40B4-BE49-F238E27FC236}">
                  <a16:creationId xmlns:a16="http://schemas.microsoft.com/office/drawing/2014/main" id="{371D5F09-187B-6EC0-4B33-557E9FDDE6E0}"/>
                </a:ext>
              </a:extLst>
            </p:cNvPr>
            <p:cNvSpPr/>
            <p:nvPr/>
          </p:nvSpPr>
          <p:spPr>
            <a:xfrm>
              <a:off x="5093587" y="246552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8" name="圆角矩形 617">
              <a:extLst>
                <a:ext uri="{FF2B5EF4-FFF2-40B4-BE49-F238E27FC236}">
                  <a16:creationId xmlns:a16="http://schemas.microsoft.com/office/drawing/2014/main" id="{E1D17DD9-639F-A087-56A1-603AB6AD8C66}"/>
                </a:ext>
              </a:extLst>
            </p:cNvPr>
            <p:cNvSpPr/>
            <p:nvPr/>
          </p:nvSpPr>
          <p:spPr>
            <a:xfrm>
              <a:off x="5425375" y="246552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9" name="文本框 618">
              <a:extLst>
                <a:ext uri="{FF2B5EF4-FFF2-40B4-BE49-F238E27FC236}">
                  <a16:creationId xmlns:a16="http://schemas.microsoft.com/office/drawing/2014/main" id="{5DFCEF93-44FE-A01E-14E5-12D41CB6DB1C}"/>
                </a:ext>
              </a:extLst>
            </p:cNvPr>
            <p:cNvSpPr txBox="1"/>
            <p:nvPr/>
          </p:nvSpPr>
          <p:spPr>
            <a:xfrm>
              <a:off x="5159368" y="2908200"/>
              <a:ext cx="713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Q K 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0" name="组合 569">
            <a:extLst>
              <a:ext uri="{FF2B5EF4-FFF2-40B4-BE49-F238E27FC236}">
                <a16:creationId xmlns:a16="http://schemas.microsoft.com/office/drawing/2014/main" id="{66121212-A952-591F-2486-F367143D536A}"/>
              </a:ext>
            </a:extLst>
          </p:cNvPr>
          <p:cNvGrpSpPr/>
          <p:nvPr/>
        </p:nvGrpSpPr>
        <p:grpSpPr>
          <a:xfrm>
            <a:off x="2716408" y="2839594"/>
            <a:ext cx="1269040" cy="1162665"/>
            <a:chOff x="2566455" y="2242960"/>
            <a:chExt cx="1269040" cy="1162665"/>
          </a:xfrm>
        </p:grpSpPr>
        <p:sp>
          <p:nvSpPr>
            <p:cNvPr id="607" name="文本框 606">
              <a:extLst>
                <a:ext uri="{FF2B5EF4-FFF2-40B4-BE49-F238E27FC236}">
                  <a16:creationId xmlns:a16="http://schemas.microsoft.com/office/drawing/2014/main" id="{F5289CF2-2DA1-0367-74D2-43F4BC18EB8C}"/>
                </a:ext>
              </a:extLst>
            </p:cNvPr>
            <p:cNvSpPr txBox="1"/>
            <p:nvPr/>
          </p:nvSpPr>
          <p:spPr>
            <a:xfrm>
              <a:off x="2566455" y="3036293"/>
              <a:ext cx="1269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W</a:t>
              </a:r>
              <a:r>
                <a:rPr kumimoji="1" lang="en-US" altLang="zh-CN" baseline="-25000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08" name="组合 607">
              <a:extLst>
                <a:ext uri="{FF2B5EF4-FFF2-40B4-BE49-F238E27FC236}">
                  <a16:creationId xmlns:a16="http://schemas.microsoft.com/office/drawing/2014/main" id="{41B820B9-C056-7E4E-6EED-B00A9FCB935D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9C66CD73-7CEB-D78A-CB90-88360E5414A5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FF4F2746-C93A-CA3E-C63A-E289C6E5F4B9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6B9D6DF8-2B4F-F256-3520-293A23111AEC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DA3B7F4F-A144-63B1-29C9-36A34206B711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F68B327F-9377-A498-FBDE-FC4424ED5CF6}"/>
              </a:ext>
            </a:extLst>
          </p:cNvPr>
          <p:cNvGrpSpPr/>
          <p:nvPr/>
        </p:nvGrpSpPr>
        <p:grpSpPr>
          <a:xfrm>
            <a:off x="5775569" y="2798490"/>
            <a:ext cx="697627" cy="1203770"/>
            <a:chOff x="7340255" y="2113925"/>
            <a:chExt cx="697627" cy="1203770"/>
          </a:xfrm>
        </p:grpSpPr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EE6247AD-1F43-BAE6-88EC-958CA18A2BD6}"/>
                </a:ext>
              </a:extLst>
            </p:cNvPr>
            <p:cNvGrpSpPr/>
            <p:nvPr/>
          </p:nvGrpSpPr>
          <p:grpSpPr>
            <a:xfrm>
              <a:off x="7455094" y="2113925"/>
              <a:ext cx="568818" cy="833186"/>
              <a:chOff x="7164505" y="2114368"/>
              <a:chExt cx="568818" cy="833186"/>
            </a:xfrm>
          </p:grpSpPr>
          <p:sp>
            <p:nvSpPr>
              <p:cNvPr id="601" name="圆角矩形 600">
                <a:extLst>
                  <a:ext uri="{FF2B5EF4-FFF2-40B4-BE49-F238E27FC236}">
                    <a16:creationId xmlns:a16="http://schemas.microsoft.com/office/drawing/2014/main" id="{8699B337-DE81-5310-B8A8-D56D57CB560E}"/>
                  </a:ext>
                </a:extLst>
              </p:cNvPr>
              <p:cNvSpPr/>
              <p:nvPr/>
            </p:nvSpPr>
            <p:spPr>
              <a:xfrm>
                <a:off x="7400722" y="2114368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圆角矩形 601">
                <a:extLst>
                  <a:ext uri="{FF2B5EF4-FFF2-40B4-BE49-F238E27FC236}">
                    <a16:creationId xmlns:a16="http://schemas.microsoft.com/office/drawing/2014/main" id="{923B08DF-E073-2DA7-57FF-9E8C99E979F4}"/>
                  </a:ext>
                </a:extLst>
              </p:cNvPr>
              <p:cNvSpPr/>
              <p:nvPr/>
            </p:nvSpPr>
            <p:spPr>
              <a:xfrm>
                <a:off x="7403123" y="2450754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3" name="圆角矩形 602">
                <a:extLst>
                  <a:ext uri="{FF2B5EF4-FFF2-40B4-BE49-F238E27FC236}">
                    <a16:creationId xmlns:a16="http://schemas.microsoft.com/office/drawing/2014/main" id="{9F9FDF76-3309-EBD1-9263-9CB703F46188}"/>
                  </a:ext>
                </a:extLst>
              </p:cNvPr>
              <p:cNvSpPr/>
              <p:nvPr/>
            </p:nvSpPr>
            <p:spPr>
              <a:xfrm>
                <a:off x="7287362" y="2199829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4" name="圆角矩形 603">
                <a:extLst>
                  <a:ext uri="{FF2B5EF4-FFF2-40B4-BE49-F238E27FC236}">
                    <a16:creationId xmlns:a16="http://schemas.microsoft.com/office/drawing/2014/main" id="{DE4530D8-F189-DEDB-DC41-C7F174A6BC2F}"/>
                  </a:ext>
                </a:extLst>
              </p:cNvPr>
              <p:cNvSpPr/>
              <p:nvPr/>
            </p:nvSpPr>
            <p:spPr>
              <a:xfrm>
                <a:off x="7289763" y="2536215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5" name="圆角矩形 604">
                <a:extLst>
                  <a:ext uri="{FF2B5EF4-FFF2-40B4-BE49-F238E27FC236}">
                    <a16:creationId xmlns:a16="http://schemas.microsoft.com/office/drawing/2014/main" id="{38735F33-F01F-3E3D-B6A4-998054498F16}"/>
                  </a:ext>
                </a:extLst>
              </p:cNvPr>
              <p:cNvSpPr/>
              <p:nvPr/>
            </p:nvSpPr>
            <p:spPr>
              <a:xfrm>
                <a:off x="7164505" y="2279968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6" name="圆角矩形 605">
                <a:extLst>
                  <a:ext uri="{FF2B5EF4-FFF2-40B4-BE49-F238E27FC236}">
                    <a16:creationId xmlns:a16="http://schemas.microsoft.com/office/drawing/2014/main" id="{D27302AE-3408-7E93-F8E3-7D5DF75B78DA}"/>
                  </a:ext>
                </a:extLst>
              </p:cNvPr>
              <p:cNvSpPr/>
              <p:nvPr/>
            </p:nvSpPr>
            <p:spPr>
              <a:xfrm>
                <a:off x="7166906" y="2616354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00" name="文本框 599">
              <a:extLst>
                <a:ext uri="{FF2B5EF4-FFF2-40B4-BE49-F238E27FC236}">
                  <a16:creationId xmlns:a16="http://schemas.microsoft.com/office/drawing/2014/main" id="{63822A63-882E-6A2F-514E-4C602C13274C}"/>
                </a:ext>
              </a:extLst>
            </p:cNvPr>
            <p:cNvSpPr txBox="1"/>
            <p:nvPr/>
          </p:nvSpPr>
          <p:spPr>
            <a:xfrm>
              <a:off x="7340255" y="2948363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2" name="组合 571">
            <a:extLst>
              <a:ext uri="{FF2B5EF4-FFF2-40B4-BE49-F238E27FC236}">
                <a16:creationId xmlns:a16="http://schemas.microsoft.com/office/drawing/2014/main" id="{A98388EB-FF2C-3957-1B16-6AD403674A76}"/>
              </a:ext>
            </a:extLst>
          </p:cNvPr>
          <p:cNvGrpSpPr/>
          <p:nvPr/>
        </p:nvGrpSpPr>
        <p:grpSpPr>
          <a:xfrm>
            <a:off x="6888878" y="2856487"/>
            <a:ext cx="1118511" cy="1128563"/>
            <a:chOff x="8390493" y="2214134"/>
            <a:chExt cx="1118511" cy="1128563"/>
          </a:xfrm>
        </p:grpSpPr>
        <p:sp>
          <p:nvSpPr>
            <p:cNvPr id="596" name="圆角矩形 595">
              <a:extLst>
                <a:ext uri="{FF2B5EF4-FFF2-40B4-BE49-F238E27FC236}">
                  <a16:creationId xmlns:a16="http://schemas.microsoft.com/office/drawing/2014/main" id="{1A251C7A-9308-FFFC-F44E-5EEF26298947}"/>
                </a:ext>
              </a:extLst>
            </p:cNvPr>
            <p:cNvSpPr/>
            <p:nvPr/>
          </p:nvSpPr>
          <p:spPr>
            <a:xfrm>
              <a:off x="8864625" y="2214134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7" name="圆角矩形 596">
              <a:extLst>
                <a:ext uri="{FF2B5EF4-FFF2-40B4-BE49-F238E27FC236}">
                  <a16:creationId xmlns:a16="http://schemas.microsoft.com/office/drawing/2014/main" id="{62BF2914-9938-CC90-CB13-AFBAA7E70E4A}"/>
                </a:ext>
              </a:extLst>
            </p:cNvPr>
            <p:cNvSpPr/>
            <p:nvPr/>
          </p:nvSpPr>
          <p:spPr>
            <a:xfrm>
              <a:off x="8864625" y="2535772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8" name="文本框 597">
              <a:extLst>
                <a:ext uri="{FF2B5EF4-FFF2-40B4-BE49-F238E27FC236}">
                  <a16:creationId xmlns:a16="http://schemas.microsoft.com/office/drawing/2014/main" id="{74CEEB59-CDCE-3CCE-79D1-073A5D6B394E}"/>
                </a:ext>
              </a:extLst>
            </p:cNvPr>
            <p:cNvSpPr txBox="1"/>
            <p:nvPr/>
          </p:nvSpPr>
          <p:spPr>
            <a:xfrm>
              <a:off x="8390493" y="2973365"/>
              <a:ext cx="1118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attn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score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3" name="组合 572">
            <a:extLst>
              <a:ext uri="{FF2B5EF4-FFF2-40B4-BE49-F238E27FC236}">
                <a16:creationId xmlns:a16="http://schemas.microsoft.com/office/drawing/2014/main" id="{E6655CE2-539E-9A6F-F481-B8DD95811D5A}"/>
              </a:ext>
            </a:extLst>
          </p:cNvPr>
          <p:cNvGrpSpPr/>
          <p:nvPr/>
        </p:nvGrpSpPr>
        <p:grpSpPr>
          <a:xfrm>
            <a:off x="8475172" y="3045603"/>
            <a:ext cx="1259704" cy="956657"/>
            <a:chOff x="9672788" y="2370172"/>
            <a:chExt cx="1259704" cy="956657"/>
          </a:xfrm>
        </p:grpSpPr>
        <p:grpSp>
          <p:nvGrpSpPr>
            <p:cNvPr id="592" name="组合 591">
              <a:extLst>
                <a:ext uri="{FF2B5EF4-FFF2-40B4-BE49-F238E27FC236}">
                  <a16:creationId xmlns:a16="http://schemas.microsoft.com/office/drawing/2014/main" id="{AB1BB7A9-6653-0308-8D88-11E82FBC68F9}"/>
                </a:ext>
              </a:extLst>
            </p:cNvPr>
            <p:cNvGrpSpPr/>
            <p:nvPr/>
          </p:nvGrpSpPr>
          <p:grpSpPr>
            <a:xfrm>
              <a:off x="10028039" y="2370172"/>
              <a:ext cx="661988" cy="331200"/>
              <a:chOff x="367636" y="2409445"/>
              <a:chExt cx="661988" cy="331200"/>
            </a:xfrm>
          </p:grpSpPr>
          <p:sp>
            <p:nvSpPr>
              <p:cNvPr id="594" name="圆角矩形 593">
                <a:extLst>
                  <a:ext uri="{FF2B5EF4-FFF2-40B4-BE49-F238E27FC236}">
                    <a16:creationId xmlns:a16="http://schemas.microsoft.com/office/drawing/2014/main" id="{A955F4DC-9294-7F75-6CCF-0212FA081539}"/>
                  </a:ext>
                </a:extLst>
              </p:cNvPr>
              <p:cNvSpPr/>
              <p:nvPr/>
            </p:nvSpPr>
            <p:spPr>
              <a:xfrm>
                <a:off x="367636" y="2409445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5" name="圆角矩形 594">
                <a:extLst>
                  <a:ext uri="{FF2B5EF4-FFF2-40B4-BE49-F238E27FC236}">
                    <a16:creationId xmlns:a16="http://schemas.microsoft.com/office/drawing/2014/main" id="{713D99B7-EE0A-20E5-91A3-4908B8304931}"/>
                  </a:ext>
                </a:extLst>
              </p:cNvPr>
              <p:cNvSpPr/>
              <p:nvPr/>
            </p:nvSpPr>
            <p:spPr>
              <a:xfrm>
                <a:off x="699424" y="2409445"/>
                <a:ext cx="330200" cy="331200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93" name="文本框 592">
              <a:extLst>
                <a:ext uri="{FF2B5EF4-FFF2-40B4-BE49-F238E27FC236}">
                  <a16:creationId xmlns:a16="http://schemas.microsoft.com/office/drawing/2014/main" id="{D3387461-1A8D-7E29-DB8F-1088F0B3FDB3}"/>
                </a:ext>
              </a:extLst>
            </p:cNvPr>
            <p:cNvSpPr txBox="1"/>
            <p:nvPr/>
          </p:nvSpPr>
          <p:spPr>
            <a:xfrm>
              <a:off x="9672788" y="2957497"/>
              <a:ext cx="1259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attn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output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4" name="组合 573">
            <a:extLst>
              <a:ext uri="{FF2B5EF4-FFF2-40B4-BE49-F238E27FC236}">
                <a16:creationId xmlns:a16="http://schemas.microsoft.com/office/drawing/2014/main" id="{0FD6E851-FE2C-C339-F778-C6ADBDAADE34}"/>
              </a:ext>
            </a:extLst>
          </p:cNvPr>
          <p:cNvGrpSpPr/>
          <p:nvPr/>
        </p:nvGrpSpPr>
        <p:grpSpPr>
          <a:xfrm>
            <a:off x="10371791" y="2853545"/>
            <a:ext cx="767671" cy="1148715"/>
            <a:chOff x="2811837" y="2242960"/>
            <a:chExt cx="767671" cy="1148715"/>
          </a:xfrm>
        </p:grpSpPr>
        <p:sp>
          <p:nvSpPr>
            <p:cNvPr id="586" name="文本框 585">
              <a:extLst>
                <a:ext uri="{FF2B5EF4-FFF2-40B4-BE49-F238E27FC236}">
                  <a16:creationId xmlns:a16="http://schemas.microsoft.com/office/drawing/2014/main" id="{C020FB82-BABC-CA12-970F-02E65AF415A8}"/>
                </a:ext>
              </a:extLst>
            </p:cNvPr>
            <p:cNvSpPr txBox="1"/>
            <p:nvPr/>
          </p:nvSpPr>
          <p:spPr>
            <a:xfrm>
              <a:off x="2830668" y="3022343"/>
              <a:ext cx="748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MLP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87" name="组合 586">
              <a:extLst>
                <a:ext uri="{FF2B5EF4-FFF2-40B4-BE49-F238E27FC236}">
                  <a16:creationId xmlns:a16="http://schemas.microsoft.com/office/drawing/2014/main" id="{514016FC-D77E-906E-02D1-0A486015009C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588" name="矩形 587">
                <a:extLst>
                  <a:ext uri="{FF2B5EF4-FFF2-40B4-BE49-F238E27FC236}">
                    <a16:creationId xmlns:a16="http://schemas.microsoft.com/office/drawing/2014/main" id="{1CBE523C-41F6-164C-E69E-AD283B04615E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9" name="矩形 588">
                <a:extLst>
                  <a:ext uri="{FF2B5EF4-FFF2-40B4-BE49-F238E27FC236}">
                    <a16:creationId xmlns:a16="http://schemas.microsoft.com/office/drawing/2014/main" id="{968BF2C2-BEA1-CF07-76CF-2918E76587B5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0" name="矩形 589">
                <a:extLst>
                  <a:ext uri="{FF2B5EF4-FFF2-40B4-BE49-F238E27FC236}">
                    <a16:creationId xmlns:a16="http://schemas.microsoft.com/office/drawing/2014/main" id="{23110DE8-F3AC-E904-5758-F9693D23AD3C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1" name="矩形 590">
                <a:extLst>
                  <a:ext uri="{FF2B5EF4-FFF2-40B4-BE49-F238E27FC236}">
                    <a16:creationId xmlns:a16="http://schemas.microsoft.com/office/drawing/2014/main" id="{6EDEBAAD-B9C3-F952-DEEE-6EE43A75C8F6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75" name="文本框 574">
            <a:extLst>
              <a:ext uri="{FF2B5EF4-FFF2-40B4-BE49-F238E27FC236}">
                <a16:creationId xmlns:a16="http://schemas.microsoft.com/office/drawing/2014/main" id="{B995E6C6-136B-E1A3-8074-7F14551B20C6}"/>
              </a:ext>
            </a:extLst>
          </p:cNvPr>
          <p:cNvSpPr txBox="1"/>
          <p:nvPr/>
        </p:nvSpPr>
        <p:spPr>
          <a:xfrm>
            <a:off x="11619267" y="2994095"/>
            <a:ext cx="48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6" name="圆角矩形 575">
            <a:extLst>
              <a:ext uri="{FF2B5EF4-FFF2-40B4-BE49-F238E27FC236}">
                <a16:creationId xmlns:a16="http://schemas.microsoft.com/office/drawing/2014/main" id="{52BA3E79-D0F8-DCAB-C543-B7A9DF704814}"/>
              </a:ext>
            </a:extLst>
          </p:cNvPr>
          <p:cNvSpPr/>
          <p:nvPr/>
        </p:nvSpPr>
        <p:spPr>
          <a:xfrm rot="16200000">
            <a:off x="5862934" y="-2268855"/>
            <a:ext cx="1640632" cy="1093904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7" name="直线箭头连接符 576">
            <a:extLst>
              <a:ext uri="{FF2B5EF4-FFF2-40B4-BE49-F238E27FC236}">
                <a16:creationId xmlns:a16="http://schemas.microsoft.com/office/drawing/2014/main" id="{102DEA38-4B88-2300-5635-6E53210EAC7E}"/>
              </a:ext>
            </a:extLst>
          </p:cNvPr>
          <p:cNvCxnSpPr>
            <a:cxnSpLocks/>
            <a:stCxn id="618" idx="3"/>
            <a:endCxn id="605" idx="1"/>
          </p:cNvCxnSpPr>
          <p:nvPr/>
        </p:nvCxnSpPr>
        <p:spPr>
          <a:xfrm flipV="1">
            <a:off x="5124570" y="3129690"/>
            <a:ext cx="765838" cy="226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直线箭头连接符 577">
            <a:extLst>
              <a:ext uri="{FF2B5EF4-FFF2-40B4-BE49-F238E27FC236}">
                <a16:creationId xmlns:a16="http://schemas.microsoft.com/office/drawing/2014/main" id="{745FBE00-DF1E-7B19-E807-7CDB4E3CBAE0}"/>
              </a:ext>
            </a:extLst>
          </p:cNvPr>
          <p:cNvCxnSpPr>
            <a:cxnSpLocks/>
          </p:cNvCxnSpPr>
          <p:nvPr/>
        </p:nvCxnSpPr>
        <p:spPr>
          <a:xfrm>
            <a:off x="11023673" y="3183120"/>
            <a:ext cx="64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直线箭头连接符 578">
            <a:extLst>
              <a:ext uri="{FF2B5EF4-FFF2-40B4-BE49-F238E27FC236}">
                <a16:creationId xmlns:a16="http://schemas.microsoft.com/office/drawing/2014/main" id="{77403D48-000E-E941-50BA-C69138D87790}"/>
              </a:ext>
            </a:extLst>
          </p:cNvPr>
          <p:cNvCxnSpPr>
            <a:cxnSpLocks/>
          </p:cNvCxnSpPr>
          <p:nvPr/>
        </p:nvCxnSpPr>
        <p:spPr>
          <a:xfrm>
            <a:off x="9492411" y="3183120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直线箭头连接符 579">
            <a:extLst>
              <a:ext uri="{FF2B5EF4-FFF2-40B4-BE49-F238E27FC236}">
                <a16:creationId xmlns:a16="http://schemas.microsoft.com/office/drawing/2014/main" id="{FEC89FC0-40BF-E835-C7FE-0ED308CCC116}"/>
              </a:ext>
            </a:extLst>
          </p:cNvPr>
          <p:cNvCxnSpPr>
            <a:cxnSpLocks/>
          </p:cNvCxnSpPr>
          <p:nvPr/>
        </p:nvCxnSpPr>
        <p:spPr>
          <a:xfrm>
            <a:off x="3659396" y="3170794"/>
            <a:ext cx="82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线箭头连接符 580">
            <a:extLst>
              <a:ext uri="{FF2B5EF4-FFF2-40B4-BE49-F238E27FC236}">
                <a16:creationId xmlns:a16="http://schemas.microsoft.com/office/drawing/2014/main" id="{BAC6CC3C-EA7B-4E23-F42B-A21D046C49F5}"/>
              </a:ext>
            </a:extLst>
          </p:cNvPr>
          <p:cNvCxnSpPr>
            <a:cxnSpLocks/>
          </p:cNvCxnSpPr>
          <p:nvPr/>
        </p:nvCxnSpPr>
        <p:spPr>
          <a:xfrm>
            <a:off x="6456825" y="3184745"/>
            <a:ext cx="90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文本框 581">
            <a:extLst>
              <a:ext uri="{FF2B5EF4-FFF2-40B4-BE49-F238E27FC236}">
                <a16:creationId xmlns:a16="http://schemas.microsoft.com/office/drawing/2014/main" id="{8ADDA044-7BC1-D8C3-6AD8-ACA1DE32701A}"/>
              </a:ext>
            </a:extLst>
          </p:cNvPr>
          <p:cNvSpPr txBox="1"/>
          <p:nvPr/>
        </p:nvSpPr>
        <p:spPr>
          <a:xfrm>
            <a:off x="6193347" y="2394606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83" name="直线箭头连接符 582">
            <a:extLst>
              <a:ext uri="{FF2B5EF4-FFF2-40B4-BE49-F238E27FC236}">
                <a16:creationId xmlns:a16="http://schemas.microsoft.com/office/drawing/2014/main" id="{2EF432F6-4A76-FEF1-6A64-77BBC74E8AF9}"/>
              </a:ext>
            </a:extLst>
          </p:cNvPr>
          <p:cNvCxnSpPr>
            <a:cxnSpLocks/>
            <a:stCxn id="618" idx="3"/>
            <a:endCxn id="561" idx="1"/>
          </p:cNvCxnSpPr>
          <p:nvPr/>
        </p:nvCxnSpPr>
        <p:spPr>
          <a:xfrm>
            <a:off x="5124570" y="3355852"/>
            <a:ext cx="765838" cy="19925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线箭头连接符 583">
            <a:extLst>
              <a:ext uri="{FF2B5EF4-FFF2-40B4-BE49-F238E27FC236}">
                <a16:creationId xmlns:a16="http://schemas.microsoft.com/office/drawing/2014/main" id="{8DC89785-C01F-0669-10DD-633E50C72614}"/>
              </a:ext>
            </a:extLst>
          </p:cNvPr>
          <p:cNvCxnSpPr>
            <a:cxnSpLocks/>
            <a:stCxn id="596" idx="3"/>
            <a:endCxn id="594" idx="1"/>
          </p:cNvCxnSpPr>
          <p:nvPr/>
        </p:nvCxnSpPr>
        <p:spPr>
          <a:xfrm>
            <a:off x="7693210" y="3022087"/>
            <a:ext cx="1137213" cy="1891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直线箭头连接符 584">
            <a:extLst>
              <a:ext uri="{FF2B5EF4-FFF2-40B4-BE49-F238E27FC236}">
                <a16:creationId xmlns:a16="http://schemas.microsoft.com/office/drawing/2014/main" id="{73F59FA1-D149-40EC-BEAF-098211ECCF2A}"/>
              </a:ext>
            </a:extLst>
          </p:cNvPr>
          <p:cNvCxnSpPr>
            <a:cxnSpLocks/>
            <a:stCxn id="597" idx="3"/>
            <a:endCxn id="555" idx="1"/>
          </p:cNvCxnSpPr>
          <p:nvPr/>
        </p:nvCxnSpPr>
        <p:spPr>
          <a:xfrm>
            <a:off x="7693210" y="3343725"/>
            <a:ext cx="1137213" cy="2086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圆角矩形 518">
            <a:extLst>
              <a:ext uri="{FF2B5EF4-FFF2-40B4-BE49-F238E27FC236}">
                <a16:creationId xmlns:a16="http://schemas.microsoft.com/office/drawing/2014/main" id="{5674DF2D-AB16-8EDF-DFF5-B8720F8EE97C}"/>
              </a:ext>
            </a:extLst>
          </p:cNvPr>
          <p:cNvSpPr/>
          <p:nvPr/>
        </p:nvSpPr>
        <p:spPr>
          <a:xfrm>
            <a:off x="1462862" y="5214869"/>
            <a:ext cx="330200" cy="331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0" name="圆角矩形 519">
            <a:extLst>
              <a:ext uri="{FF2B5EF4-FFF2-40B4-BE49-F238E27FC236}">
                <a16:creationId xmlns:a16="http://schemas.microsoft.com/office/drawing/2014/main" id="{FB2F81AD-753A-3F39-592D-38CB557632EC}"/>
              </a:ext>
            </a:extLst>
          </p:cNvPr>
          <p:cNvSpPr/>
          <p:nvPr/>
        </p:nvSpPr>
        <p:spPr>
          <a:xfrm>
            <a:off x="1794650" y="5214869"/>
            <a:ext cx="330200" cy="331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1" name="图形 520" descr="关闭 纯色填充">
            <a:extLst>
              <a:ext uri="{FF2B5EF4-FFF2-40B4-BE49-F238E27FC236}">
                <a16:creationId xmlns:a16="http://schemas.microsoft.com/office/drawing/2014/main" id="{59D8B651-5724-9D2A-D3E9-017409E1AD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68200" y="5206226"/>
            <a:ext cx="331200" cy="3312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26BEC384-04D3-A0A7-FD22-641B7F7BE1FA}"/>
              </a:ext>
            </a:extLst>
          </p:cNvPr>
          <p:cNvGrpSpPr/>
          <p:nvPr/>
        </p:nvGrpSpPr>
        <p:grpSpPr>
          <a:xfrm>
            <a:off x="4473842" y="4992968"/>
            <a:ext cx="878756" cy="644746"/>
            <a:chOff x="4324872" y="4993287"/>
            <a:chExt cx="878756" cy="644746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522" name="圆角矩形 521">
              <a:extLst>
                <a:ext uri="{FF2B5EF4-FFF2-40B4-BE49-F238E27FC236}">
                  <a16:creationId xmlns:a16="http://schemas.microsoft.com/office/drawing/2014/main" id="{F508769C-B2DB-DE01-5756-E6528BA02BEB}"/>
                </a:ext>
              </a:extLst>
            </p:cNvPr>
            <p:cNvSpPr/>
            <p:nvPr/>
          </p:nvSpPr>
          <p:spPr>
            <a:xfrm>
              <a:off x="4541640" y="4993287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3" name="圆角矩形 522">
              <a:extLst>
                <a:ext uri="{FF2B5EF4-FFF2-40B4-BE49-F238E27FC236}">
                  <a16:creationId xmlns:a16="http://schemas.microsoft.com/office/drawing/2014/main" id="{E7A04CB3-213B-06C7-9E6A-CDC75F76D643}"/>
                </a:ext>
              </a:extLst>
            </p:cNvPr>
            <p:cNvSpPr/>
            <p:nvPr/>
          </p:nvSpPr>
          <p:spPr>
            <a:xfrm>
              <a:off x="4873428" y="4993287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4" name="圆角矩形 523">
              <a:extLst>
                <a:ext uri="{FF2B5EF4-FFF2-40B4-BE49-F238E27FC236}">
                  <a16:creationId xmlns:a16="http://schemas.microsoft.com/office/drawing/2014/main" id="{C4E3E0DD-2E7C-C1BA-A250-7FDE5B4CC58E}"/>
                </a:ext>
              </a:extLst>
            </p:cNvPr>
            <p:cNvSpPr/>
            <p:nvPr/>
          </p:nvSpPr>
          <p:spPr>
            <a:xfrm>
              <a:off x="4451456" y="5141233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5" name="圆角矩形 524">
              <a:extLst>
                <a:ext uri="{FF2B5EF4-FFF2-40B4-BE49-F238E27FC236}">
                  <a16:creationId xmlns:a16="http://schemas.microsoft.com/office/drawing/2014/main" id="{FE481205-FD98-46BD-C59A-5F0D265C3CE6}"/>
                </a:ext>
              </a:extLst>
            </p:cNvPr>
            <p:cNvSpPr/>
            <p:nvPr/>
          </p:nvSpPr>
          <p:spPr>
            <a:xfrm>
              <a:off x="4783244" y="5141233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6" name="圆角矩形 525">
              <a:extLst>
                <a:ext uri="{FF2B5EF4-FFF2-40B4-BE49-F238E27FC236}">
                  <a16:creationId xmlns:a16="http://schemas.microsoft.com/office/drawing/2014/main" id="{01337275-57F3-ADE9-019C-0C0D63D7DE59}"/>
                </a:ext>
              </a:extLst>
            </p:cNvPr>
            <p:cNvSpPr/>
            <p:nvPr/>
          </p:nvSpPr>
          <p:spPr>
            <a:xfrm>
              <a:off x="4324872" y="5306833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7" name="圆角矩形 526">
              <a:extLst>
                <a:ext uri="{FF2B5EF4-FFF2-40B4-BE49-F238E27FC236}">
                  <a16:creationId xmlns:a16="http://schemas.microsoft.com/office/drawing/2014/main" id="{FB20AE0A-4CD5-8327-1E2A-13D604487F44}"/>
                </a:ext>
              </a:extLst>
            </p:cNvPr>
            <p:cNvSpPr/>
            <p:nvPr/>
          </p:nvSpPr>
          <p:spPr>
            <a:xfrm>
              <a:off x="4656660" y="5306833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28" name="文本框 527">
            <a:extLst>
              <a:ext uri="{FF2B5EF4-FFF2-40B4-BE49-F238E27FC236}">
                <a16:creationId xmlns:a16="http://schemas.microsoft.com/office/drawing/2014/main" id="{04B874D6-5B6D-C39E-E725-121C5358620E}"/>
              </a:ext>
            </a:extLst>
          </p:cNvPr>
          <p:cNvSpPr txBox="1"/>
          <p:nvPr/>
        </p:nvSpPr>
        <p:spPr>
          <a:xfrm>
            <a:off x="4540066" y="5749189"/>
            <a:ext cx="6914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 K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B4C31377-B487-1B46-1AF1-F388F4D3D1D3}"/>
              </a:ext>
            </a:extLst>
          </p:cNvPr>
          <p:cNvGrpSpPr/>
          <p:nvPr/>
        </p:nvGrpSpPr>
        <p:grpSpPr>
          <a:xfrm>
            <a:off x="5901668" y="4914752"/>
            <a:ext cx="568818" cy="833186"/>
            <a:chOff x="7164505" y="2114368"/>
            <a:chExt cx="568818" cy="833186"/>
          </a:xfrm>
        </p:grpSpPr>
        <p:sp>
          <p:nvSpPr>
            <p:cNvPr id="557" name="圆角矩形 556">
              <a:extLst>
                <a:ext uri="{FF2B5EF4-FFF2-40B4-BE49-F238E27FC236}">
                  <a16:creationId xmlns:a16="http://schemas.microsoft.com/office/drawing/2014/main" id="{59B3EE83-5623-D689-26BF-14BD62535BFE}"/>
                </a:ext>
              </a:extLst>
            </p:cNvPr>
            <p:cNvSpPr/>
            <p:nvPr/>
          </p:nvSpPr>
          <p:spPr>
            <a:xfrm>
              <a:off x="7400722" y="21143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8" name="圆角矩形 557">
              <a:extLst>
                <a:ext uri="{FF2B5EF4-FFF2-40B4-BE49-F238E27FC236}">
                  <a16:creationId xmlns:a16="http://schemas.microsoft.com/office/drawing/2014/main" id="{31DBA532-44D5-738F-9D11-115C33B113B0}"/>
                </a:ext>
              </a:extLst>
            </p:cNvPr>
            <p:cNvSpPr/>
            <p:nvPr/>
          </p:nvSpPr>
          <p:spPr>
            <a:xfrm>
              <a:off x="7403123" y="24507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9" name="圆角矩形 558">
              <a:extLst>
                <a:ext uri="{FF2B5EF4-FFF2-40B4-BE49-F238E27FC236}">
                  <a16:creationId xmlns:a16="http://schemas.microsoft.com/office/drawing/2014/main" id="{F1E3E952-9D6C-2772-46EC-18C06613396C}"/>
                </a:ext>
              </a:extLst>
            </p:cNvPr>
            <p:cNvSpPr/>
            <p:nvPr/>
          </p:nvSpPr>
          <p:spPr>
            <a:xfrm>
              <a:off x="7287362" y="2199829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0" name="圆角矩形 559">
              <a:extLst>
                <a:ext uri="{FF2B5EF4-FFF2-40B4-BE49-F238E27FC236}">
                  <a16:creationId xmlns:a16="http://schemas.microsoft.com/office/drawing/2014/main" id="{C6A4D1E7-4DDD-5AAE-2A36-B4797F403596}"/>
                </a:ext>
              </a:extLst>
            </p:cNvPr>
            <p:cNvSpPr/>
            <p:nvPr/>
          </p:nvSpPr>
          <p:spPr>
            <a:xfrm>
              <a:off x="7289763" y="2536215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1" name="圆角矩形 560">
              <a:extLst>
                <a:ext uri="{FF2B5EF4-FFF2-40B4-BE49-F238E27FC236}">
                  <a16:creationId xmlns:a16="http://schemas.microsoft.com/office/drawing/2014/main" id="{57D1B61A-7B51-F19C-411F-28045683E099}"/>
                </a:ext>
              </a:extLst>
            </p:cNvPr>
            <p:cNvSpPr/>
            <p:nvPr/>
          </p:nvSpPr>
          <p:spPr>
            <a:xfrm>
              <a:off x="7164505" y="2279968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2" name="圆角矩形 561">
              <a:extLst>
                <a:ext uri="{FF2B5EF4-FFF2-40B4-BE49-F238E27FC236}">
                  <a16:creationId xmlns:a16="http://schemas.microsoft.com/office/drawing/2014/main" id="{D36CF128-AD32-A0DD-08B1-DB45D3BFAAEE}"/>
                </a:ext>
              </a:extLst>
            </p:cNvPr>
            <p:cNvSpPr/>
            <p:nvPr/>
          </p:nvSpPr>
          <p:spPr>
            <a:xfrm>
              <a:off x="7166906" y="2616354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2" name="文本框 531">
            <a:extLst>
              <a:ext uri="{FF2B5EF4-FFF2-40B4-BE49-F238E27FC236}">
                <a16:creationId xmlns:a16="http://schemas.microsoft.com/office/drawing/2014/main" id="{A24D35A3-1708-DE19-ED19-D0FEDDBCFC11}"/>
              </a:ext>
            </a:extLst>
          </p:cNvPr>
          <p:cNvSpPr txBox="1"/>
          <p:nvPr/>
        </p:nvSpPr>
        <p:spPr>
          <a:xfrm>
            <a:off x="5786829" y="574919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3" name="圆角矩形 532">
            <a:extLst>
              <a:ext uri="{FF2B5EF4-FFF2-40B4-BE49-F238E27FC236}">
                <a16:creationId xmlns:a16="http://schemas.microsoft.com/office/drawing/2014/main" id="{46CC2446-4EA1-F4BB-3538-B36E84A97CF3}"/>
              </a:ext>
            </a:extLst>
          </p:cNvPr>
          <p:cNvSpPr/>
          <p:nvPr/>
        </p:nvSpPr>
        <p:spPr>
          <a:xfrm>
            <a:off x="7374270" y="4972749"/>
            <a:ext cx="330200" cy="3312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4" name="圆角矩形 533">
            <a:extLst>
              <a:ext uri="{FF2B5EF4-FFF2-40B4-BE49-F238E27FC236}">
                <a16:creationId xmlns:a16="http://schemas.microsoft.com/office/drawing/2014/main" id="{F955431A-D1CC-86AA-A370-3A7F8209F3CD}"/>
              </a:ext>
            </a:extLst>
          </p:cNvPr>
          <p:cNvSpPr/>
          <p:nvPr/>
        </p:nvSpPr>
        <p:spPr>
          <a:xfrm>
            <a:off x="7374270" y="5294387"/>
            <a:ext cx="330200" cy="3312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66980776-4657-E277-7DE6-420267F98043}"/>
              </a:ext>
            </a:extLst>
          </p:cNvPr>
          <p:cNvSpPr txBox="1"/>
          <p:nvPr/>
        </p:nvSpPr>
        <p:spPr>
          <a:xfrm>
            <a:off x="6864122" y="5707939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attn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6" name="组合 535">
            <a:extLst>
              <a:ext uri="{FF2B5EF4-FFF2-40B4-BE49-F238E27FC236}">
                <a16:creationId xmlns:a16="http://schemas.microsoft.com/office/drawing/2014/main" id="{688840E2-334E-1A6E-772C-83AB2EC4A319}"/>
              </a:ext>
            </a:extLst>
          </p:cNvPr>
          <p:cNvGrpSpPr/>
          <p:nvPr/>
        </p:nvGrpSpPr>
        <p:grpSpPr>
          <a:xfrm>
            <a:off x="8841683" y="5161865"/>
            <a:ext cx="661988" cy="331200"/>
            <a:chOff x="367636" y="2409445"/>
            <a:chExt cx="661988" cy="331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55" name="圆角矩形 554">
              <a:extLst>
                <a:ext uri="{FF2B5EF4-FFF2-40B4-BE49-F238E27FC236}">
                  <a16:creationId xmlns:a16="http://schemas.microsoft.com/office/drawing/2014/main" id="{C9967A1A-1A09-6A8B-FF2A-B833272A8AF3}"/>
                </a:ext>
              </a:extLst>
            </p:cNvPr>
            <p:cNvSpPr/>
            <p:nvPr/>
          </p:nvSpPr>
          <p:spPr>
            <a:xfrm>
              <a:off x="367636" y="2409445"/>
              <a:ext cx="330200" cy="331200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6" name="圆角矩形 555">
              <a:extLst>
                <a:ext uri="{FF2B5EF4-FFF2-40B4-BE49-F238E27FC236}">
                  <a16:creationId xmlns:a16="http://schemas.microsoft.com/office/drawing/2014/main" id="{102F38B2-9654-7431-8925-3A4C95763B7C}"/>
                </a:ext>
              </a:extLst>
            </p:cNvPr>
            <p:cNvSpPr/>
            <p:nvPr/>
          </p:nvSpPr>
          <p:spPr>
            <a:xfrm>
              <a:off x="699424" y="2409445"/>
              <a:ext cx="330200" cy="331200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7" name="文本框 536">
            <a:extLst>
              <a:ext uri="{FF2B5EF4-FFF2-40B4-BE49-F238E27FC236}">
                <a16:creationId xmlns:a16="http://schemas.microsoft.com/office/drawing/2014/main" id="{BFD900E1-1EBA-DF77-DF1A-5DC845255AEB}"/>
              </a:ext>
            </a:extLst>
          </p:cNvPr>
          <p:cNvSpPr txBox="1"/>
          <p:nvPr/>
        </p:nvSpPr>
        <p:spPr>
          <a:xfrm>
            <a:off x="8506928" y="5749190"/>
            <a:ext cx="12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attn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349BD5CF-ABB2-6A33-7508-4D7E063D8B03}"/>
              </a:ext>
            </a:extLst>
          </p:cNvPr>
          <p:cNvSpPr txBox="1"/>
          <p:nvPr/>
        </p:nvSpPr>
        <p:spPr>
          <a:xfrm>
            <a:off x="10401882" y="5749190"/>
            <a:ext cx="7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MLP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9" name="组合 538">
            <a:extLst>
              <a:ext uri="{FF2B5EF4-FFF2-40B4-BE49-F238E27FC236}">
                <a16:creationId xmlns:a16="http://schemas.microsoft.com/office/drawing/2014/main" id="{6CC6A21D-FD0B-E40D-C55A-C722EE162EE8}"/>
              </a:ext>
            </a:extLst>
          </p:cNvPr>
          <p:cNvGrpSpPr/>
          <p:nvPr/>
        </p:nvGrpSpPr>
        <p:grpSpPr>
          <a:xfrm>
            <a:off x="10383051" y="4969807"/>
            <a:ext cx="651882" cy="664169"/>
            <a:chOff x="5181536" y="4377688"/>
            <a:chExt cx="651882" cy="664169"/>
          </a:xfrm>
        </p:grpSpPr>
        <p:sp>
          <p:nvSpPr>
            <p:cNvPr id="551" name="矩形 550">
              <a:extLst>
                <a:ext uri="{FF2B5EF4-FFF2-40B4-BE49-F238E27FC236}">
                  <a16:creationId xmlns:a16="http://schemas.microsoft.com/office/drawing/2014/main" id="{12F1638D-536A-76F8-67C1-085EC6EA5B50}"/>
                </a:ext>
              </a:extLst>
            </p:cNvPr>
            <p:cNvSpPr/>
            <p:nvPr/>
          </p:nvSpPr>
          <p:spPr>
            <a:xfrm>
              <a:off x="5181536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3A540F3E-2900-4C49-3C69-FA30FD1C192C}"/>
                </a:ext>
              </a:extLst>
            </p:cNvPr>
            <p:cNvSpPr/>
            <p:nvPr/>
          </p:nvSpPr>
          <p:spPr>
            <a:xfrm>
              <a:off x="5507477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3" name="矩形 552">
              <a:extLst>
                <a:ext uri="{FF2B5EF4-FFF2-40B4-BE49-F238E27FC236}">
                  <a16:creationId xmlns:a16="http://schemas.microsoft.com/office/drawing/2014/main" id="{28577A1C-B856-17C9-661E-A702877FAB08}"/>
                </a:ext>
              </a:extLst>
            </p:cNvPr>
            <p:cNvSpPr/>
            <p:nvPr/>
          </p:nvSpPr>
          <p:spPr>
            <a:xfrm>
              <a:off x="5181536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4" name="矩形 553">
              <a:extLst>
                <a:ext uri="{FF2B5EF4-FFF2-40B4-BE49-F238E27FC236}">
                  <a16:creationId xmlns:a16="http://schemas.microsoft.com/office/drawing/2014/main" id="{60273755-179B-EAF2-581A-1D421598E850}"/>
                </a:ext>
              </a:extLst>
            </p:cNvPr>
            <p:cNvSpPr/>
            <p:nvPr/>
          </p:nvSpPr>
          <p:spPr>
            <a:xfrm>
              <a:off x="5507477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0" name="文本框 539">
            <a:extLst>
              <a:ext uri="{FF2B5EF4-FFF2-40B4-BE49-F238E27FC236}">
                <a16:creationId xmlns:a16="http://schemas.microsoft.com/office/drawing/2014/main" id="{04BE70E4-E161-715A-2AEF-65971B8F3BBD}"/>
              </a:ext>
            </a:extLst>
          </p:cNvPr>
          <p:cNvSpPr txBox="1"/>
          <p:nvPr/>
        </p:nvSpPr>
        <p:spPr>
          <a:xfrm>
            <a:off x="11630527" y="5110357"/>
            <a:ext cx="48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1" name="圆角矩形 540">
            <a:extLst>
              <a:ext uri="{FF2B5EF4-FFF2-40B4-BE49-F238E27FC236}">
                <a16:creationId xmlns:a16="http://schemas.microsoft.com/office/drawing/2014/main" id="{A27242A6-C982-2544-7094-4C7B09B6B2A0}"/>
              </a:ext>
            </a:extLst>
          </p:cNvPr>
          <p:cNvSpPr/>
          <p:nvPr/>
        </p:nvSpPr>
        <p:spPr>
          <a:xfrm rot="16200000">
            <a:off x="5874194" y="-152593"/>
            <a:ext cx="1640632" cy="1093904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2" name="直线箭头连接符 541">
            <a:extLst>
              <a:ext uri="{FF2B5EF4-FFF2-40B4-BE49-F238E27FC236}">
                <a16:creationId xmlns:a16="http://schemas.microsoft.com/office/drawing/2014/main" id="{6D2A2B92-140C-CF6B-4B2D-0684F2F8686D}"/>
              </a:ext>
            </a:extLst>
          </p:cNvPr>
          <p:cNvCxnSpPr>
            <a:cxnSpLocks/>
            <a:stCxn id="527" idx="3"/>
            <a:endCxn id="561" idx="1"/>
          </p:cNvCxnSpPr>
          <p:nvPr/>
        </p:nvCxnSpPr>
        <p:spPr>
          <a:xfrm flipV="1">
            <a:off x="5135830" y="5245952"/>
            <a:ext cx="765838" cy="226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直线箭头连接符 542">
            <a:extLst>
              <a:ext uri="{FF2B5EF4-FFF2-40B4-BE49-F238E27FC236}">
                <a16:creationId xmlns:a16="http://schemas.microsoft.com/office/drawing/2014/main" id="{2B2056A7-8BCD-6A03-9E15-5E4730C5DF8B}"/>
              </a:ext>
            </a:extLst>
          </p:cNvPr>
          <p:cNvCxnSpPr>
            <a:cxnSpLocks/>
          </p:cNvCxnSpPr>
          <p:nvPr/>
        </p:nvCxnSpPr>
        <p:spPr>
          <a:xfrm>
            <a:off x="11034933" y="5299382"/>
            <a:ext cx="64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直线箭头连接符 543">
            <a:extLst>
              <a:ext uri="{FF2B5EF4-FFF2-40B4-BE49-F238E27FC236}">
                <a16:creationId xmlns:a16="http://schemas.microsoft.com/office/drawing/2014/main" id="{CE16CC60-E871-E486-652B-72644D2473C3}"/>
              </a:ext>
            </a:extLst>
          </p:cNvPr>
          <p:cNvCxnSpPr>
            <a:cxnSpLocks/>
          </p:cNvCxnSpPr>
          <p:nvPr/>
        </p:nvCxnSpPr>
        <p:spPr>
          <a:xfrm>
            <a:off x="9503671" y="5299382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直线箭头连接符 544">
            <a:extLst>
              <a:ext uri="{FF2B5EF4-FFF2-40B4-BE49-F238E27FC236}">
                <a16:creationId xmlns:a16="http://schemas.microsoft.com/office/drawing/2014/main" id="{E6EC8041-2FB7-299E-5BB2-8C445EB5AF6A}"/>
              </a:ext>
            </a:extLst>
          </p:cNvPr>
          <p:cNvCxnSpPr>
            <a:cxnSpLocks/>
          </p:cNvCxnSpPr>
          <p:nvPr/>
        </p:nvCxnSpPr>
        <p:spPr>
          <a:xfrm>
            <a:off x="3670656" y="5287056"/>
            <a:ext cx="82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直线箭头连接符 545">
            <a:extLst>
              <a:ext uri="{FF2B5EF4-FFF2-40B4-BE49-F238E27FC236}">
                <a16:creationId xmlns:a16="http://schemas.microsoft.com/office/drawing/2014/main" id="{DD23FAC3-22B7-D903-F864-AE9D287E1D75}"/>
              </a:ext>
            </a:extLst>
          </p:cNvPr>
          <p:cNvCxnSpPr>
            <a:cxnSpLocks/>
          </p:cNvCxnSpPr>
          <p:nvPr/>
        </p:nvCxnSpPr>
        <p:spPr>
          <a:xfrm>
            <a:off x="6468085" y="5301007"/>
            <a:ext cx="90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文本框 546">
            <a:extLst>
              <a:ext uri="{FF2B5EF4-FFF2-40B4-BE49-F238E27FC236}">
                <a16:creationId xmlns:a16="http://schemas.microsoft.com/office/drawing/2014/main" id="{2DEC088B-2AF9-984E-C817-52D9FE6AECA8}"/>
              </a:ext>
            </a:extLst>
          </p:cNvPr>
          <p:cNvSpPr txBox="1"/>
          <p:nvPr/>
        </p:nvSpPr>
        <p:spPr>
          <a:xfrm>
            <a:off x="6204607" y="4510868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8" name="直线箭头连接符 547">
            <a:extLst>
              <a:ext uri="{FF2B5EF4-FFF2-40B4-BE49-F238E27FC236}">
                <a16:creationId xmlns:a16="http://schemas.microsoft.com/office/drawing/2014/main" id="{29D73972-A234-F648-B58D-6E53F68D4B78}"/>
              </a:ext>
            </a:extLst>
          </p:cNvPr>
          <p:cNvCxnSpPr>
            <a:cxnSpLocks/>
            <a:stCxn id="527" idx="3"/>
            <a:endCxn id="606" idx="1"/>
          </p:cNvCxnSpPr>
          <p:nvPr/>
        </p:nvCxnSpPr>
        <p:spPr>
          <a:xfrm flipV="1">
            <a:off x="5135830" y="3466076"/>
            <a:ext cx="756979" cy="2006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线箭头连接符 548">
            <a:extLst>
              <a:ext uri="{FF2B5EF4-FFF2-40B4-BE49-F238E27FC236}">
                <a16:creationId xmlns:a16="http://schemas.microsoft.com/office/drawing/2014/main" id="{8BB89C28-B595-0CF5-E170-02E5024330ED}"/>
              </a:ext>
            </a:extLst>
          </p:cNvPr>
          <p:cNvCxnSpPr>
            <a:cxnSpLocks/>
            <a:stCxn id="534" idx="3"/>
            <a:endCxn id="555" idx="1"/>
          </p:cNvCxnSpPr>
          <p:nvPr/>
        </p:nvCxnSpPr>
        <p:spPr>
          <a:xfrm flipV="1">
            <a:off x="7704470" y="5327465"/>
            <a:ext cx="1137213" cy="1325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线箭头连接符 549">
            <a:extLst>
              <a:ext uri="{FF2B5EF4-FFF2-40B4-BE49-F238E27FC236}">
                <a16:creationId xmlns:a16="http://schemas.microsoft.com/office/drawing/2014/main" id="{B1DEF7DD-E082-CA96-31A4-EBC71C4AC494}"/>
              </a:ext>
            </a:extLst>
          </p:cNvPr>
          <p:cNvCxnSpPr>
            <a:cxnSpLocks/>
            <a:stCxn id="533" idx="3"/>
            <a:endCxn id="594" idx="1"/>
          </p:cNvCxnSpPr>
          <p:nvPr/>
        </p:nvCxnSpPr>
        <p:spPr>
          <a:xfrm flipV="1">
            <a:off x="7704470" y="3211203"/>
            <a:ext cx="1125953" cy="19271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线箭头连接符 512">
            <a:extLst>
              <a:ext uri="{FF2B5EF4-FFF2-40B4-BE49-F238E27FC236}">
                <a16:creationId xmlns:a16="http://schemas.microsoft.com/office/drawing/2014/main" id="{7A7AC7A6-7EC6-1242-85D9-7C77FD1C0B67}"/>
              </a:ext>
            </a:extLst>
          </p:cNvPr>
          <p:cNvCxnSpPr>
            <a:cxnSpLocks/>
            <a:stCxn id="622" idx="3"/>
            <a:endCxn id="620" idx="2"/>
          </p:cNvCxnSpPr>
          <p:nvPr/>
        </p:nvCxnSpPr>
        <p:spPr>
          <a:xfrm flipV="1">
            <a:off x="1141350" y="3429807"/>
            <a:ext cx="475352" cy="699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线箭头连接符 513">
            <a:extLst>
              <a:ext uri="{FF2B5EF4-FFF2-40B4-BE49-F238E27FC236}">
                <a16:creationId xmlns:a16="http://schemas.microsoft.com/office/drawing/2014/main" id="{DF14E6C0-25F8-7BCE-4A44-78B75725D884}"/>
              </a:ext>
            </a:extLst>
          </p:cNvPr>
          <p:cNvCxnSpPr>
            <a:cxnSpLocks/>
            <a:stCxn id="624" idx="3"/>
            <a:endCxn id="519" idx="0"/>
          </p:cNvCxnSpPr>
          <p:nvPr/>
        </p:nvCxnSpPr>
        <p:spPr>
          <a:xfrm>
            <a:off x="1141350" y="4451263"/>
            <a:ext cx="486612" cy="7636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1BFAF31C-8E97-6EF7-E90A-4F0E1A6A9065}"/>
              </a:ext>
            </a:extLst>
          </p:cNvPr>
          <p:cNvSpPr/>
          <p:nvPr/>
        </p:nvSpPr>
        <p:spPr>
          <a:xfrm>
            <a:off x="5567745" y="2361388"/>
            <a:ext cx="2698284" cy="3775858"/>
          </a:xfrm>
          <a:prstGeom prst="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07C6C9E-3E43-27E8-3DA3-1678D84811E6}"/>
              </a:ext>
            </a:extLst>
          </p:cNvPr>
          <p:cNvSpPr txBox="1"/>
          <p:nvPr/>
        </p:nvSpPr>
        <p:spPr>
          <a:xfrm>
            <a:off x="4438891" y="4065404"/>
            <a:ext cx="957385" cy="368300"/>
          </a:xfrm>
          <a:prstGeom prst="rect">
            <a:avLst/>
          </a:prstGeom>
          <a:solidFill>
            <a:srgbClr val="92D050"/>
          </a:solidFill>
        </p:spPr>
        <p:txBody>
          <a:bodyPr wrap="square" lIns="36000" rIns="36000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2A01391-195A-F9A7-7CF1-ABF257D038C1}"/>
              </a:ext>
            </a:extLst>
          </p:cNvPr>
          <p:cNvSpPr txBox="1"/>
          <p:nvPr/>
        </p:nvSpPr>
        <p:spPr>
          <a:xfrm>
            <a:off x="7110422" y="4065168"/>
            <a:ext cx="957385" cy="368300"/>
          </a:xfrm>
          <a:prstGeom prst="rect">
            <a:avLst/>
          </a:prstGeom>
          <a:solidFill>
            <a:srgbClr val="92D050"/>
          </a:solidFill>
        </p:spPr>
        <p:txBody>
          <a:bodyPr wrap="square" lIns="36000" rIns="36000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8AC2825-24BE-58F0-449B-C95A94F0037F}"/>
              </a:ext>
            </a:extLst>
          </p:cNvPr>
          <p:cNvSpPr txBox="1"/>
          <p:nvPr/>
        </p:nvSpPr>
        <p:spPr>
          <a:xfrm>
            <a:off x="1977356" y="6319313"/>
            <a:ext cx="8660416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In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SP- Ulysses,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QKV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also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partitioned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dimension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A8D9E20-C2C8-17E0-E6E2-881124DB5750}"/>
              </a:ext>
            </a:extLst>
          </p:cNvPr>
          <p:cNvSpPr txBox="1"/>
          <p:nvPr/>
        </p:nvSpPr>
        <p:spPr>
          <a:xfrm>
            <a:off x="1561852" y="2738837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9475153-F672-3EA6-53E7-06536B9F090B}"/>
              </a:ext>
            </a:extLst>
          </p:cNvPr>
          <p:cNvSpPr txBox="1"/>
          <p:nvPr/>
        </p:nvSpPr>
        <p:spPr>
          <a:xfrm>
            <a:off x="1504422" y="5593624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2BA050D-7FA5-8D19-DC80-0B5205F776A0}"/>
              </a:ext>
            </a:extLst>
          </p:cNvPr>
          <p:cNvSpPr txBox="1"/>
          <p:nvPr/>
        </p:nvSpPr>
        <p:spPr>
          <a:xfrm>
            <a:off x="3052781" y="2443799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6A56F28-B8FF-3CAE-9637-79666A7C28B5}"/>
              </a:ext>
            </a:extLst>
          </p:cNvPr>
          <p:cNvGrpSpPr/>
          <p:nvPr/>
        </p:nvGrpSpPr>
        <p:grpSpPr>
          <a:xfrm>
            <a:off x="2605674" y="4848542"/>
            <a:ext cx="1269040" cy="1162665"/>
            <a:chOff x="2566455" y="2242960"/>
            <a:chExt cx="1269040" cy="1162665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CEB9209-29F1-8FB0-83EF-0A6984C868C4}"/>
                </a:ext>
              </a:extLst>
            </p:cNvPr>
            <p:cNvSpPr txBox="1"/>
            <p:nvPr/>
          </p:nvSpPr>
          <p:spPr>
            <a:xfrm>
              <a:off x="2566455" y="3036293"/>
              <a:ext cx="1269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W</a:t>
              </a:r>
              <a:r>
                <a:rPr kumimoji="1" lang="en-US" altLang="zh-CN" baseline="-25000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F04F78C0-67F5-933F-A0DD-D6F9538D0BEA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F307BCE2-C760-1264-DD09-3B82C7F70940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383FA9C-092A-1375-4BF2-F0E54FEA7326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BB29CA1-AF83-D5DB-FBE1-42FB8EEE54FA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D03D825-5BFA-E983-B3A0-4E06C3150A24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EE8A1CEC-5E3D-732B-0F6D-AE53B781F4A0}"/>
              </a:ext>
            </a:extLst>
          </p:cNvPr>
          <p:cNvSpPr txBox="1"/>
          <p:nvPr/>
        </p:nvSpPr>
        <p:spPr>
          <a:xfrm>
            <a:off x="2941751" y="4495429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15B41E0-FFFC-99F3-B211-3D1063AD8EDC}"/>
              </a:ext>
            </a:extLst>
          </p:cNvPr>
          <p:cNvSpPr txBox="1"/>
          <p:nvPr/>
        </p:nvSpPr>
        <p:spPr>
          <a:xfrm>
            <a:off x="4806204" y="2461173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385095C-DF51-9217-15C1-39FE80517D46}"/>
              </a:ext>
            </a:extLst>
          </p:cNvPr>
          <p:cNvSpPr txBox="1"/>
          <p:nvPr/>
        </p:nvSpPr>
        <p:spPr>
          <a:xfrm>
            <a:off x="4785860" y="4607878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ACEA04A-C695-F66D-8288-6D81CB12CBC6}"/>
              </a:ext>
            </a:extLst>
          </p:cNvPr>
          <p:cNvSpPr txBox="1"/>
          <p:nvPr/>
        </p:nvSpPr>
        <p:spPr>
          <a:xfrm>
            <a:off x="8934761" y="2596964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705BB88A-F5B9-9ADD-F542-392E824F36D3}"/>
              </a:ext>
            </a:extLst>
          </p:cNvPr>
          <p:cNvSpPr txBox="1"/>
          <p:nvPr/>
        </p:nvSpPr>
        <p:spPr>
          <a:xfrm>
            <a:off x="8917116" y="4721074"/>
            <a:ext cx="469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err="1">
                <a:latin typeface="Calibri" panose="020F0502020204030204" pitchFamily="34" charset="0"/>
                <a:cs typeface="Calibri" panose="020F0502020204030204" pitchFamily="34" charset="0"/>
              </a:rPr>
              <a:t>Hd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88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D6788-BEEE-D85C-3A3E-7931A9CF1B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E60D277-820D-C8FB-C44C-E5612788F4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137" y="1213835"/>
            <a:ext cx="11766861" cy="5153307"/>
          </a:xfrm>
        </p:spPr>
        <p:txBody>
          <a:bodyPr/>
          <a:lstStyle/>
          <a:p>
            <a:r>
              <a:rPr kumimoji="1" lang="en" altLang="zh-CN"/>
              <a:t>Single</a:t>
            </a:r>
            <a:r>
              <a:rPr kumimoji="1" lang="zh-CN" altLang="en-US"/>
              <a:t> </a:t>
            </a:r>
            <a:r>
              <a:rPr lang="en" altLang="zh-CN"/>
              <a:t>parallelism strategy suits only one type of workload</a:t>
            </a:r>
          </a:p>
          <a:p>
            <a:r>
              <a:rPr lang="en" altLang="zh-CN"/>
              <a:t>Can parallelisms be combined to support different workloads</a:t>
            </a:r>
            <a:r>
              <a:rPr kumimoji="1" lang="en-US" altLang="zh-CN"/>
              <a:t>?</a:t>
            </a:r>
          </a:p>
          <a:p>
            <a:pPr lvl="1"/>
            <a:r>
              <a:rPr kumimoji="1" lang="en-US" altLang="zh-CN"/>
              <a:t>Choosing the </a:t>
            </a:r>
            <a:r>
              <a:rPr lang="en" altLang="zh-CN"/>
              <a:t>parallelism</a:t>
            </a:r>
            <a:r>
              <a:rPr kumimoji="1" lang="zh-CN" altLang="en-US"/>
              <a:t> </a:t>
            </a:r>
            <a:r>
              <a:rPr kumimoji="1" lang="en-US" altLang="zh-CN"/>
              <a:t>strategy based on the real-world traffic</a:t>
            </a:r>
            <a:r>
              <a:rPr kumimoji="1" lang="zh-CN" altLang="en-US"/>
              <a:t> </a:t>
            </a:r>
            <a:r>
              <a:rPr kumimoji="1" lang="en-US" altLang="zh-CN"/>
              <a:t>pattern</a:t>
            </a:r>
            <a:endParaRPr kumimoji="1" lang="en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6351C4-E00E-B5F9-DAE1-3AF8086D9B03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320042" y="5805354"/>
            <a:ext cx="381001" cy="300555"/>
          </a:xfrm>
        </p:spPr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8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5815192-EB7B-B9F3-78FF-F661D5E7C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7C78D9AE-36DE-17A2-E7C6-80B9446A6710}"/>
              </a:ext>
            </a:extLst>
          </p:cNvPr>
          <p:cNvGrpSpPr/>
          <p:nvPr/>
        </p:nvGrpSpPr>
        <p:grpSpPr>
          <a:xfrm>
            <a:off x="1633666" y="3171509"/>
            <a:ext cx="8924667" cy="2217766"/>
            <a:chOff x="1908770" y="3828181"/>
            <a:chExt cx="8924667" cy="2217766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97006689-5E4F-6A83-3048-91E00DA45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8770" y="3828181"/>
              <a:ext cx="8924667" cy="2217766"/>
            </a:xfrm>
            <a:prstGeom prst="rect">
              <a:avLst/>
            </a:prstGeom>
          </p:spPr>
        </p:pic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5DE6050-52E5-097B-FD20-CDBC10E99EB6}"/>
                </a:ext>
              </a:extLst>
            </p:cNvPr>
            <p:cNvSpPr/>
            <p:nvPr/>
          </p:nvSpPr>
          <p:spPr>
            <a:xfrm>
              <a:off x="4003964" y="4142509"/>
              <a:ext cx="1119061" cy="632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FCC0EF27-DF37-DAA3-3B28-E9AF256F20A3}"/>
                </a:ext>
              </a:extLst>
            </p:cNvPr>
            <p:cNvSpPr/>
            <p:nvPr/>
          </p:nvSpPr>
          <p:spPr>
            <a:xfrm>
              <a:off x="5123026" y="4142509"/>
              <a:ext cx="1436488" cy="732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9DD38402-9421-35A2-FAD4-BE379C62B723}"/>
              </a:ext>
            </a:extLst>
          </p:cNvPr>
          <p:cNvGrpSpPr/>
          <p:nvPr/>
        </p:nvGrpSpPr>
        <p:grpSpPr>
          <a:xfrm>
            <a:off x="4782903" y="3406380"/>
            <a:ext cx="1568058" cy="369332"/>
            <a:chOff x="4716352" y="6274410"/>
            <a:chExt cx="1568058" cy="369332"/>
          </a:xfrm>
        </p:grpSpPr>
        <p:cxnSp>
          <p:nvCxnSpPr>
            <p:cNvPr id="19" name="直线箭头连接符 18">
              <a:extLst>
                <a:ext uri="{FF2B5EF4-FFF2-40B4-BE49-F238E27FC236}">
                  <a16:creationId xmlns:a16="http://schemas.microsoft.com/office/drawing/2014/main" id="{EDCD9CDF-AE19-463B-38B9-BC20488F3444}"/>
                </a:ext>
              </a:extLst>
            </p:cNvPr>
            <p:cNvCxnSpPr>
              <a:cxnSpLocks/>
            </p:cNvCxnSpPr>
            <p:nvPr/>
          </p:nvCxnSpPr>
          <p:spPr>
            <a:xfrm>
              <a:off x="4716352" y="6643742"/>
              <a:ext cx="1568058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08C6C76-0BA4-2E05-07A1-3A6A4A642951}"/>
                </a:ext>
              </a:extLst>
            </p:cNvPr>
            <p:cNvSpPr txBox="1"/>
            <p:nvPr/>
          </p:nvSpPr>
          <p:spPr>
            <a:xfrm>
              <a:off x="4716352" y="6274410"/>
              <a:ext cx="1524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Parallelism</a:t>
              </a:r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A20693E-DB7B-09D8-70F2-F9E57EDB1814}"/>
              </a:ext>
            </a:extLst>
          </p:cNvPr>
          <p:cNvGrpSpPr/>
          <p:nvPr/>
        </p:nvGrpSpPr>
        <p:grpSpPr>
          <a:xfrm>
            <a:off x="3728859" y="3974469"/>
            <a:ext cx="1785930" cy="710058"/>
            <a:chOff x="3728859" y="4593448"/>
            <a:chExt cx="1785930" cy="710058"/>
          </a:xfrm>
        </p:grpSpPr>
        <p:cxnSp>
          <p:nvCxnSpPr>
            <p:cNvPr id="27" name="直线箭头连接符 26">
              <a:extLst>
                <a:ext uri="{FF2B5EF4-FFF2-40B4-BE49-F238E27FC236}">
                  <a16:creationId xmlns:a16="http://schemas.microsoft.com/office/drawing/2014/main" id="{15EEDB87-024B-417F-11A7-98F1262F56AA}"/>
                </a:ext>
              </a:extLst>
            </p:cNvPr>
            <p:cNvCxnSpPr>
              <a:cxnSpLocks/>
            </p:cNvCxnSpPr>
            <p:nvPr/>
          </p:nvCxnSpPr>
          <p:spPr>
            <a:xfrm>
              <a:off x="4520903" y="4909712"/>
              <a:ext cx="993886" cy="39379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2059B723-CC71-C102-8EED-FBF1503D1872}"/>
                </a:ext>
              </a:extLst>
            </p:cNvPr>
            <p:cNvSpPr txBox="1"/>
            <p:nvPr/>
          </p:nvSpPr>
          <p:spPr>
            <a:xfrm>
              <a:off x="3728859" y="4593448"/>
              <a:ext cx="146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  <a:r>
                <a:rPr kumimoji="1" lang="zh-CN" altLang="en-US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Parallelism</a:t>
              </a:r>
              <a:r>
                <a:rPr kumimoji="1" lang="zh-CN" altLang="en-US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BCBE6543-CA34-9B48-BA7B-28AE85B489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19798"/>
          <a:stretch/>
        </p:blipFill>
        <p:spPr>
          <a:xfrm>
            <a:off x="6826938" y="5316389"/>
            <a:ext cx="5365062" cy="1516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56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A7B623-9D3D-156B-3D95-6CD94F58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C20CB61B-74BA-B58B-9145-CA1FB3BDBB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137" y="1213835"/>
            <a:ext cx="11766861" cy="5153307"/>
          </a:xfrm>
        </p:spPr>
        <p:txBody>
          <a:bodyPr/>
          <a:lstStyle/>
          <a:p>
            <a:r>
              <a:rPr lang="en" altLang="zh-CN"/>
              <a:t>Analysis of parallelism strategy combinations</a:t>
            </a:r>
          </a:p>
          <a:p>
            <a:pPr lvl="1"/>
            <a:r>
              <a:rPr kumimoji="1" lang="en-US" altLang="zh-CN"/>
              <a:t>DP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X</a:t>
            </a:r>
          </a:p>
          <a:p>
            <a:pPr lvl="2"/>
            <a:r>
              <a:rPr kumimoji="1" lang="en-US" altLang="zh-CN"/>
              <a:t>Achieving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high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throughput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/>
              <a:t>and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low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latency</a:t>
            </a:r>
          </a:p>
          <a:p>
            <a:pPr lvl="2"/>
            <a:r>
              <a:rPr kumimoji="1" lang="en-US" altLang="zh-CN"/>
              <a:t>They</a:t>
            </a:r>
            <a:r>
              <a:rPr kumimoji="1" lang="zh-CN" altLang="en-US"/>
              <a:t> </a:t>
            </a:r>
            <a:r>
              <a:rPr kumimoji="1" lang="en-US" altLang="zh-CN"/>
              <a:t>have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different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KV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cache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layout,</a:t>
            </a:r>
            <a:r>
              <a:rPr kumimoji="1" lang="zh-CN" altLang="en-US">
                <a:solidFill>
                  <a:srgbClr val="FF0000"/>
                </a:solidFill>
              </a:rPr>
              <a:t> </a:t>
            </a:r>
            <a:r>
              <a:rPr kumimoji="1" lang="en-US" altLang="zh-CN"/>
              <a:t>switching requires </a:t>
            </a:r>
            <a:r>
              <a:rPr kumimoji="1" lang="en-US" altLang="zh-CN">
                <a:solidFill>
                  <a:srgbClr val="C00000"/>
                </a:solidFill>
              </a:rPr>
              <a:t>costly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data movement</a:t>
            </a:r>
          </a:p>
          <a:p>
            <a:pPr lvl="1"/>
            <a:r>
              <a:rPr kumimoji="1" lang="en-US" altLang="zh-CN"/>
              <a:t>TP</a:t>
            </a:r>
            <a:r>
              <a:rPr kumimoji="1" lang="zh-CN" altLang="en-US"/>
              <a:t> </a:t>
            </a:r>
            <a:r>
              <a:rPr kumimoji="1" lang="en-US" altLang="zh-CN"/>
              <a:t>+</a:t>
            </a:r>
            <a:r>
              <a:rPr kumimoji="1" lang="zh-CN" altLang="en-US"/>
              <a:t> </a:t>
            </a:r>
            <a:r>
              <a:rPr kumimoji="1" lang="en-US" altLang="zh-CN"/>
              <a:t>SP</a:t>
            </a:r>
          </a:p>
          <a:p>
            <a:pPr lvl="2"/>
            <a:r>
              <a:rPr kumimoji="1" lang="en-US" altLang="zh-CN"/>
              <a:t>Achieving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high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throughput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/>
              <a:t>and</a:t>
            </a:r>
            <a:r>
              <a:rPr kumimoji="1" lang="zh-CN" altLang="en-US"/>
              <a:t> </a:t>
            </a:r>
            <a:r>
              <a:rPr kumimoji="1" lang="en-US" altLang="zh-CN">
                <a:solidFill>
                  <a:srgbClr val="C00000"/>
                </a:solidFill>
              </a:rPr>
              <a:t>low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-US" altLang="zh-CN">
                <a:solidFill>
                  <a:srgbClr val="C00000"/>
                </a:solidFill>
              </a:rPr>
              <a:t>latency</a:t>
            </a:r>
          </a:p>
          <a:p>
            <a:pPr lvl="2"/>
            <a:r>
              <a:rPr kumimoji="1" lang="en-US" altLang="zh-CN"/>
              <a:t>SP</a:t>
            </a:r>
            <a:r>
              <a:rPr kumimoji="1" lang="zh-CN" altLang="en-US"/>
              <a:t> </a:t>
            </a:r>
            <a:r>
              <a:rPr kumimoji="1" lang="en" altLang="zh-CN"/>
              <a:t>has the </a:t>
            </a:r>
            <a:r>
              <a:rPr kumimoji="1" lang="en" altLang="zh-CN">
                <a:solidFill>
                  <a:srgbClr val="C00000"/>
                </a:solidFill>
              </a:rPr>
              <a:t>same KV cache layout</a:t>
            </a:r>
            <a:r>
              <a:rPr kumimoji="1" lang="zh-CN" altLang="en-US">
                <a:solidFill>
                  <a:srgbClr val="C00000"/>
                </a:solidFill>
              </a:rPr>
              <a:t> </a:t>
            </a:r>
            <a:r>
              <a:rPr kumimoji="1" lang="en" altLang="zh-CN"/>
              <a:t>as TP</a:t>
            </a:r>
            <a:endParaRPr kumimoji="1" lang="en-US" altLang="zh-CN">
              <a:solidFill>
                <a:srgbClr val="FF0000"/>
              </a:solidFill>
            </a:endParaRPr>
          </a:p>
          <a:p>
            <a:pPr lvl="1"/>
            <a:endParaRPr kumimoji="1" lang="en-US" altLang="zh-CN"/>
          </a:p>
          <a:p>
            <a:pPr lvl="1"/>
            <a:endParaRPr kumimoji="1" lang="en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F8EF6B-8482-D7D7-EA34-CE5041555C0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78C9FE2-4541-DE7F-2E98-5FCBF4C0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pic>
        <p:nvPicPr>
          <p:cNvPr id="19" name="图形 18" descr="露齿笑的脸轮廓 纯色填充">
            <a:extLst>
              <a:ext uri="{FF2B5EF4-FFF2-40B4-BE49-F238E27FC236}">
                <a16:creationId xmlns:a16="http://schemas.microsoft.com/office/drawing/2014/main" id="{C67F7BE6-5C6A-49A1-3E16-284A14D37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14962" y="3677008"/>
            <a:ext cx="589922" cy="589922"/>
          </a:xfrm>
          <a:prstGeom prst="rect">
            <a:avLst/>
          </a:prstGeom>
        </p:spPr>
      </p:pic>
      <p:pic>
        <p:nvPicPr>
          <p:cNvPr id="22" name="图形 21" descr="哭泣的脸轮廓 纯色填充">
            <a:extLst>
              <a:ext uri="{FF2B5EF4-FFF2-40B4-BE49-F238E27FC236}">
                <a16:creationId xmlns:a16="http://schemas.microsoft.com/office/drawing/2014/main" id="{41D5775A-DB4A-6939-3B92-75F88BCBD6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025081" y="2420403"/>
            <a:ext cx="589921" cy="589921"/>
          </a:xfrm>
          <a:prstGeom prst="rect">
            <a:avLst/>
          </a:prstGeom>
        </p:spPr>
      </p:pic>
      <p:pic>
        <p:nvPicPr>
          <p:cNvPr id="23" name="图形 22" descr="露齿笑的脸轮廓 纯色填充">
            <a:extLst>
              <a:ext uri="{FF2B5EF4-FFF2-40B4-BE49-F238E27FC236}">
                <a16:creationId xmlns:a16="http://schemas.microsoft.com/office/drawing/2014/main" id="{E9CCC3AD-2CA6-1E26-E9F3-447DA9B5C0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1029" y="2058470"/>
            <a:ext cx="589922" cy="589922"/>
          </a:xfrm>
          <a:prstGeom prst="rect">
            <a:avLst/>
          </a:prstGeom>
        </p:spPr>
      </p:pic>
      <p:pic>
        <p:nvPicPr>
          <p:cNvPr id="24" name="图形 23" descr="露齿笑的脸轮廓 纯色填充">
            <a:extLst>
              <a:ext uri="{FF2B5EF4-FFF2-40B4-BE49-F238E27FC236}">
                <a16:creationId xmlns:a16="http://schemas.microsoft.com/office/drawing/2014/main" id="{D6F0BABB-9D29-D67D-D643-A3AF2B816C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91029" y="3251644"/>
            <a:ext cx="589922" cy="589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585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12EF6-371B-AD3B-6D8D-8659BFB3E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2FCF67D6-4D5D-CB68-A248-80D2570A77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/>
              <a:t>An illustration of the KV-cache distribution in TP and SP</a:t>
            </a:r>
            <a:endParaRPr kumimoji="1" lang="en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5D287D3-9087-F0F9-A363-4919C7A222D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10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27FB619-E28F-95D9-9BB2-F7DC0F62B4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AADAAA3-CA6A-5999-1ABB-1E72E34F43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344" y="1688652"/>
            <a:ext cx="8407312" cy="473568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019158C-E132-846C-0EED-BAEC0B2B3EE8}"/>
              </a:ext>
            </a:extLst>
          </p:cNvPr>
          <p:cNvSpPr/>
          <p:nvPr/>
        </p:nvSpPr>
        <p:spPr>
          <a:xfrm>
            <a:off x="1622969" y="3920836"/>
            <a:ext cx="3087576" cy="512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A9B373-EA6E-55D3-A592-DFDB85D7A8E7}"/>
              </a:ext>
            </a:extLst>
          </p:cNvPr>
          <p:cNvSpPr/>
          <p:nvPr/>
        </p:nvSpPr>
        <p:spPr>
          <a:xfrm>
            <a:off x="7344988" y="3875047"/>
            <a:ext cx="3087576" cy="5126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AE4FCB0-D95B-1FE8-AA9D-E74FD3A6010B}"/>
              </a:ext>
            </a:extLst>
          </p:cNvPr>
          <p:cNvSpPr/>
          <p:nvPr/>
        </p:nvSpPr>
        <p:spPr>
          <a:xfrm>
            <a:off x="4184072" y="1688652"/>
            <a:ext cx="637309" cy="4735681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A0A772-E00C-FA36-F712-640AC8C6656E}"/>
              </a:ext>
            </a:extLst>
          </p:cNvPr>
          <p:cNvSpPr txBox="1"/>
          <p:nvPr/>
        </p:nvSpPr>
        <p:spPr>
          <a:xfrm>
            <a:off x="3399026" y="6389397"/>
            <a:ext cx="2207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layout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42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Background &amp; Motivation</a:t>
            </a:r>
          </a:p>
          <a:p>
            <a:r>
              <a:rPr kumimoji="1" lang="en-US" altLang="zh-CN"/>
              <a:t>Design &amp; Implementation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Evaluation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Conclusion</a:t>
            </a:r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11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Outline</a:t>
            </a:r>
            <a:endParaRPr kumimoji="1"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6975101-E36D-5C25-0F33-CB497F46A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/>
              <a:t>Base config</a:t>
            </a:r>
            <a:r>
              <a:rPr lang="en-US" altLang="zh-CN">
                <a:sym typeface="Wingdings" pitchFamily="2" charset="2"/>
              </a:rPr>
              <a:t>: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(SP,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TP)</a:t>
            </a:r>
            <a:r>
              <a:rPr lang="zh-CN" altLang="en-US">
                <a:sym typeface="Wingdings" pitchFamily="2" charset="2"/>
              </a:rPr>
              <a:t>  </a:t>
            </a:r>
            <a:endParaRPr lang="en-US" altLang="zh-CN">
              <a:sym typeface="Wingdings" pitchFamily="2" charset="2"/>
            </a:endParaRPr>
          </a:p>
          <a:p>
            <a:pPr lvl="1"/>
            <a:r>
              <a:rPr lang="en-US" altLang="zh-CN">
                <a:sym typeface="Wingdings" pitchFamily="2" charset="2"/>
              </a:rPr>
              <a:t>Use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Wingdings" pitchFamily="2" charset="2"/>
              </a:rPr>
              <a:t>large</a:t>
            </a:r>
            <a:r>
              <a:rPr lang="zh-CN" altLang="en-US" b="1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Wingdings" pitchFamily="2" charset="2"/>
              </a:rPr>
              <a:t>batches</a:t>
            </a:r>
            <a:r>
              <a:rPr lang="en-US" altLang="zh-CN" b="1">
                <a:sym typeface="Wingdings" pitchFamily="2" charset="2"/>
              </a:rPr>
              <a:t>.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" altLang="zh-CN">
                <a:sym typeface="Wingdings" pitchFamily="2" charset="2"/>
              </a:rPr>
              <a:t>minimizing </a:t>
            </a:r>
            <a:r>
              <a:rPr lang="en" altLang="zh-CN" b="1">
                <a:solidFill>
                  <a:srgbClr val="C00000"/>
                </a:solidFill>
                <a:sym typeface="Wingdings" pitchFamily="2" charset="2"/>
              </a:rPr>
              <a:t>TTFT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better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" altLang="zh-CN" b="1">
                <a:solidFill>
                  <a:srgbClr val="C00000"/>
                </a:solidFill>
                <a:sym typeface="Wingdings" pitchFamily="2" charset="2"/>
              </a:rPr>
              <a:t>throughput</a:t>
            </a:r>
            <a:r>
              <a:rPr lang="en" altLang="zh-CN">
                <a:sym typeface="Wingdings" pitchFamily="2" charset="2"/>
              </a:rPr>
              <a:t>.</a:t>
            </a:r>
            <a:endParaRPr lang="en-US" altLang="zh-CN">
              <a:sym typeface="Wingdings" pitchFamily="2" charset="2"/>
            </a:endParaRPr>
          </a:p>
          <a:p>
            <a:r>
              <a:rPr lang="en-US" altLang="zh-CN">
                <a:sym typeface="Wingdings" pitchFamily="2" charset="2"/>
              </a:rPr>
              <a:t>Shift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" altLang="zh-CN"/>
              <a:t>config</a:t>
            </a:r>
            <a:r>
              <a:rPr lang="en-US" altLang="zh-CN"/>
              <a:t>:</a:t>
            </a:r>
            <a:r>
              <a:rPr lang="zh-CN" altLang="en-US"/>
              <a:t> </a:t>
            </a:r>
            <a:r>
              <a:rPr lang="en-US" altLang="zh-CN"/>
              <a:t>(SP=1,</a:t>
            </a:r>
            <a:r>
              <a:rPr lang="zh-CN" altLang="en-US"/>
              <a:t> </a:t>
            </a:r>
            <a:r>
              <a:rPr lang="en-US" altLang="zh-CN"/>
              <a:t>TP=P)</a:t>
            </a:r>
          </a:p>
          <a:p>
            <a:pPr lvl="1"/>
            <a:r>
              <a:rPr lang="en-US" altLang="zh-CN">
                <a:sym typeface="Wingdings" pitchFamily="2" charset="2"/>
              </a:rPr>
              <a:t>Use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for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Wingdings" pitchFamily="2" charset="2"/>
              </a:rPr>
              <a:t>small</a:t>
            </a:r>
            <a:r>
              <a:rPr lang="zh-CN" altLang="en-US" b="1">
                <a:solidFill>
                  <a:srgbClr val="C00000"/>
                </a:solidFill>
                <a:sym typeface="Wingdings" pitchFamily="2" charset="2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Wingdings" pitchFamily="2" charset="2"/>
              </a:rPr>
              <a:t>batches</a:t>
            </a:r>
            <a:r>
              <a:rPr lang="en-US" altLang="zh-CN">
                <a:sym typeface="Wingdings" pitchFamily="2" charset="2"/>
              </a:rPr>
              <a:t>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" altLang="zh-CN"/>
              <a:t>set TP across the full node</a:t>
            </a:r>
            <a:r>
              <a:rPr lang="en-US" altLang="zh-CN"/>
              <a:t>.</a:t>
            </a:r>
            <a:r>
              <a:rPr lang="zh-CN" altLang="en-US"/>
              <a:t> </a:t>
            </a:r>
            <a:r>
              <a:rPr lang="en" altLang="zh-CN">
                <a:sym typeface="Wingdings" pitchFamily="2" charset="2"/>
              </a:rPr>
              <a:t>minimizing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 b="1">
                <a:solidFill>
                  <a:srgbClr val="C00000"/>
                </a:solidFill>
                <a:sym typeface="Wingdings" pitchFamily="2" charset="2"/>
              </a:rPr>
              <a:t>TPOT</a:t>
            </a:r>
            <a:r>
              <a:rPr lang="en-US" altLang="zh-CN" b="1">
                <a:sym typeface="Wingdings" pitchFamily="2" charset="2"/>
              </a:rPr>
              <a:t>.</a:t>
            </a:r>
            <a:endParaRPr lang="en-US" altLang="zh-CN" b="1"/>
          </a:p>
          <a:p>
            <a:pPr lvl="1"/>
            <a:endParaRPr lang="en-US" altLang="zh-CN"/>
          </a:p>
          <a:p>
            <a:pPr marL="306070" lvl="1" indent="0">
              <a:buNone/>
            </a:pPr>
            <a:r>
              <a:rPr lang="en-US" altLang="zh-CN"/>
              <a:t>	</a:t>
            </a:r>
            <a:endParaRPr lang="zh-CN" altLang="en-US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72F1C504-8003-D5C8-7EA1-C71A76D8A0FE}"/>
              </a:ext>
            </a:extLst>
          </p:cNvPr>
          <p:cNvGrpSpPr/>
          <p:nvPr/>
        </p:nvGrpSpPr>
        <p:grpSpPr>
          <a:xfrm>
            <a:off x="1625949" y="3350054"/>
            <a:ext cx="8924667" cy="2217766"/>
            <a:chOff x="1908770" y="3828181"/>
            <a:chExt cx="8924667" cy="2217766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8A471968-9CF2-63B4-AD2F-7B3D824F2E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08770" y="3828181"/>
              <a:ext cx="8924667" cy="2217766"/>
            </a:xfrm>
            <a:prstGeom prst="rect">
              <a:avLst/>
            </a:prstGeom>
          </p:spPr>
        </p:pic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BC62BE3-96A5-5C4C-3699-21C9A6C19E10}"/>
                </a:ext>
              </a:extLst>
            </p:cNvPr>
            <p:cNvSpPr/>
            <p:nvPr/>
          </p:nvSpPr>
          <p:spPr>
            <a:xfrm>
              <a:off x="4003964" y="4142509"/>
              <a:ext cx="1119061" cy="6324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3386354-12D4-2305-CDE2-7551D8ACB4B6}"/>
                </a:ext>
              </a:extLst>
            </p:cNvPr>
            <p:cNvSpPr/>
            <p:nvPr/>
          </p:nvSpPr>
          <p:spPr>
            <a:xfrm>
              <a:off x="5123026" y="4142509"/>
              <a:ext cx="1436488" cy="73276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17BF2892-33DD-9A22-4B37-72E80F350A50}"/>
              </a:ext>
            </a:extLst>
          </p:cNvPr>
          <p:cNvGrpSpPr/>
          <p:nvPr/>
        </p:nvGrpSpPr>
        <p:grpSpPr>
          <a:xfrm>
            <a:off x="4775186" y="3584925"/>
            <a:ext cx="1568058" cy="369332"/>
            <a:chOff x="4716352" y="6274410"/>
            <a:chExt cx="1568058" cy="369332"/>
          </a:xfrm>
        </p:grpSpPr>
        <p:cxnSp>
          <p:nvCxnSpPr>
            <p:cNvPr id="25" name="直线箭头连接符 24">
              <a:extLst>
                <a:ext uri="{FF2B5EF4-FFF2-40B4-BE49-F238E27FC236}">
                  <a16:creationId xmlns:a16="http://schemas.microsoft.com/office/drawing/2014/main" id="{D85E1ABE-78D7-FF91-2DC6-7669876B3FD3}"/>
                </a:ext>
              </a:extLst>
            </p:cNvPr>
            <p:cNvCxnSpPr>
              <a:cxnSpLocks/>
            </p:cNvCxnSpPr>
            <p:nvPr/>
          </p:nvCxnSpPr>
          <p:spPr>
            <a:xfrm>
              <a:off x="4716352" y="6643742"/>
              <a:ext cx="1568058" cy="0"/>
            </a:xfrm>
            <a:prstGeom prst="straightConnector1">
              <a:avLst/>
            </a:prstGeom>
            <a:ln w="2540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1A6728A-1880-0644-70D5-CB99AA078A42}"/>
                </a:ext>
              </a:extLst>
            </p:cNvPr>
            <p:cNvSpPr txBox="1"/>
            <p:nvPr/>
          </p:nvSpPr>
          <p:spPr>
            <a:xfrm>
              <a:off x="4716352" y="6274410"/>
              <a:ext cx="1524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A</a:t>
              </a:r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Parallelism</a:t>
              </a:r>
              <a:r>
                <a:rPr kumimoji="1" lang="zh-CN" altLang="en-US" b="1">
                  <a:solidFill>
                    <a:srgbClr val="C00000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6F59F9BA-4701-CEFF-8DAB-FD95FB636560}"/>
              </a:ext>
            </a:extLst>
          </p:cNvPr>
          <p:cNvGrpSpPr/>
          <p:nvPr/>
        </p:nvGrpSpPr>
        <p:grpSpPr>
          <a:xfrm>
            <a:off x="3721142" y="4153014"/>
            <a:ext cx="1785930" cy="710058"/>
            <a:chOff x="3728859" y="4593448"/>
            <a:chExt cx="1785930" cy="710058"/>
          </a:xfrm>
        </p:grpSpPr>
        <p:cxnSp>
          <p:nvCxnSpPr>
            <p:cNvPr id="29" name="直线箭头连接符 28">
              <a:extLst>
                <a:ext uri="{FF2B5EF4-FFF2-40B4-BE49-F238E27FC236}">
                  <a16:creationId xmlns:a16="http://schemas.microsoft.com/office/drawing/2014/main" id="{CB776F00-3C1E-5E89-2FF3-55678FD3878D}"/>
                </a:ext>
              </a:extLst>
            </p:cNvPr>
            <p:cNvCxnSpPr>
              <a:cxnSpLocks/>
            </p:cNvCxnSpPr>
            <p:nvPr/>
          </p:nvCxnSpPr>
          <p:spPr>
            <a:xfrm>
              <a:off x="4520903" y="4909712"/>
              <a:ext cx="993886" cy="393794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93DC019-91BB-B78F-DB5E-3583ED4C2628}"/>
                </a:ext>
              </a:extLst>
            </p:cNvPr>
            <p:cNvSpPr txBox="1"/>
            <p:nvPr/>
          </p:nvSpPr>
          <p:spPr>
            <a:xfrm>
              <a:off x="3728859" y="4593448"/>
              <a:ext cx="14623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B</a:t>
              </a:r>
              <a:r>
                <a:rPr kumimoji="1" lang="zh-CN" altLang="en-US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Parallelism</a:t>
              </a:r>
              <a:r>
                <a:rPr kumimoji="1" lang="zh-CN" altLang="en-US" b="1">
                  <a:solidFill>
                    <a:schemeClr val="accent5">
                      <a:lumMod val="75000"/>
                    </a:schemeClr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Key</a:t>
            </a:r>
            <a:r>
              <a:rPr kumimoji="1" lang="zh-CN" altLang="en-US"/>
              <a:t> </a:t>
            </a:r>
            <a:r>
              <a:rPr kumimoji="1" lang="en-US" altLang="zh-CN"/>
              <a:t>ideas</a:t>
            </a:r>
            <a:endParaRPr kumimoji="1" lang="zh-CN" altLang="en-US"/>
          </a:p>
        </p:txBody>
      </p:sp>
      <p:sp>
        <p:nvSpPr>
          <p:cNvPr id="28" name="AutoShape 2"/>
          <p:cNvSpPr>
            <a:spLocks noChangeAspect="1" noChangeArrowheads="1"/>
          </p:cNvSpPr>
          <p:nvPr/>
        </p:nvSpPr>
        <p:spPr bwMode="auto">
          <a:xfrm>
            <a:off x="331495" y="256540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5DCE05-B8BE-6EDA-C15D-ED5700E93542}"/>
              </a:ext>
            </a:extLst>
          </p:cNvPr>
          <p:cNvSpPr txBox="1"/>
          <p:nvPr/>
        </p:nvSpPr>
        <p:spPr>
          <a:xfrm>
            <a:off x="4513186" y="3116822"/>
            <a:ext cx="3240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Base</a:t>
            </a:r>
            <a:r>
              <a:rPr kumimoji="1" lang="zh-CN" altLang="en-US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config:</a:t>
            </a:r>
            <a:r>
              <a:rPr kumimoji="1" lang="zh-CN" altLang="en-US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" altLang="zh-CN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(SP, TP)</a:t>
            </a:r>
            <a:r>
              <a:rPr kumimoji="1" lang="zh-CN" altLang="en-US" sz="2400">
                <a:solidFill>
                  <a:srgbClr val="C00000"/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3F558CC-F235-DE4C-0EFF-64D87DDF172F}"/>
              </a:ext>
            </a:extLst>
          </p:cNvPr>
          <p:cNvSpPr txBox="1"/>
          <p:nvPr/>
        </p:nvSpPr>
        <p:spPr>
          <a:xfrm>
            <a:off x="2728336" y="5200103"/>
            <a:ext cx="40937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Shift</a:t>
            </a:r>
            <a:r>
              <a:rPr kumimoji="1" lang="zh-CN" altLang="en-US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config:</a:t>
            </a:r>
            <a:r>
              <a:rPr kumimoji="1" lang="zh-CN" altLang="en-US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 </a:t>
            </a:r>
            <a:r>
              <a:rPr kumimoji="1" lang="en-US" altLang="zh-CN" sz="2400">
                <a:solidFill>
                  <a:schemeClr val="accent5">
                    <a:lumMod val="75000"/>
                  </a:schemeClr>
                </a:solidFill>
                <a:latin typeface="Calibri" panose="020F0502020204030204" pitchFamily="34" charset="0"/>
                <a:ea typeface="Microsoft YaHei" panose="020B0503020204020204" pitchFamily="34" charset="-122"/>
                <a:cs typeface="Calibri" panose="020F0502020204030204" pitchFamily="34" charset="0"/>
              </a:rPr>
              <a:t>(SP=1, TP=P)</a:t>
            </a:r>
          </a:p>
          <a:p>
            <a:endParaRPr kumimoji="1" lang="zh-CN" altLang="en-US" sz="2400">
              <a:solidFill>
                <a:srgbClr val="0070C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AD4542D-B576-A441-87AD-09540911FE4A}"/>
              </a:ext>
            </a:extLst>
          </p:cNvPr>
          <p:cNvSpPr txBox="1"/>
          <p:nvPr/>
        </p:nvSpPr>
        <p:spPr>
          <a:xfrm>
            <a:off x="1625949" y="6077653"/>
            <a:ext cx="8660416" cy="40011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When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switch?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Simply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set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Threshold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altLang="zh-CN" sz="2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4DFE3-64CA-1A95-87CE-F4619AD2F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16BB455-C273-396F-0761-5500C69E5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Further</a:t>
            </a:r>
            <a:r>
              <a:rPr kumimoji="1" lang="zh-CN" altLang="en-US"/>
              <a:t> </a:t>
            </a:r>
            <a:r>
              <a:rPr kumimoji="1" lang="en-US" altLang="zh-CN"/>
              <a:t>Challenges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B0BA9376-39B1-5E4D-0589-363DDB4E93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495" y="256540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F87D232C-4A6E-FFE1-625D-7F91E2979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  <a:endParaRPr lang="en-US" altLang="zh-CN">
              <a:sym typeface="Wingdings" pitchFamily="2" charset="2"/>
            </a:endParaRPr>
          </a:p>
          <a:p>
            <a:pPr lvl="1"/>
            <a:r>
              <a:rPr lang="en" altLang="zh-CN"/>
              <a:t>Early designs lack support for </a:t>
            </a:r>
            <a:r>
              <a:rPr lang="en" altLang="zh-CN" b="1">
                <a:solidFill>
                  <a:srgbClr val="C00000"/>
                </a:solidFill>
              </a:rPr>
              <a:t>GQA</a:t>
            </a:r>
          </a:p>
          <a:p>
            <a:pPr lvl="1"/>
            <a:r>
              <a:rPr lang="en" altLang="zh-CN" b="1">
                <a:solidFill>
                  <a:srgbClr val="C00000"/>
                </a:solidFill>
              </a:rPr>
              <a:t>Load imbalance </a:t>
            </a:r>
            <a:r>
              <a:rPr lang="en" altLang="zh-CN"/>
              <a:t>occurs under low-traffic conditions</a:t>
            </a:r>
          </a:p>
          <a:p>
            <a:pPr lvl="1"/>
            <a:endParaRPr lang="en" altLang="zh-CN"/>
          </a:p>
          <a:p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2.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How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to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shift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between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base</a:t>
            </a:r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 config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and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shift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config?</a:t>
            </a:r>
          </a:p>
          <a:p>
            <a:pPr lvl="1"/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How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to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ensure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KV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 b="1">
                <a:solidFill>
                  <a:schemeClr val="bg2">
                    <a:lumMod val="90000"/>
                  </a:schemeClr>
                </a:solidFill>
              </a:rPr>
              <a:t>cache</a:t>
            </a:r>
            <a:r>
              <a:rPr lang="zh-CN" altLang="en-US" b="1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consistency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?</a:t>
            </a:r>
          </a:p>
          <a:p>
            <a:pPr lvl="2"/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head ordering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is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different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in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(SP,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TP)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and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(SP=1,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  <a:sym typeface="Wingdings" pitchFamily="2" charset="2"/>
              </a:rPr>
              <a:t>TP=P)</a:t>
            </a:r>
          </a:p>
          <a:p>
            <a:pPr lvl="1"/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How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to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ensure</a:t>
            </a:r>
            <a:r>
              <a:rPr lang="zh-CN" altLang="en-US">
                <a:solidFill>
                  <a:schemeClr val="bg2">
                    <a:lumMod val="90000"/>
                  </a:schemeClr>
                </a:solidFill>
              </a:rPr>
              <a:t>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weight compatibility</a:t>
            </a:r>
            <a:r>
              <a:rPr lang="en-US" altLang="zh-CN">
                <a:solidFill>
                  <a:schemeClr val="bg2">
                    <a:lumMod val="90000"/>
                  </a:schemeClr>
                </a:solidFill>
              </a:rPr>
              <a:t>?</a:t>
            </a:r>
            <a:endParaRPr lang="en" altLang="zh-CN">
              <a:solidFill>
                <a:schemeClr val="bg2">
                  <a:lumMod val="90000"/>
                </a:schemeClr>
              </a:solidFill>
            </a:endParaRPr>
          </a:p>
          <a:p>
            <a:pPr lvl="2"/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Weight layouts differ </a:t>
            </a:r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across the two configs.</a:t>
            </a:r>
          </a:p>
        </p:txBody>
      </p:sp>
    </p:spTree>
    <p:extLst>
      <p:ext uri="{BB962C8B-B14F-4D97-AF65-F5344CB8AC3E}">
        <p14:creationId xmlns:p14="http://schemas.microsoft.com/office/powerpoint/2010/main" val="33375829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7DB74-A760-DBFA-E119-6042E7518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2B0E547-FA6E-0F14-DECC-563341DEA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Further</a:t>
            </a:r>
            <a:r>
              <a:rPr kumimoji="1" lang="zh-CN" altLang="en-US"/>
              <a:t> </a:t>
            </a:r>
            <a:r>
              <a:rPr kumimoji="1" lang="en-US" altLang="zh-CN"/>
              <a:t>Challenges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2A5C45A7-F77F-367E-C382-022CF1FE41B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495" y="256540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80114600-2708-7573-90C1-8CAE33DC6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  <a:endParaRPr lang="en-US" altLang="zh-CN">
              <a:sym typeface="Wingdings" pitchFamily="2" charset="2"/>
            </a:endParaRPr>
          </a:p>
          <a:p>
            <a:pPr lvl="1"/>
            <a:r>
              <a:rPr lang="en" altLang="zh-CN"/>
              <a:t>Early designs lack support for </a:t>
            </a:r>
            <a:r>
              <a:rPr lang="en" altLang="zh-CN" b="1">
                <a:solidFill>
                  <a:srgbClr val="C00000"/>
                </a:solidFill>
              </a:rPr>
              <a:t>GQA</a:t>
            </a:r>
          </a:p>
          <a:p>
            <a:pPr lvl="1"/>
            <a:r>
              <a:rPr lang="en" altLang="zh-CN" b="1">
                <a:solidFill>
                  <a:srgbClr val="C00000"/>
                </a:solidFill>
              </a:rPr>
              <a:t>Load imbalance </a:t>
            </a:r>
            <a:r>
              <a:rPr lang="en" altLang="zh-CN"/>
              <a:t>occurs under low-traffic conditions</a:t>
            </a:r>
          </a:p>
          <a:p>
            <a:pPr lvl="1"/>
            <a:endParaRPr lang="en" altLang="zh-CN"/>
          </a:p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base</a:t>
            </a:r>
            <a:r>
              <a:rPr lang="en" altLang="zh-CN"/>
              <a:t> config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config?</a:t>
            </a:r>
          </a:p>
          <a:p>
            <a:pPr lvl="1"/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ensure</a:t>
            </a:r>
            <a:r>
              <a:rPr lang="zh-CN" altLang="en-US"/>
              <a:t> </a:t>
            </a:r>
            <a:r>
              <a:rPr lang="en-US" altLang="zh-CN" b="1"/>
              <a:t>KV</a:t>
            </a:r>
            <a:r>
              <a:rPr lang="zh-CN" altLang="en-US" b="1"/>
              <a:t> </a:t>
            </a:r>
            <a:r>
              <a:rPr lang="en-US" altLang="zh-CN" b="1"/>
              <a:t>cache</a:t>
            </a:r>
            <a:r>
              <a:rPr lang="zh-CN" altLang="en-US" b="1"/>
              <a:t> </a:t>
            </a:r>
            <a:r>
              <a:rPr lang="en" altLang="zh-CN" b="1"/>
              <a:t>consistency</a:t>
            </a:r>
            <a:r>
              <a:rPr lang="en-US" altLang="zh-CN"/>
              <a:t>?</a:t>
            </a:r>
          </a:p>
          <a:p>
            <a:pPr lvl="2"/>
            <a:r>
              <a:rPr lang="en" altLang="zh-CN" b="1">
                <a:solidFill>
                  <a:srgbClr val="C00000"/>
                </a:solidFill>
              </a:rPr>
              <a:t>head ordering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different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>
                <a:sym typeface="Wingdings" pitchFamily="2" charset="2"/>
              </a:rPr>
              <a:t>(SP,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TP)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(SP=1,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TP=P)</a:t>
            </a:r>
          </a:p>
          <a:p>
            <a:pPr lvl="1"/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ensure</a:t>
            </a:r>
            <a:r>
              <a:rPr lang="zh-CN" altLang="en-US"/>
              <a:t> </a:t>
            </a:r>
            <a:r>
              <a:rPr lang="en" altLang="zh-CN" b="1"/>
              <a:t>weight compatibility</a:t>
            </a:r>
            <a:r>
              <a:rPr lang="en-US" altLang="zh-CN"/>
              <a:t>?</a:t>
            </a:r>
            <a:endParaRPr lang="en" altLang="zh-CN"/>
          </a:p>
          <a:p>
            <a:pPr lvl="2"/>
            <a:r>
              <a:rPr lang="en" altLang="zh-CN" b="1">
                <a:solidFill>
                  <a:srgbClr val="C00000"/>
                </a:solidFill>
              </a:rPr>
              <a:t>Weight layouts differ </a:t>
            </a:r>
            <a:r>
              <a:rPr lang="en" altLang="zh-CN"/>
              <a:t>across the two configs.</a:t>
            </a:r>
          </a:p>
        </p:txBody>
      </p:sp>
    </p:spTree>
    <p:extLst>
      <p:ext uri="{BB962C8B-B14F-4D97-AF65-F5344CB8AC3E}">
        <p14:creationId xmlns:p14="http://schemas.microsoft.com/office/powerpoint/2010/main" val="1366888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/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"/>
          </p:nvPr>
        </p:nvSpPr>
        <p:spPr>
          <a:xfrm>
            <a:off x="486137" y="1213836"/>
            <a:ext cx="11204293" cy="5360228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/>
              <a:t>Early designs lack support for </a:t>
            </a:r>
            <a:r>
              <a:rPr lang="en" altLang="zh-CN" b="1">
                <a:solidFill>
                  <a:srgbClr val="C00000"/>
                </a:solidFill>
              </a:rPr>
              <a:t>GQA</a:t>
            </a:r>
          </a:p>
          <a:p>
            <a:pPr lvl="1"/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Load imbalance </a:t>
            </a:r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occurs under low-traffic conditions</a:t>
            </a:r>
          </a:p>
          <a:p>
            <a:pPr lvl="1"/>
            <a:endParaRPr lang="en" altLang="zh-CN" b="1">
              <a:solidFill>
                <a:srgbClr val="C00000"/>
              </a:solidFill>
            </a:endParaRPr>
          </a:p>
          <a:p>
            <a:endParaRPr lang="en-US" altLang="zh-CN">
              <a:sym typeface="Wingdings" pitchFamily="2" charset="2"/>
            </a:endParaRPr>
          </a:p>
          <a:p>
            <a:pPr lvl="1"/>
            <a:endParaRPr lang="en-GB" altLang="zh-CN" sz="2000"/>
          </a:p>
          <a:p>
            <a:pPr indent="0">
              <a:buNone/>
            </a:pPr>
            <a:endParaRPr lang="en-US" altLang="zh-CN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BF071AE-1C96-2F2D-B216-306EC472E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163" y="2606030"/>
            <a:ext cx="6841978" cy="2247692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4CF11A9-2E76-03B8-BD50-7D9306F5D329}"/>
              </a:ext>
            </a:extLst>
          </p:cNvPr>
          <p:cNvSpPr/>
          <p:nvPr/>
        </p:nvSpPr>
        <p:spPr>
          <a:xfrm>
            <a:off x="7782104" y="2995055"/>
            <a:ext cx="2030681" cy="120164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7ECBEB26-9302-50D3-BB5E-E77FB0BD8D21}"/>
              </a:ext>
            </a:extLst>
          </p:cNvPr>
          <p:cNvCxnSpPr>
            <a:cxnSpLocks/>
          </p:cNvCxnSpPr>
          <p:nvPr/>
        </p:nvCxnSpPr>
        <p:spPr>
          <a:xfrm>
            <a:off x="8797445" y="4259922"/>
            <a:ext cx="0" cy="1025799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A5A23273-BB5E-3186-A3F6-5A186B2B02EF}"/>
              </a:ext>
            </a:extLst>
          </p:cNvPr>
          <p:cNvSpPr txBox="1"/>
          <p:nvPr/>
        </p:nvSpPr>
        <p:spPr>
          <a:xfrm>
            <a:off x="5332817" y="5215959"/>
            <a:ext cx="69292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4,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when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SP=8,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not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spilt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along the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dim</a:t>
            </a:r>
            <a:endParaRPr kumimoji="1"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62D73FC-FEBE-58D3-1035-092115873469}"/>
              </a:ext>
            </a:extLst>
          </p:cNvPr>
          <p:cNvSpPr txBox="1"/>
          <p:nvPr/>
        </p:nvSpPr>
        <p:spPr>
          <a:xfrm>
            <a:off x="933234" y="5807831"/>
            <a:ext cx="10962907" cy="70788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kumimoji="1" lang="en-US" altLang="zh-CN" sz="20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solves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this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 sz="20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replicating the KV weights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doing redundant computation.</a:t>
            </a:r>
          </a:p>
          <a:p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SP needs to design a more efficient communication strategy to share KV.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86A8A03-13F7-3CD4-AAEA-FF38B3C67D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026"/>
          <a:stretch/>
        </p:blipFill>
        <p:spPr>
          <a:xfrm>
            <a:off x="331787" y="2811848"/>
            <a:ext cx="4678139" cy="2247692"/>
          </a:xfrm>
          <a:prstGeom prst="rect">
            <a:avLst/>
          </a:prstGeom>
        </p:spPr>
      </p:pic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9FDE6077-2000-4F37-2D5F-92DD236B3CC7}"/>
              </a:ext>
            </a:extLst>
          </p:cNvPr>
          <p:cNvCxnSpPr/>
          <p:nvPr/>
        </p:nvCxnSpPr>
        <p:spPr>
          <a:xfrm flipH="1">
            <a:off x="2670856" y="4679632"/>
            <a:ext cx="260888" cy="581891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20F1A228-DE39-DDE9-008D-A51F41AFFE69}"/>
              </a:ext>
            </a:extLst>
          </p:cNvPr>
          <p:cNvSpPr txBox="1"/>
          <p:nvPr/>
        </p:nvSpPr>
        <p:spPr>
          <a:xfrm>
            <a:off x="1355709" y="5212133"/>
            <a:ext cx="2937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QKV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Spilt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along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kumimoji="1" lang="zh-CN" altLang="en-US" sz="20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latin typeface="Calibri" panose="020F0502020204030204" pitchFamily="34" charset="0"/>
                <a:cs typeface="Calibri" panose="020F0502020204030204" pitchFamily="34" charset="0"/>
              </a:rPr>
              <a:t>dim</a:t>
            </a:r>
            <a:endParaRPr kumimoji="1" lang="zh-CN" altLang="en-US" sz="20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9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0234-37C8-441B-743F-E988C71EE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1E0D5C5-31FE-2A5E-E849-40925E06E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49216CB4-4084-E67C-FA08-2137B92914C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05F4733-8C7F-B78B-DEA8-D6CB2122E6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137" y="1213836"/>
            <a:ext cx="11204293" cy="5360228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/>
              <a:t>Early designs lack support for </a:t>
            </a:r>
            <a:r>
              <a:rPr lang="en" altLang="zh-CN" b="1">
                <a:solidFill>
                  <a:srgbClr val="C00000"/>
                </a:solidFill>
              </a:rPr>
              <a:t>GQA</a:t>
            </a:r>
          </a:p>
          <a:p>
            <a:pPr lvl="2"/>
            <a:r>
              <a:rPr kumimoji="1" lang="en-US" altLang="zh-CN" sz="2400" b="1">
                <a:latin typeface="Calibri" panose="020F0502020204030204" pitchFamily="34" charset="0"/>
                <a:cs typeface="Calibri" panose="020F0502020204030204" pitchFamily="34" charset="0"/>
              </a:rPr>
              <a:t>Solution</a:t>
            </a:r>
            <a:r>
              <a:rPr kumimoji="1" lang="en-US" altLang="zh-CN" sz="240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kumimoji="1" lang="zh-CN" altLang="en-US" sz="24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400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Multi-step neighborhood collectives</a:t>
            </a:r>
            <a:endParaRPr lang="en" altLang="zh-CN" b="1">
              <a:solidFill>
                <a:srgbClr val="C00000"/>
              </a:solidFill>
            </a:endParaRPr>
          </a:p>
          <a:p>
            <a:pPr lvl="1"/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Load imbalance </a:t>
            </a:r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occurs under low-traffic conditions</a:t>
            </a:r>
          </a:p>
          <a:p>
            <a:pPr lvl="1"/>
            <a:endParaRPr lang="en" altLang="zh-CN" b="1">
              <a:solidFill>
                <a:srgbClr val="C00000"/>
              </a:solidFill>
            </a:endParaRPr>
          </a:p>
          <a:p>
            <a:endParaRPr lang="en-US" altLang="zh-CN">
              <a:sym typeface="Wingdings" pitchFamily="2" charset="2"/>
            </a:endParaRPr>
          </a:p>
          <a:p>
            <a:pPr lvl="1"/>
            <a:endParaRPr lang="en-GB" altLang="zh-CN" sz="2000"/>
          </a:p>
          <a:p>
            <a:pPr indent="0">
              <a:buNone/>
            </a:pPr>
            <a:endParaRPr lang="en-US" altLang="zh-CN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8B55561-4FFD-73D4-A3BC-2DB766771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790" y="3065752"/>
            <a:ext cx="7772400" cy="29994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76D6407-8D0F-F492-72E8-3BAA4071DDFF}"/>
              </a:ext>
            </a:extLst>
          </p:cNvPr>
          <p:cNvSpPr txBox="1"/>
          <p:nvPr/>
        </p:nvSpPr>
        <p:spPr>
          <a:xfrm>
            <a:off x="2693719" y="6125693"/>
            <a:ext cx="68045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Blocks with different 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color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represent different parts of the sequence</a:t>
            </a:r>
            <a:r>
              <a:rPr lang="en" altLang="zh-CN" b="1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 numbers 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0, 1, 2, 3 denote 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GPU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D50646-7075-A216-3418-1B601B8A48EC}"/>
              </a:ext>
            </a:extLst>
          </p:cNvPr>
          <p:cNvSpPr/>
          <p:nvPr/>
        </p:nvSpPr>
        <p:spPr>
          <a:xfrm>
            <a:off x="2196936" y="5622345"/>
            <a:ext cx="958142" cy="354956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557A2D39-5E38-A3A5-A00F-51C73D400751}"/>
              </a:ext>
            </a:extLst>
          </p:cNvPr>
          <p:cNvCxnSpPr>
            <a:cxnSpLocks/>
          </p:cNvCxnSpPr>
          <p:nvPr/>
        </p:nvCxnSpPr>
        <p:spPr>
          <a:xfrm>
            <a:off x="2455424" y="3930259"/>
            <a:ext cx="1831569" cy="7529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95AC5AB0-C44E-DA9A-B0B1-D823CD96F572}"/>
              </a:ext>
            </a:extLst>
          </p:cNvPr>
          <p:cNvCxnSpPr>
            <a:cxnSpLocks/>
          </p:cNvCxnSpPr>
          <p:nvPr/>
        </p:nvCxnSpPr>
        <p:spPr>
          <a:xfrm flipV="1">
            <a:off x="2455424" y="4311653"/>
            <a:ext cx="1831569" cy="560796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936B7029-EF99-799F-AE61-AC6615D171D8}"/>
              </a:ext>
            </a:extLst>
          </p:cNvPr>
          <p:cNvCxnSpPr>
            <a:cxnSpLocks/>
          </p:cNvCxnSpPr>
          <p:nvPr/>
        </p:nvCxnSpPr>
        <p:spPr>
          <a:xfrm>
            <a:off x="2838204" y="3930259"/>
            <a:ext cx="1995054" cy="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3F58459D-5963-27A3-B989-A31A1E5DEF3B}"/>
              </a:ext>
            </a:extLst>
          </p:cNvPr>
          <p:cNvCxnSpPr>
            <a:cxnSpLocks/>
          </p:cNvCxnSpPr>
          <p:nvPr/>
        </p:nvCxnSpPr>
        <p:spPr>
          <a:xfrm flipV="1">
            <a:off x="2838204" y="4376652"/>
            <a:ext cx="1995054" cy="495797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FC987845-A5E8-15AE-56A1-66ADEB5EDC75}"/>
              </a:ext>
            </a:extLst>
          </p:cNvPr>
          <p:cNvCxnSpPr>
            <a:cxnSpLocks/>
          </p:cNvCxnSpPr>
          <p:nvPr/>
        </p:nvCxnSpPr>
        <p:spPr>
          <a:xfrm>
            <a:off x="4583876" y="4183680"/>
            <a:ext cx="1688037" cy="192972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73F24D32-3F4D-C2BD-E144-4E05EC976296}"/>
              </a:ext>
            </a:extLst>
          </p:cNvPr>
          <p:cNvCxnSpPr>
            <a:cxnSpLocks/>
          </p:cNvCxnSpPr>
          <p:nvPr/>
        </p:nvCxnSpPr>
        <p:spPr>
          <a:xfrm flipV="1">
            <a:off x="4583876" y="4892420"/>
            <a:ext cx="1726402" cy="212943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12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B572-625E-4622-F169-687CB59FE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组合 29">
            <a:extLst>
              <a:ext uri="{FF2B5EF4-FFF2-40B4-BE49-F238E27FC236}">
                <a16:creationId xmlns:a16="http://schemas.microsoft.com/office/drawing/2014/main" id="{715B22ED-9CC5-0569-26D7-629297D30ADD}"/>
              </a:ext>
            </a:extLst>
          </p:cNvPr>
          <p:cNvGrpSpPr/>
          <p:nvPr/>
        </p:nvGrpSpPr>
        <p:grpSpPr>
          <a:xfrm>
            <a:off x="331787" y="3796085"/>
            <a:ext cx="3425975" cy="2839958"/>
            <a:chOff x="331787" y="3796085"/>
            <a:chExt cx="3425975" cy="2839958"/>
          </a:xfrm>
        </p:grpSpPr>
        <p:sp>
          <p:nvSpPr>
            <p:cNvPr id="3" name="圆角矩形 2">
              <a:extLst>
                <a:ext uri="{FF2B5EF4-FFF2-40B4-BE49-F238E27FC236}">
                  <a16:creationId xmlns:a16="http://schemas.microsoft.com/office/drawing/2014/main" id="{28251431-9E19-8B5C-F6A2-E9CF55CF510A}"/>
                </a:ext>
              </a:extLst>
            </p:cNvPr>
            <p:cNvSpPr/>
            <p:nvPr/>
          </p:nvSpPr>
          <p:spPr>
            <a:xfrm>
              <a:off x="351024" y="5558511"/>
              <a:ext cx="3406738" cy="1077532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圆角矩形 5">
              <a:extLst>
                <a:ext uri="{FF2B5EF4-FFF2-40B4-BE49-F238E27FC236}">
                  <a16:creationId xmlns:a16="http://schemas.microsoft.com/office/drawing/2014/main" id="{D6F6A139-F380-A797-ECDE-ED9531727C0F}"/>
                </a:ext>
              </a:extLst>
            </p:cNvPr>
            <p:cNvSpPr/>
            <p:nvPr/>
          </p:nvSpPr>
          <p:spPr>
            <a:xfrm>
              <a:off x="351024" y="4976799"/>
              <a:ext cx="3406738" cy="59007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圆角矩形 9">
              <a:extLst>
                <a:ext uri="{FF2B5EF4-FFF2-40B4-BE49-F238E27FC236}">
                  <a16:creationId xmlns:a16="http://schemas.microsoft.com/office/drawing/2014/main" id="{200E67D6-A763-680D-E206-A21BC9FF8659}"/>
                </a:ext>
              </a:extLst>
            </p:cNvPr>
            <p:cNvSpPr/>
            <p:nvPr/>
          </p:nvSpPr>
          <p:spPr>
            <a:xfrm>
              <a:off x="341344" y="4392341"/>
              <a:ext cx="3409512" cy="590074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6" name="圆角矩形 15">
              <a:extLst>
                <a:ext uri="{FF2B5EF4-FFF2-40B4-BE49-F238E27FC236}">
                  <a16:creationId xmlns:a16="http://schemas.microsoft.com/office/drawing/2014/main" id="{287A6B7B-AD27-A696-D9C4-8359FA2180EB}"/>
                </a:ext>
              </a:extLst>
            </p:cNvPr>
            <p:cNvSpPr/>
            <p:nvPr/>
          </p:nvSpPr>
          <p:spPr>
            <a:xfrm>
              <a:off x="331787" y="3796085"/>
              <a:ext cx="3409513" cy="592309"/>
            </a:xfrm>
            <a:prstGeom prst="round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E218A586-BEBA-5636-175A-20FDCF0B5B42}"/>
                </a:ext>
              </a:extLst>
            </p:cNvPr>
            <p:cNvSpPr txBox="1"/>
            <p:nvPr/>
          </p:nvSpPr>
          <p:spPr>
            <a:xfrm>
              <a:off x="511259" y="3907573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GPU1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A011550C-04EE-057E-6FA2-3980D80EA16C}"/>
                </a:ext>
              </a:extLst>
            </p:cNvPr>
            <p:cNvSpPr txBox="1"/>
            <p:nvPr/>
          </p:nvSpPr>
          <p:spPr>
            <a:xfrm>
              <a:off x="511259" y="4502712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GPU2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76A649A7-3CD0-B9F2-EB55-5B1DDB567D29}"/>
                </a:ext>
              </a:extLst>
            </p:cNvPr>
            <p:cNvSpPr txBox="1"/>
            <p:nvPr/>
          </p:nvSpPr>
          <p:spPr>
            <a:xfrm>
              <a:off x="513546" y="5087170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GPU3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5C9C1F92-0087-AB9F-24A3-972F73171D86}"/>
                </a:ext>
              </a:extLst>
            </p:cNvPr>
            <p:cNvSpPr txBox="1"/>
            <p:nvPr/>
          </p:nvSpPr>
          <p:spPr>
            <a:xfrm>
              <a:off x="511259" y="5912611"/>
              <a:ext cx="71365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GPU4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" name="标题 3">
            <a:extLst>
              <a:ext uri="{FF2B5EF4-FFF2-40B4-BE49-F238E27FC236}">
                <a16:creationId xmlns:a16="http://schemas.microsoft.com/office/drawing/2014/main" id="{A998918A-6455-057D-E0B5-CF85F8A90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CFE16173-201E-ECB4-08DB-E26E2E1902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D4990D4-5C7A-F733-F694-D2B328164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101" y="987387"/>
            <a:ext cx="11371556" cy="5360228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Early designs lack support for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GQA</a:t>
            </a:r>
          </a:p>
          <a:p>
            <a:pPr lvl="1"/>
            <a:r>
              <a:rPr lang="en" altLang="zh-CN" b="1">
                <a:solidFill>
                  <a:srgbClr val="C00000"/>
                </a:solidFill>
              </a:rPr>
              <a:t>Load imbalance </a:t>
            </a:r>
            <a:r>
              <a:rPr lang="en" altLang="zh-CN"/>
              <a:t>occurs under </a:t>
            </a:r>
            <a:r>
              <a:rPr lang="en" altLang="zh-CN" b="1">
                <a:solidFill>
                  <a:srgbClr val="C00000"/>
                </a:solidFill>
              </a:rPr>
              <a:t>low-traffic</a:t>
            </a:r>
            <a:r>
              <a:rPr lang="en" altLang="zh-CN"/>
              <a:t> conditions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en-US" altLang="zh-CN" b="1">
                <a:solidFill>
                  <a:srgbClr val="C00000"/>
                </a:solidFill>
              </a:rPr>
              <a:t>decoding</a:t>
            </a:r>
            <a:r>
              <a:rPr lang="en-US" altLang="zh-CN"/>
              <a:t>)</a:t>
            </a:r>
            <a:endParaRPr lang="en" altLang="zh-CN"/>
          </a:p>
          <a:p>
            <a:pPr lvl="1"/>
            <a:endParaRPr lang="en" altLang="zh-CN" b="1">
              <a:solidFill>
                <a:srgbClr val="C00000"/>
              </a:solidFill>
            </a:endParaRPr>
          </a:p>
          <a:p>
            <a:endParaRPr lang="en-US" altLang="zh-CN">
              <a:sym typeface="Wingdings" pitchFamily="2" charset="2"/>
            </a:endParaRPr>
          </a:p>
          <a:p>
            <a:pPr lvl="1"/>
            <a:endParaRPr lang="en-GB" altLang="zh-CN" sz="200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A89DA6-BA00-201E-DC2F-E47277A20A97}"/>
              </a:ext>
            </a:extLst>
          </p:cNvPr>
          <p:cNvSpPr/>
          <p:nvPr/>
        </p:nvSpPr>
        <p:spPr>
          <a:xfrm>
            <a:off x="1562703" y="3951486"/>
            <a:ext cx="615739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</a:t>
            </a:r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147239-1D10-2C70-8054-A4B11C4AA228}"/>
              </a:ext>
            </a:extLst>
          </p:cNvPr>
          <p:cNvSpPr/>
          <p:nvPr/>
        </p:nvSpPr>
        <p:spPr>
          <a:xfrm>
            <a:off x="2797589" y="3951486"/>
            <a:ext cx="748143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study</a:t>
            </a:r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107AC5-9478-66F1-4013-575196F17C7E}"/>
              </a:ext>
            </a:extLst>
          </p:cNvPr>
          <p:cNvSpPr/>
          <p:nvPr/>
        </p:nvSpPr>
        <p:spPr>
          <a:xfrm>
            <a:off x="1572733" y="4520865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84BE72A-53CA-4BE1-8BD9-3A65D5F87344}"/>
              </a:ext>
            </a:extLst>
          </p:cNvPr>
          <p:cNvSpPr/>
          <p:nvPr/>
        </p:nvSpPr>
        <p:spPr>
          <a:xfrm>
            <a:off x="2653387" y="4520865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3440082-B0D6-F45E-4E9F-60AC940FA71D}"/>
              </a:ext>
            </a:extLst>
          </p:cNvPr>
          <p:cNvSpPr/>
          <p:nvPr/>
        </p:nvSpPr>
        <p:spPr>
          <a:xfrm>
            <a:off x="1572733" y="5072815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620AE2-C82F-3F1F-DDF4-8A1472E4AA03}"/>
              </a:ext>
            </a:extLst>
          </p:cNvPr>
          <p:cNvSpPr/>
          <p:nvPr/>
        </p:nvSpPr>
        <p:spPr>
          <a:xfrm>
            <a:off x="2653387" y="5072815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5B495E5-9FDE-17B5-958C-DCB2845E5EF8}"/>
              </a:ext>
            </a:extLst>
          </p:cNvPr>
          <p:cNvSpPr/>
          <p:nvPr/>
        </p:nvSpPr>
        <p:spPr>
          <a:xfrm>
            <a:off x="1572733" y="5689210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F272F24-8266-5BD4-E7B1-1E532A6BE9AF}"/>
              </a:ext>
            </a:extLst>
          </p:cNvPr>
          <p:cNvSpPr/>
          <p:nvPr/>
        </p:nvSpPr>
        <p:spPr>
          <a:xfrm>
            <a:off x="2653387" y="5689210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3D7554D-3A58-14D1-BCAF-B5730CC7364E}"/>
              </a:ext>
            </a:extLst>
          </p:cNvPr>
          <p:cNvSpPr/>
          <p:nvPr/>
        </p:nvSpPr>
        <p:spPr>
          <a:xfrm>
            <a:off x="1572733" y="617490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517BEEF-BEE9-E8D6-D36C-6B3671DB43C0}"/>
              </a:ext>
            </a:extLst>
          </p:cNvPr>
          <p:cNvSpPr/>
          <p:nvPr/>
        </p:nvSpPr>
        <p:spPr>
          <a:xfrm>
            <a:off x="2653387" y="617490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ADE66F-9740-C1BE-F259-F796B203FC66}"/>
              </a:ext>
            </a:extLst>
          </p:cNvPr>
          <p:cNvSpPr txBox="1"/>
          <p:nvPr/>
        </p:nvSpPr>
        <p:spPr>
          <a:xfrm>
            <a:off x="341344" y="3955803"/>
            <a:ext cx="12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Req1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3791B07-4F6A-17C6-3468-AF8C03CFEEA2}"/>
              </a:ext>
            </a:extLst>
          </p:cNvPr>
          <p:cNvSpPr txBox="1"/>
          <p:nvPr/>
        </p:nvSpPr>
        <p:spPr>
          <a:xfrm>
            <a:off x="341344" y="4490892"/>
            <a:ext cx="12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Req2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5F9C5D7-AF08-5801-EDA0-ACD5880AFC56}"/>
              </a:ext>
            </a:extLst>
          </p:cNvPr>
          <p:cNvSpPr txBox="1"/>
          <p:nvPr/>
        </p:nvSpPr>
        <p:spPr>
          <a:xfrm>
            <a:off x="341344" y="5098989"/>
            <a:ext cx="12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Req3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AB7544-E0B0-28D3-E11D-E116CA1055ED}"/>
              </a:ext>
            </a:extLst>
          </p:cNvPr>
          <p:cNvSpPr txBox="1"/>
          <p:nvPr/>
        </p:nvSpPr>
        <p:spPr>
          <a:xfrm>
            <a:off x="341344" y="5695577"/>
            <a:ext cx="12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Req4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6A5BC3A-963D-7D9D-01D3-92621CE84C6F}"/>
              </a:ext>
            </a:extLst>
          </p:cNvPr>
          <p:cNvSpPr txBox="1"/>
          <p:nvPr/>
        </p:nvSpPr>
        <p:spPr>
          <a:xfrm>
            <a:off x="341344" y="6181483"/>
            <a:ext cx="12094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Req5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CA7EE11D-DF43-1958-C098-64738A604499}"/>
              </a:ext>
            </a:extLst>
          </p:cNvPr>
          <p:cNvSpPr txBox="1"/>
          <p:nvPr/>
        </p:nvSpPr>
        <p:spPr>
          <a:xfrm>
            <a:off x="5018021" y="6332177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ADCB974C-2CE4-A6A1-293D-55F30E932638}"/>
              </a:ext>
            </a:extLst>
          </p:cNvPr>
          <p:cNvCxnSpPr>
            <a:cxnSpLocks/>
          </p:cNvCxnSpPr>
          <p:nvPr/>
        </p:nvCxnSpPr>
        <p:spPr>
          <a:xfrm flipV="1">
            <a:off x="3545732" y="4140469"/>
            <a:ext cx="1529479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5F6590C8-5687-2192-2260-0522D7602BBC}"/>
              </a:ext>
            </a:extLst>
          </p:cNvPr>
          <p:cNvSpPr/>
          <p:nvPr/>
        </p:nvSpPr>
        <p:spPr>
          <a:xfrm>
            <a:off x="5097504" y="3950329"/>
            <a:ext cx="1765867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408280D-946E-2796-BDD4-494D2B679248}"/>
              </a:ext>
            </a:extLst>
          </p:cNvPr>
          <p:cNvSpPr txBox="1"/>
          <p:nvPr/>
        </p:nvSpPr>
        <p:spPr>
          <a:xfrm>
            <a:off x="3827105" y="3796085"/>
            <a:ext cx="931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Wq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proj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85EE4ED-B26D-F0AA-CF4F-60E18FB18C74}"/>
              </a:ext>
            </a:extLst>
          </p:cNvPr>
          <p:cNvSpPr/>
          <p:nvPr/>
        </p:nvSpPr>
        <p:spPr>
          <a:xfrm>
            <a:off x="2181850" y="3951486"/>
            <a:ext cx="622120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Iove</a:t>
            </a:r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7E702C6-46C2-8FF4-BD9A-AE7D55E9972C}"/>
              </a:ext>
            </a:extLst>
          </p:cNvPr>
          <p:cNvSpPr/>
          <p:nvPr/>
        </p:nvSpPr>
        <p:spPr>
          <a:xfrm>
            <a:off x="7779550" y="3950329"/>
            <a:ext cx="407149" cy="19859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D971034-E2D4-948B-CB2F-10ECCADD0D73}"/>
              </a:ext>
            </a:extLst>
          </p:cNvPr>
          <p:cNvSpPr/>
          <p:nvPr/>
        </p:nvSpPr>
        <p:spPr>
          <a:xfrm>
            <a:off x="8374073" y="3944092"/>
            <a:ext cx="407149" cy="1985951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492348BB-4ED5-E94D-2B01-90B6C9DF07C4}"/>
              </a:ext>
            </a:extLst>
          </p:cNvPr>
          <p:cNvSpPr/>
          <p:nvPr/>
        </p:nvSpPr>
        <p:spPr>
          <a:xfrm>
            <a:off x="8968596" y="3944091"/>
            <a:ext cx="407149" cy="19859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cxnSp>
        <p:nvCxnSpPr>
          <p:cNvPr id="49" name="肘形连接符 48">
            <a:extLst>
              <a:ext uri="{FF2B5EF4-FFF2-40B4-BE49-F238E27FC236}">
                <a16:creationId xmlns:a16="http://schemas.microsoft.com/office/drawing/2014/main" id="{3D87948F-1BE4-16DA-89DA-33CAC9697F91}"/>
              </a:ext>
            </a:extLst>
          </p:cNvPr>
          <p:cNvCxnSpPr>
            <a:stCxn id="2" idx="0"/>
            <a:endCxn id="43" idx="0"/>
          </p:cNvCxnSpPr>
          <p:nvPr/>
        </p:nvCxnSpPr>
        <p:spPr>
          <a:xfrm rot="5400000" flipH="1" flipV="1">
            <a:off x="4926271" y="894632"/>
            <a:ext cx="1157" cy="6112552"/>
          </a:xfrm>
          <a:prstGeom prst="bentConnector3">
            <a:avLst>
              <a:gd name="adj1" fmla="val 19857995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肘形连接符 50">
            <a:extLst>
              <a:ext uri="{FF2B5EF4-FFF2-40B4-BE49-F238E27FC236}">
                <a16:creationId xmlns:a16="http://schemas.microsoft.com/office/drawing/2014/main" id="{26F974FF-9520-B42B-CBC9-B8D9D758BE29}"/>
              </a:ext>
            </a:extLst>
          </p:cNvPr>
          <p:cNvCxnSpPr>
            <a:cxnSpLocks/>
            <a:stCxn id="39" idx="0"/>
            <a:endCxn id="46" idx="0"/>
          </p:cNvCxnSpPr>
          <p:nvPr/>
        </p:nvCxnSpPr>
        <p:spPr>
          <a:xfrm rot="5400000" flipH="1" flipV="1">
            <a:off x="5531582" y="905420"/>
            <a:ext cx="7394" cy="6084738"/>
          </a:xfrm>
          <a:prstGeom prst="bentConnector3">
            <a:avLst>
              <a:gd name="adj1" fmla="val 5081066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肘形连接符 54">
            <a:extLst>
              <a:ext uri="{FF2B5EF4-FFF2-40B4-BE49-F238E27FC236}">
                <a16:creationId xmlns:a16="http://schemas.microsoft.com/office/drawing/2014/main" id="{840F55AB-D694-E0E9-13B3-5091FF97AD90}"/>
              </a:ext>
            </a:extLst>
          </p:cNvPr>
          <p:cNvCxnSpPr>
            <a:cxnSpLocks/>
            <a:stCxn id="5" idx="0"/>
            <a:endCxn id="47" idx="0"/>
          </p:cNvCxnSpPr>
          <p:nvPr/>
        </p:nvCxnSpPr>
        <p:spPr>
          <a:xfrm rot="5400000" flipH="1" flipV="1">
            <a:off x="6168219" y="947534"/>
            <a:ext cx="7395" cy="6000510"/>
          </a:xfrm>
          <a:prstGeom prst="bentConnector3">
            <a:avLst>
              <a:gd name="adj1" fmla="val 6969479"/>
            </a:avLst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B1AF8467-C0F5-55F6-7BE3-19483F31234E}"/>
              </a:ext>
            </a:extLst>
          </p:cNvPr>
          <p:cNvSpPr txBox="1"/>
          <p:nvPr/>
        </p:nvSpPr>
        <p:spPr>
          <a:xfrm>
            <a:off x="5459995" y="3059271"/>
            <a:ext cx="921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Wk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proj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1" name="乘 60">
            <a:extLst>
              <a:ext uri="{FF2B5EF4-FFF2-40B4-BE49-F238E27FC236}">
                <a16:creationId xmlns:a16="http://schemas.microsoft.com/office/drawing/2014/main" id="{E571EFAE-3A6D-890F-B441-1F9D4370FD61}"/>
              </a:ext>
            </a:extLst>
          </p:cNvPr>
          <p:cNvSpPr/>
          <p:nvPr/>
        </p:nvSpPr>
        <p:spPr>
          <a:xfrm>
            <a:off x="7017640" y="4505944"/>
            <a:ext cx="440109" cy="440109"/>
          </a:xfrm>
          <a:prstGeom prst="mathMultiply">
            <a:avLst>
              <a:gd name="adj1" fmla="val 712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0" name="右箭头 69">
            <a:extLst>
              <a:ext uri="{FF2B5EF4-FFF2-40B4-BE49-F238E27FC236}">
                <a16:creationId xmlns:a16="http://schemas.microsoft.com/office/drawing/2014/main" id="{D15353C2-8CD8-12BA-C374-87037F73F626}"/>
              </a:ext>
            </a:extLst>
          </p:cNvPr>
          <p:cNvSpPr/>
          <p:nvPr/>
        </p:nvSpPr>
        <p:spPr>
          <a:xfrm>
            <a:off x="9574591" y="4738487"/>
            <a:ext cx="407149" cy="207566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F197469-672D-18AA-D682-6D5EC16BA5C1}"/>
              </a:ext>
            </a:extLst>
          </p:cNvPr>
          <p:cNvSpPr/>
          <p:nvPr/>
        </p:nvSpPr>
        <p:spPr>
          <a:xfrm>
            <a:off x="10130182" y="4009500"/>
            <a:ext cx="525063" cy="4964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q1k1</a:t>
            </a:r>
            <a:endParaRPr kumimoji="1" lang="zh-CN" altLang="en-US" sz="1600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4248E992-A1A6-4A96-1A7F-624D26896B67}"/>
              </a:ext>
            </a:extLst>
          </p:cNvPr>
          <p:cNvSpPr/>
          <p:nvPr/>
        </p:nvSpPr>
        <p:spPr>
          <a:xfrm>
            <a:off x="10130182" y="4505944"/>
            <a:ext cx="525063" cy="4964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q2k1</a:t>
            </a:r>
            <a:endParaRPr kumimoji="1" lang="zh-CN" altLang="en-US" sz="1600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383B1E4A-56E2-9C96-89A1-56CFFDA2C8FD}"/>
              </a:ext>
            </a:extLst>
          </p:cNvPr>
          <p:cNvSpPr/>
          <p:nvPr/>
        </p:nvSpPr>
        <p:spPr>
          <a:xfrm>
            <a:off x="10665048" y="4505944"/>
            <a:ext cx="525063" cy="49644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q2k2</a:t>
            </a:r>
            <a:endParaRPr kumimoji="1" lang="zh-CN" altLang="en-US" sz="160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E36706C-0C8A-8E58-C910-CD95C049FED7}"/>
              </a:ext>
            </a:extLst>
          </p:cNvPr>
          <p:cNvSpPr/>
          <p:nvPr/>
        </p:nvSpPr>
        <p:spPr>
          <a:xfrm>
            <a:off x="10130182" y="5002388"/>
            <a:ext cx="525063" cy="4964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q3k1</a:t>
            </a:r>
            <a:endParaRPr kumimoji="1" lang="zh-CN" altLang="en-US" sz="1600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F4AB14A8-0C86-ABFD-8851-FD238FB05180}"/>
              </a:ext>
            </a:extLst>
          </p:cNvPr>
          <p:cNvSpPr/>
          <p:nvPr/>
        </p:nvSpPr>
        <p:spPr>
          <a:xfrm>
            <a:off x="10662151" y="5005191"/>
            <a:ext cx="525063" cy="4964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q3k2</a:t>
            </a:r>
            <a:endParaRPr kumimoji="1" lang="zh-CN" altLang="en-US" sz="1600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A123EB13-0770-64FC-A614-641B4A46F773}"/>
              </a:ext>
            </a:extLst>
          </p:cNvPr>
          <p:cNvSpPr/>
          <p:nvPr/>
        </p:nvSpPr>
        <p:spPr>
          <a:xfrm>
            <a:off x="11187836" y="5005191"/>
            <a:ext cx="525063" cy="49644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 sz="1600"/>
              <a:t>q3k3</a:t>
            </a:r>
            <a:endParaRPr kumimoji="1" lang="zh-CN" altLang="en-US" sz="160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E714EAA-41E3-3095-27A2-1AB97776187B}"/>
              </a:ext>
            </a:extLst>
          </p:cNvPr>
          <p:cNvSpPr/>
          <p:nvPr/>
        </p:nvSpPr>
        <p:spPr>
          <a:xfrm>
            <a:off x="4477895" y="6332177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6C1B4949-063F-A095-3CEB-6CC9286DBE71}"/>
              </a:ext>
            </a:extLst>
          </p:cNvPr>
          <p:cNvSpPr/>
          <p:nvPr/>
        </p:nvSpPr>
        <p:spPr>
          <a:xfrm>
            <a:off x="6492577" y="6307229"/>
            <a:ext cx="5250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4F2F3BF-5296-2EB8-5D48-1124B737E155}"/>
              </a:ext>
            </a:extLst>
          </p:cNvPr>
          <p:cNvSpPr txBox="1"/>
          <p:nvPr/>
        </p:nvSpPr>
        <p:spPr>
          <a:xfrm>
            <a:off x="7054102" y="6332177"/>
            <a:ext cx="356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Computed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err="1"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D343005-5C7C-D7B6-9F8A-BBE4BA15564D}"/>
              </a:ext>
            </a:extLst>
          </p:cNvPr>
          <p:cNvSpPr txBox="1"/>
          <p:nvPr/>
        </p:nvSpPr>
        <p:spPr>
          <a:xfrm>
            <a:off x="1611506" y="2558422"/>
            <a:ext cx="9180613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decoding ,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token,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only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spilt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</a:t>
            </a:r>
            <a:r>
              <a:rPr kumimoji="1"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1B985D0D-5D84-20AF-A47D-073459E38275}"/>
              </a:ext>
            </a:extLst>
          </p:cNvPr>
          <p:cNvSpPr txBox="1"/>
          <p:nvPr/>
        </p:nvSpPr>
        <p:spPr>
          <a:xfrm>
            <a:off x="1398336" y="3054280"/>
            <a:ext cx="26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(embedded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124A5044-C7C3-3A3E-088F-489430A13FD6}"/>
              </a:ext>
            </a:extLst>
          </p:cNvPr>
          <p:cNvSpPr txBox="1"/>
          <p:nvPr/>
        </p:nvSpPr>
        <p:spPr>
          <a:xfrm>
            <a:off x="7983124" y="3038368"/>
            <a:ext cx="1236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240ACA9-2E80-738E-9FBE-7585C8E86998}"/>
              </a:ext>
            </a:extLst>
          </p:cNvPr>
          <p:cNvSpPr txBox="1"/>
          <p:nvPr/>
        </p:nvSpPr>
        <p:spPr>
          <a:xfrm>
            <a:off x="10065089" y="3053023"/>
            <a:ext cx="1647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Output(Q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1" lang="en-US" altLang="zh-CN" baseline="30000"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十二角星 31">
            <a:extLst>
              <a:ext uri="{FF2B5EF4-FFF2-40B4-BE49-F238E27FC236}">
                <a16:creationId xmlns:a16="http://schemas.microsoft.com/office/drawing/2014/main" id="{D8F06A23-2AD1-58C8-8326-6EFDDFAB41A5}"/>
              </a:ext>
            </a:extLst>
          </p:cNvPr>
          <p:cNvSpPr/>
          <p:nvPr/>
        </p:nvSpPr>
        <p:spPr>
          <a:xfrm>
            <a:off x="4505718" y="4828348"/>
            <a:ext cx="2368851" cy="1087772"/>
          </a:xfrm>
          <a:prstGeom prst="star12">
            <a:avLst>
              <a:gd name="adj" fmla="val 3438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Load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imbalance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EF799867-6587-5ED3-11C9-EDEACACE5300}"/>
              </a:ext>
            </a:extLst>
          </p:cNvPr>
          <p:cNvCxnSpPr>
            <a:stCxn id="3" idx="3"/>
          </p:cNvCxnSpPr>
          <p:nvPr/>
        </p:nvCxnSpPr>
        <p:spPr>
          <a:xfrm flipV="1">
            <a:off x="3757762" y="5566873"/>
            <a:ext cx="869465" cy="53040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647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4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34" grpId="0" animBg="1"/>
      <p:bldP spid="36" grpId="0"/>
      <p:bldP spid="47" grpId="0" animBg="1"/>
      <p:bldP spid="59" grpId="0"/>
      <p:bldP spid="61" grpId="0" animBg="1"/>
      <p:bldP spid="76" grpId="0" animBg="1"/>
      <p:bldP spid="77" grpId="0" animBg="1"/>
      <p:bldP spid="78" grpId="0" animBg="1"/>
      <p:bldP spid="82" grpId="0" animBg="1"/>
      <p:bldP spid="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2A737-F6DC-6F53-65EA-116DC78C2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0E66FDE-C84A-30D0-7B79-AD6FA7A7AF74}"/>
              </a:ext>
            </a:extLst>
          </p:cNvPr>
          <p:cNvSpPr/>
          <p:nvPr/>
        </p:nvSpPr>
        <p:spPr>
          <a:xfrm>
            <a:off x="5708960" y="3603991"/>
            <a:ext cx="1765867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976B0A3B-96C4-1D64-24E4-88FACBA51B40}"/>
              </a:ext>
            </a:extLst>
          </p:cNvPr>
          <p:cNvSpPr/>
          <p:nvPr/>
        </p:nvSpPr>
        <p:spPr>
          <a:xfrm>
            <a:off x="351023" y="5209537"/>
            <a:ext cx="5232114" cy="10775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EEC8CA65-A2D0-96C2-D9FC-4B7857326E8E}"/>
              </a:ext>
            </a:extLst>
          </p:cNvPr>
          <p:cNvSpPr/>
          <p:nvPr/>
        </p:nvSpPr>
        <p:spPr>
          <a:xfrm>
            <a:off x="351023" y="4615515"/>
            <a:ext cx="523211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7932E1E5-5BD8-4F95-9E1A-EF5C1253BA1E}"/>
              </a:ext>
            </a:extLst>
          </p:cNvPr>
          <p:cNvSpPr/>
          <p:nvPr/>
        </p:nvSpPr>
        <p:spPr>
          <a:xfrm>
            <a:off x="341343" y="4017450"/>
            <a:ext cx="524179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DCCADE70-B680-FE4D-6B05-D83795712ED5}"/>
              </a:ext>
            </a:extLst>
          </p:cNvPr>
          <p:cNvSpPr/>
          <p:nvPr/>
        </p:nvSpPr>
        <p:spPr>
          <a:xfrm>
            <a:off x="331786" y="3459746"/>
            <a:ext cx="5251351" cy="59230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3E0845E8-4F2C-7B82-1F58-B93388956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AD9812B9-A4BC-D30B-4B9A-91FE12D394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6EC67883-3D94-6C3B-4BD5-63B4A95E2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457529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Early designs lack support for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GQA</a:t>
            </a:r>
          </a:p>
          <a:p>
            <a:pPr lvl="1"/>
            <a:r>
              <a:rPr lang="en" altLang="zh-CN"/>
              <a:t>What problems does </a:t>
            </a:r>
            <a:r>
              <a:rPr lang="en" altLang="zh-CN" b="1">
                <a:solidFill>
                  <a:srgbClr val="C00000"/>
                </a:solidFill>
              </a:rPr>
              <a:t>Load imbalance</a:t>
            </a:r>
            <a:r>
              <a:rPr lang="en" altLang="zh-CN"/>
              <a:t> cause?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en-US" altLang="zh-CN" b="1">
                <a:solidFill>
                  <a:srgbClr val="C00000"/>
                </a:solidFill>
              </a:rPr>
              <a:t>decoding</a:t>
            </a:r>
            <a:r>
              <a:rPr lang="en-US" altLang="zh-CN"/>
              <a:t>)</a:t>
            </a:r>
            <a:endParaRPr lang="en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82BF83-E86E-DBC1-3EA9-EAB09611B69C}"/>
              </a:ext>
            </a:extLst>
          </p:cNvPr>
          <p:cNvSpPr/>
          <p:nvPr/>
        </p:nvSpPr>
        <p:spPr>
          <a:xfrm>
            <a:off x="1279772" y="3615147"/>
            <a:ext cx="615739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</a:t>
            </a:r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AAC42EB-1E41-C53C-3B04-FC9F5A634F6C}"/>
              </a:ext>
            </a:extLst>
          </p:cNvPr>
          <p:cNvSpPr/>
          <p:nvPr/>
        </p:nvSpPr>
        <p:spPr>
          <a:xfrm>
            <a:off x="2514658" y="3615147"/>
            <a:ext cx="748143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study</a:t>
            </a:r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405E7B4-8FCD-1262-04DF-7C01D05F6CC0}"/>
              </a:ext>
            </a:extLst>
          </p:cNvPr>
          <p:cNvSpPr/>
          <p:nvPr/>
        </p:nvSpPr>
        <p:spPr>
          <a:xfrm>
            <a:off x="1289802" y="418452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1E4808F-5047-9834-420F-2007573BE39C}"/>
              </a:ext>
            </a:extLst>
          </p:cNvPr>
          <p:cNvSpPr/>
          <p:nvPr/>
        </p:nvSpPr>
        <p:spPr>
          <a:xfrm>
            <a:off x="2370456" y="418452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2A7CE51-CB85-ED36-F8F7-763D9EBF4C35}"/>
              </a:ext>
            </a:extLst>
          </p:cNvPr>
          <p:cNvSpPr/>
          <p:nvPr/>
        </p:nvSpPr>
        <p:spPr>
          <a:xfrm>
            <a:off x="1289802" y="473647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C47A8EB-6E70-472B-2E34-DF9B63715D30}"/>
              </a:ext>
            </a:extLst>
          </p:cNvPr>
          <p:cNvSpPr/>
          <p:nvPr/>
        </p:nvSpPr>
        <p:spPr>
          <a:xfrm>
            <a:off x="2370456" y="473647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3AF7376-5AD6-B5B1-345F-ED84B9C42F9D}"/>
              </a:ext>
            </a:extLst>
          </p:cNvPr>
          <p:cNvSpPr/>
          <p:nvPr/>
        </p:nvSpPr>
        <p:spPr>
          <a:xfrm>
            <a:off x="1289802" y="5352871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F632214-DCE1-D2DF-8E5E-C374F8338E99}"/>
              </a:ext>
            </a:extLst>
          </p:cNvPr>
          <p:cNvSpPr/>
          <p:nvPr/>
        </p:nvSpPr>
        <p:spPr>
          <a:xfrm>
            <a:off x="2370456" y="5352871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63C4A6-8785-3BAC-277E-6F61FEF01149}"/>
              </a:ext>
            </a:extLst>
          </p:cNvPr>
          <p:cNvSpPr/>
          <p:nvPr/>
        </p:nvSpPr>
        <p:spPr>
          <a:xfrm>
            <a:off x="1289802" y="5838567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B311624-5DE1-F827-AF30-BEAE74B23CED}"/>
              </a:ext>
            </a:extLst>
          </p:cNvPr>
          <p:cNvSpPr/>
          <p:nvPr/>
        </p:nvSpPr>
        <p:spPr>
          <a:xfrm>
            <a:off x="2370456" y="5838567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2572E5B-A019-7C86-FD4B-E23DA3F83006}"/>
              </a:ext>
            </a:extLst>
          </p:cNvPr>
          <p:cNvSpPr txBox="1"/>
          <p:nvPr/>
        </p:nvSpPr>
        <p:spPr>
          <a:xfrm>
            <a:off x="5018020" y="6410252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6C6EBFF-C1BE-E9F7-54AC-5DE5D7B9C93C}"/>
              </a:ext>
            </a:extLst>
          </p:cNvPr>
          <p:cNvSpPr/>
          <p:nvPr/>
        </p:nvSpPr>
        <p:spPr>
          <a:xfrm>
            <a:off x="1898919" y="3615147"/>
            <a:ext cx="622120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Iove</a:t>
            </a:r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E8A3A04-DE35-2BCD-4E44-0936E1882203}"/>
              </a:ext>
            </a:extLst>
          </p:cNvPr>
          <p:cNvSpPr/>
          <p:nvPr/>
        </p:nvSpPr>
        <p:spPr>
          <a:xfrm>
            <a:off x="7983124" y="3569996"/>
            <a:ext cx="407149" cy="4380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6ADB1F7-E75E-4484-EAFC-EA2FEFA82091}"/>
              </a:ext>
            </a:extLst>
          </p:cNvPr>
          <p:cNvSpPr/>
          <p:nvPr/>
        </p:nvSpPr>
        <p:spPr>
          <a:xfrm>
            <a:off x="8577647" y="3563759"/>
            <a:ext cx="407149" cy="4419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61" name="乘 60">
            <a:extLst>
              <a:ext uri="{FF2B5EF4-FFF2-40B4-BE49-F238E27FC236}">
                <a16:creationId xmlns:a16="http://schemas.microsoft.com/office/drawing/2014/main" id="{1C0C4552-3717-E355-67F1-F98AE353AF86}"/>
              </a:ext>
            </a:extLst>
          </p:cNvPr>
          <p:cNvSpPr/>
          <p:nvPr/>
        </p:nvSpPr>
        <p:spPr>
          <a:xfrm>
            <a:off x="7275400" y="4402148"/>
            <a:ext cx="440109" cy="440109"/>
          </a:xfrm>
          <a:prstGeom prst="mathMultiply">
            <a:avLst>
              <a:gd name="adj1" fmla="val 7121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AF6FC90-D6E9-BA45-D83C-EA4A1BFB3DCA}"/>
              </a:ext>
            </a:extLst>
          </p:cNvPr>
          <p:cNvSpPr/>
          <p:nvPr/>
        </p:nvSpPr>
        <p:spPr>
          <a:xfrm>
            <a:off x="4477894" y="6410252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2B8C3949-58C7-3181-C540-0EAE8071F63B}"/>
              </a:ext>
            </a:extLst>
          </p:cNvPr>
          <p:cNvSpPr/>
          <p:nvPr/>
        </p:nvSpPr>
        <p:spPr>
          <a:xfrm>
            <a:off x="6492576" y="6385304"/>
            <a:ext cx="5250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AAFE9900-CC06-5942-83AF-92A08068DD64}"/>
              </a:ext>
            </a:extLst>
          </p:cNvPr>
          <p:cNvSpPr txBox="1"/>
          <p:nvPr/>
        </p:nvSpPr>
        <p:spPr>
          <a:xfrm>
            <a:off x="7090079" y="6410252"/>
            <a:ext cx="356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Computed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err="1"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1AD25D5-9955-B771-DDE0-55391DDABBE8}"/>
              </a:ext>
            </a:extLst>
          </p:cNvPr>
          <p:cNvSpPr txBox="1"/>
          <p:nvPr/>
        </p:nvSpPr>
        <p:spPr>
          <a:xfrm>
            <a:off x="534972" y="357123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GPU1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E686E762-7732-024A-4E59-C174342FD954}"/>
              </a:ext>
            </a:extLst>
          </p:cNvPr>
          <p:cNvSpPr txBox="1"/>
          <p:nvPr/>
        </p:nvSpPr>
        <p:spPr>
          <a:xfrm>
            <a:off x="534972" y="4127821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GPU2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AECD1F1C-1193-9EF9-A014-6C58CCC99697}"/>
              </a:ext>
            </a:extLst>
          </p:cNvPr>
          <p:cNvSpPr txBox="1"/>
          <p:nvPr/>
        </p:nvSpPr>
        <p:spPr>
          <a:xfrm>
            <a:off x="537259" y="472588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GPU3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26153A85-DF63-FE84-F1B9-600280A2DB4B}"/>
              </a:ext>
            </a:extLst>
          </p:cNvPr>
          <p:cNvSpPr txBox="1"/>
          <p:nvPr/>
        </p:nvSpPr>
        <p:spPr>
          <a:xfrm>
            <a:off x="537259" y="5563637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GPU4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302360F5-BE90-C857-98E4-F99A3F3E1573}"/>
              </a:ext>
            </a:extLst>
          </p:cNvPr>
          <p:cNvSpPr txBox="1"/>
          <p:nvPr/>
        </p:nvSpPr>
        <p:spPr>
          <a:xfrm>
            <a:off x="8304332" y="3051277"/>
            <a:ext cx="1236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vectors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82913E-8658-6A27-5A5B-82615B5637C0}"/>
              </a:ext>
            </a:extLst>
          </p:cNvPr>
          <p:cNvSpPr/>
          <p:nvPr/>
        </p:nvSpPr>
        <p:spPr>
          <a:xfrm>
            <a:off x="7973569" y="4135828"/>
            <a:ext cx="407149" cy="4380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5405FB0-769D-8AD8-663A-4C480E5E8D81}"/>
              </a:ext>
            </a:extLst>
          </p:cNvPr>
          <p:cNvSpPr/>
          <p:nvPr/>
        </p:nvSpPr>
        <p:spPr>
          <a:xfrm>
            <a:off x="7983124" y="4694656"/>
            <a:ext cx="407149" cy="43806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812FF6-7748-EF8A-B38D-63C80D3CA779}"/>
              </a:ext>
            </a:extLst>
          </p:cNvPr>
          <p:cNvSpPr/>
          <p:nvPr/>
        </p:nvSpPr>
        <p:spPr>
          <a:xfrm>
            <a:off x="7983124" y="5294435"/>
            <a:ext cx="407149" cy="4380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3C79A16-2BB5-0C62-C572-73844267E241}"/>
              </a:ext>
            </a:extLst>
          </p:cNvPr>
          <p:cNvSpPr/>
          <p:nvPr/>
        </p:nvSpPr>
        <p:spPr>
          <a:xfrm>
            <a:off x="8557764" y="4131906"/>
            <a:ext cx="407149" cy="4419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7FC98FF-8370-1744-7F36-0A2F05467E00}"/>
              </a:ext>
            </a:extLst>
          </p:cNvPr>
          <p:cNvSpPr/>
          <p:nvPr/>
        </p:nvSpPr>
        <p:spPr>
          <a:xfrm>
            <a:off x="8567319" y="4690734"/>
            <a:ext cx="407149" cy="44198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81B364D-6E10-5A79-48BF-8F92769C253E}"/>
              </a:ext>
            </a:extLst>
          </p:cNvPr>
          <p:cNvSpPr/>
          <p:nvPr/>
        </p:nvSpPr>
        <p:spPr>
          <a:xfrm>
            <a:off x="8567318" y="5290481"/>
            <a:ext cx="407149" cy="44198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480D01C-BEA6-DFC4-7CFE-D428F418C4D5}"/>
              </a:ext>
            </a:extLst>
          </p:cNvPr>
          <p:cNvSpPr/>
          <p:nvPr/>
        </p:nvSpPr>
        <p:spPr>
          <a:xfrm>
            <a:off x="5708518" y="3607227"/>
            <a:ext cx="407150" cy="344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7A4C696-B893-9C8E-086C-A52B95509D3C}"/>
              </a:ext>
            </a:extLst>
          </p:cNvPr>
          <p:cNvSpPr/>
          <p:nvPr/>
        </p:nvSpPr>
        <p:spPr>
          <a:xfrm>
            <a:off x="6241048" y="3603174"/>
            <a:ext cx="407150" cy="3443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D2393AE-F64D-C72B-424E-364A0F782059}"/>
              </a:ext>
            </a:extLst>
          </p:cNvPr>
          <p:cNvSpPr/>
          <p:nvPr/>
        </p:nvSpPr>
        <p:spPr>
          <a:xfrm>
            <a:off x="6730687" y="3609327"/>
            <a:ext cx="407150" cy="3443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BFCF2B6-87C7-AEC2-C8EF-86ED33748243}"/>
              </a:ext>
            </a:extLst>
          </p:cNvPr>
          <p:cNvSpPr/>
          <p:nvPr/>
        </p:nvSpPr>
        <p:spPr>
          <a:xfrm>
            <a:off x="7226520" y="3603174"/>
            <a:ext cx="407150" cy="34438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5D0D58B-9873-DABD-4208-9C9455F3E540}"/>
              </a:ext>
            </a:extLst>
          </p:cNvPr>
          <p:cNvSpPr txBox="1"/>
          <p:nvPr/>
        </p:nvSpPr>
        <p:spPr>
          <a:xfrm>
            <a:off x="2671564" y="2556976"/>
            <a:ext cx="75517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 de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coding</a:t>
            </a:r>
            <a:r>
              <a:rPr lang="en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QKV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scattered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E73A3FF-2B42-C601-9576-6BCC167A6D9A}"/>
              </a:ext>
            </a:extLst>
          </p:cNvPr>
          <p:cNvCxnSpPr/>
          <p:nvPr/>
        </p:nvCxnSpPr>
        <p:spPr>
          <a:xfrm>
            <a:off x="6492576" y="4005746"/>
            <a:ext cx="0" cy="564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椭圆 36">
            <a:extLst>
              <a:ext uri="{FF2B5EF4-FFF2-40B4-BE49-F238E27FC236}">
                <a16:creationId xmlns:a16="http://schemas.microsoft.com/office/drawing/2014/main" id="{05D3ABB0-D506-DC77-630C-F6B7EB85384B}"/>
              </a:ext>
            </a:extLst>
          </p:cNvPr>
          <p:cNvSpPr/>
          <p:nvPr/>
        </p:nvSpPr>
        <p:spPr>
          <a:xfrm>
            <a:off x="5890579" y="4661417"/>
            <a:ext cx="1251013" cy="4194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scatter</a:t>
            </a:r>
            <a:endParaRPr kumimoji="1"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0BC19DB-B926-2167-25E4-9A3BA9E4BECA}"/>
              </a:ext>
            </a:extLst>
          </p:cNvPr>
          <p:cNvSpPr txBox="1"/>
          <p:nvPr/>
        </p:nvSpPr>
        <p:spPr>
          <a:xfrm>
            <a:off x="1398336" y="3054280"/>
            <a:ext cx="26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(embedded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B1C3EEA-740F-17B7-C911-DD160A265C60}"/>
              </a:ext>
            </a:extLst>
          </p:cNvPr>
          <p:cNvSpPr/>
          <p:nvPr/>
        </p:nvSpPr>
        <p:spPr>
          <a:xfrm>
            <a:off x="9203024" y="3546171"/>
            <a:ext cx="407149" cy="1985951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AD5E71F-02E8-F422-4770-ADAB4E286AE3}"/>
              </a:ext>
            </a:extLst>
          </p:cNvPr>
          <p:cNvSpPr/>
          <p:nvPr/>
        </p:nvSpPr>
        <p:spPr>
          <a:xfrm>
            <a:off x="9206126" y="3539299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F24CA43-FD4D-EE39-F37C-30EF971FE68F}"/>
              </a:ext>
            </a:extLst>
          </p:cNvPr>
          <p:cNvSpPr/>
          <p:nvPr/>
        </p:nvSpPr>
        <p:spPr>
          <a:xfrm>
            <a:off x="9196571" y="4126048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E966930-042E-64F0-D5C2-EFB51D3232D6}"/>
              </a:ext>
            </a:extLst>
          </p:cNvPr>
          <p:cNvSpPr/>
          <p:nvPr/>
        </p:nvSpPr>
        <p:spPr>
          <a:xfrm>
            <a:off x="9206127" y="4682043"/>
            <a:ext cx="407149" cy="4194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FC937E0E-A053-FB00-CB88-23C5D91F7B03}"/>
              </a:ext>
            </a:extLst>
          </p:cNvPr>
          <p:cNvSpPr/>
          <p:nvPr/>
        </p:nvSpPr>
        <p:spPr>
          <a:xfrm>
            <a:off x="9206127" y="5280332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528D29BB-F80A-2BDB-8534-18659E6E8AA1}"/>
              </a:ext>
            </a:extLst>
          </p:cNvPr>
          <p:cNvCxnSpPr>
            <a:cxnSpLocks/>
          </p:cNvCxnSpPr>
          <p:nvPr/>
        </p:nvCxnSpPr>
        <p:spPr>
          <a:xfrm flipH="1">
            <a:off x="7275400" y="4842257"/>
            <a:ext cx="1828585" cy="288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C636532F-9119-F269-65DF-8E364E11FFE9}"/>
              </a:ext>
            </a:extLst>
          </p:cNvPr>
          <p:cNvSpPr txBox="1"/>
          <p:nvPr/>
        </p:nvSpPr>
        <p:spPr>
          <a:xfrm>
            <a:off x="7017639" y="4463161"/>
            <a:ext cx="3577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Other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request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similar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6" name="组合 65">
            <a:extLst>
              <a:ext uri="{FF2B5EF4-FFF2-40B4-BE49-F238E27FC236}">
                <a16:creationId xmlns:a16="http://schemas.microsoft.com/office/drawing/2014/main" id="{6091D130-7FB2-5855-FCC8-940F4FF5CA1F}"/>
              </a:ext>
            </a:extLst>
          </p:cNvPr>
          <p:cNvGrpSpPr/>
          <p:nvPr/>
        </p:nvGrpSpPr>
        <p:grpSpPr>
          <a:xfrm rot="16200000">
            <a:off x="1840581" y="5775711"/>
            <a:ext cx="432098" cy="1638414"/>
            <a:chOff x="6393740" y="3492127"/>
            <a:chExt cx="525064" cy="1990920"/>
          </a:xfrm>
        </p:grpSpPr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AFBB5979-5FDE-AAFB-ECC8-A1E9AF5188B0}"/>
                </a:ext>
              </a:extLst>
            </p:cNvPr>
            <p:cNvSpPr/>
            <p:nvPr/>
          </p:nvSpPr>
          <p:spPr>
            <a:xfrm>
              <a:off x="6393741" y="349212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FE1D7C33-8C4A-57A1-EDF6-63233F66A36D}"/>
                </a:ext>
              </a:extLst>
            </p:cNvPr>
            <p:cNvSpPr/>
            <p:nvPr/>
          </p:nvSpPr>
          <p:spPr>
            <a:xfrm>
              <a:off x="6393741" y="3996621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71" name="矩形 70">
              <a:extLst>
                <a:ext uri="{FF2B5EF4-FFF2-40B4-BE49-F238E27FC236}">
                  <a16:creationId xmlns:a16="http://schemas.microsoft.com/office/drawing/2014/main" id="{FB56ED5D-F7DF-F3E7-BF0D-B4523DA66816}"/>
                </a:ext>
              </a:extLst>
            </p:cNvPr>
            <p:cNvSpPr/>
            <p:nvPr/>
          </p:nvSpPr>
          <p:spPr>
            <a:xfrm>
              <a:off x="6393741" y="4490275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1A239261-5876-F1F7-3C4A-6FC281632F77}"/>
                </a:ext>
              </a:extLst>
            </p:cNvPr>
            <p:cNvSpPr/>
            <p:nvPr/>
          </p:nvSpPr>
          <p:spPr>
            <a:xfrm>
              <a:off x="6393740" y="4986603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83" name="文本框 82">
            <a:extLst>
              <a:ext uri="{FF2B5EF4-FFF2-40B4-BE49-F238E27FC236}">
                <a16:creationId xmlns:a16="http://schemas.microsoft.com/office/drawing/2014/main" id="{EF6D04D3-FF8B-50F0-4C0F-9DBD4EA5D6D5}"/>
              </a:ext>
            </a:extLst>
          </p:cNvPr>
          <p:cNvSpPr txBox="1"/>
          <p:nvPr/>
        </p:nvSpPr>
        <p:spPr>
          <a:xfrm>
            <a:off x="2929244" y="6393345"/>
            <a:ext cx="14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Differ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heads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9A2A22-6B7D-70A8-09B1-FE5C76437A98}"/>
              </a:ext>
            </a:extLst>
          </p:cNvPr>
          <p:cNvSpPr txBox="1"/>
          <p:nvPr/>
        </p:nvSpPr>
        <p:spPr>
          <a:xfrm>
            <a:off x="2671564" y="2555217"/>
            <a:ext cx="7123643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 </a:t>
            </a:r>
            <a:r>
              <a:rPr lang="en" altLang="zh-CN" sz="20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prefil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SP splits K and V along the head dimension.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407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0208 L -0.34453 -0.0044 L -0.34453 -0.00463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6" y="-34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73 0.00209 L -0.34453 -0.0044 L -0.34453 -0.00463 " pathEditMode="relative" rAng="0" ptsTypes="AAA">
                                      <p:cBhvr>
                                        <p:cTn id="8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6" y="-34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-3.7037E-6 L -0.34388 -3.7037E-6 L -0.34388 0.00024 " pathEditMode="relative" rAng="0" ptsTypes="AAA">
                                      <p:cBhvr>
                                        <p:cTn id="10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01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-2.22222E-6 L -0.34388 -2.22222E-6 L -0.34388 0.00023 " pathEditMode="relative" rAng="0" ptsTypes="AAA">
                                      <p:cBhvr>
                                        <p:cTn id="12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201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0811 L -0.3483 0.00324 L -0.3483 0.0037 " pathEditMode="relative" rAng="0" ptsTypes="AAA">
                                      <p:cBhvr>
                                        <p:cTn id="1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6" y="57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38 -0.0081 L -0.34831 0.00324 L -0.34831 0.00371 " pathEditMode="relative" rAng="0" ptsTypes="AAA">
                                      <p:cBhvr>
                                        <p:cTn id="1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096" y="579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1 4.81481E-6 L -0.34752 0.00648 L -0.34752 0.00671 " pathEditMode="relative" rAng="0" ptsTypes="AAA">
                                      <p:cBhvr>
                                        <p:cTn id="18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10" y="324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32 -3.7037E-6 L -0.34752 0.00649 L -0.34752 0.00672 " pathEditMode="relative" rAng="0" ptsTypes="AAA">
                                      <p:cBhvr>
                                        <p:cTn id="2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510" y="32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4.81481E-6 L -0.19427 0.00579 L -0.19427 0.00672 " pathEditMode="relative" rAng="0" ptsTypes="AAA">
                                      <p:cBhvr>
                                        <p:cTn id="68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14" y="324"/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2.96296E-6 L -0.2487 0.08565 L -0.2487 0.08611 " pathEditMode="relative" rAng="0" ptsTypes="AAA">
                                      <p:cBhvr>
                                        <p:cTn id="70" dur="2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435" y="4306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11111E-6 L -0.28893 0.1713 L -0.28893 0.17176 " pathEditMode="relative" rAng="0" ptsTypes="AAA">
                                      <p:cBhvr>
                                        <p:cTn id="72" dur="2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453" y="8588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96296E-6 L -0.32826 0.26042 L -0.32826 0.26111 " pathEditMode="relative" rAng="0" ptsTypes="AAA">
                                      <p:cBhvr>
                                        <p:cTn id="74" dur="2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419" y="130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96 0.00324 L -0.35196 0.00324 " pathEditMode="relative" ptsTypes="AAA">
                                      <p:cBhvr>
                                        <p:cTn id="78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96 0.00324 L -0.35196 0.00324 " pathEditMode="relative" ptsTypes="AAA">
                                      <p:cBhvr>
                                        <p:cTn id="80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96 0.00324 L -0.35196 0.00324 " pathEditMode="relative" ptsTypes="AAA">
                                      <p:cBhvr>
                                        <p:cTn id="82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8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35196 0.00324 L -0.35196 0.00324 " pathEditMode="relative" ptsTypes="AAA">
                                      <p:cBhvr>
                                        <p:cTn id="8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43" grpId="0" animBg="1"/>
      <p:bldP spid="46" grpId="0" animBg="1"/>
      <p:bldP spid="61" grpId="0" animBg="1"/>
      <p:bldP spid="95" grpId="0"/>
      <p:bldP spid="6" grpId="0" animBg="1"/>
      <p:bldP spid="10" grpId="0" animBg="1"/>
      <p:bldP spid="17" grpId="0" animBg="1"/>
      <p:bldP spid="26" grpId="0" animBg="1"/>
      <p:bldP spid="29" grpId="0" animBg="1"/>
      <p:bldP spid="30" grpId="0" animBg="1"/>
      <p:bldP spid="45" grpId="0" animBg="1"/>
      <p:bldP spid="45" grpId="1" animBg="1"/>
      <p:bldP spid="52" grpId="0" animBg="1"/>
      <p:bldP spid="52" grpId="1" animBg="1"/>
      <p:bldP spid="53" grpId="0" animBg="1"/>
      <p:bldP spid="53" grpId="1" animBg="1"/>
      <p:bldP spid="54" grpId="0" animBg="1"/>
      <p:bldP spid="54" grpId="1" animBg="1"/>
      <p:bldP spid="22" grpId="0" animBg="1"/>
      <p:bldP spid="37" grpId="0" animBg="1"/>
      <p:bldP spid="37" grpId="1" animBg="1"/>
      <p:bldP spid="50" grpId="0" animBg="1"/>
      <p:bldP spid="47" grpId="0" animBg="1"/>
      <p:bldP spid="47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64" grpId="0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C6147-D1E0-F32D-A361-CE34CE498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4D177875-F7CC-B5DA-CDC6-4D49E668DD07}"/>
              </a:ext>
            </a:extLst>
          </p:cNvPr>
          <p:cNvGrpSpPr/>
          <p:nvPr/>
        </p:nvGrpSpPr>
        <p:grpSpPr>
          <a:xfrm>
            <a:off x="7030255" y="3236310"/>
            <a:ext cx="525063" cy="2412371"/>
            <a:chOff x="6897813" y="3289537"/>
            <a:chExt cx="525063" cy="2412371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5803B2D1-C905-2A6A-A3CD-DC3A967F7005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B08892B6-85D5-39B3-C07E-8C65F4852157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ACA3EAF0-11E0-6137-9FF1-3D196CBFB204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CD361ADB-341F-8FB1-403B-CBDF68033CD7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E36CA502-5481-9BD3-95D1-AC3243BC603A}"/>
              </a:ext>
            </a:extLst>
          </p:cNvPr>
          <p:cNvGrpSpPr/>
          <p:nvPr/>
        </p:nvGrpSpPr>
        <p:grpSpPr>
          <a:xfrm>
            <a:off x="6877639" y="3354868"/>
            <a:ext cx="525063" cy="2412371"/>
            <a:chOff x="6897813" y="3289537"/>
            <a:chExt cx="525063" cy="2412371"/>
          </a:xfrm>
        </p:grpSpPr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67DAF4BB-3AEF-E514-63E7-9E20E87C4C3C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7373B9F8-B8EE-F117-6387-9C963B83DC20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303007B0-FE9C-ACBD-AD97-62865FAAF183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9C829E8C-F3AC-9533-7D1C-5067CE3C901B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90A9733A-58E5-0869-1145-B472CC3872A4}"/>
              </a:ext>
            </a:extLst>
          </p:cNvPr>
          <p:cNvGrpSpPr/>
          <p:nvPr/>
        </p:nvGrpSpPr>
        <p:grpSpPr>
          <a:xfrm>
            <a:off x="6691807" y="3482507"/>
            <a:ext cx="525063" cy="2412371"/>
            <a:chOff x="6897813" y="3289537"/>
            <a:chExt cx="525063" cy="2412371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C923DD0A-DE8B-0ED4-4F9A-D38569FD23E7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42150BC1-C6D6-785E-717B-64063455F1A8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3C7FA67C-E05D-5251-A39D-DFC62C911AB4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8A9C215D-4B09-CB22-F54B-59AFC5B07D9D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F2C874FB-FA78-A3BE-1DA8-BAE69530633D}"/>
              </a:ext>
            </a:extLst>
          </p:cNvPr>
          <p:cNvGrpSpPr/>
          <p:nvPr/>
        </p:nvGrpSpPr>
        <p:grpSpPr>
          <a:xfrm>
            <a:off x="6444943" y="3590458"/>
            <a:ext cx="525063" cy="2412371"/>
            <a:chOff x="6650949" y="3397488"/>
            <a:chExt cx="525063" cy="2412371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3BBC8CF0-2F46-D145-2080-B03CCEF01B58}"/>
                </a:ext>
              </a:extLst>
            </p:cNvPr>
            <p:cNvSpPr/>
            <p:nvPr/>
          </p:nvSpPr>
          <p:spPr>
            <a:xfrm>
              <a:off x="6650949" y="3397488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CFAF9C75-89C5-37F9-881C-8B147B27B0E5}"/>
                </a:ext>
              </a:extLst>
            </p:cNvPr>
            <p:cNvSpPr/>
            <p:nvPr/>
          </p:nvSpPr>
          <p:spPr>
            <a:xfrm>
              <a:off x="6650949" y="4070956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7390506A-B5C2-7A98-CAC3-37987888D823}"/>
                </a:ext>
              </a:extLst>
            </p:cNvPr>
            <p:cNvSpPr/>
            <p:nvPr/>
          </p:nvSpPr>
          <p:spPr>
            <a:xfrm>
              <a:off x="6650949" y="4704155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5F740369-0FB2-655B-E388-7DC678CC2D31}"/>
                </a:ext>
              </a:extLst>
            </p:cNvPr>
            <p:cNvSpPr/>
            <p:nvPr/>
          </p:nvSpPr>
          <p:spPr>
            <a:xfrm>
              <a:off x="6650949" y="5313415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5A4B891A-62AE-BD49-F56D-074B9FDE2AFA}"/>
              </a:ext>
            </a:extLst>
          </p:cNvPr>
          <p:cNvSpPr/>
          <p:nvPr/>
        </p:nvSpPr>
        <p:spPr>
          <a:xfrm>
            <a:off x="351023" y="5222172"/>
            <a:ext cx="5232114" cy="10775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52B3ACDA-92BA-3BA0-A277-24634DD4EF23}"/>
              </a:ext>
            </a:extLst>
          </p:cNvPr>
          <p:cNvSpPr/>
          <p:nvPr/>
        </p:nvSpPr>
        <p:spPr>
          <a:xfrm>
            <a:off x="351023" y="4640460"/>
            <a:ext cx="523211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62D9D028-C4E9-A43B-9A26-2D3F7386743C}"/>
              </a:ext>
            </a:extLst>
          </p:cNvPr>
          <p:cNvSpPr/>
          <p:nvPr/>
        </p:nvSpPr>
        <p:spPr>
          <a:xfrm>
            <a:off x="341343" y="4056002"/>
            <a:ext cx="524179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3FC5620F-6BB4-406B-B6FB-452936A8569C}"/>
              </a:ext>
            </a:extLst>
          </p:cNvPr>
          <p:cNvSpPr/>
          <p:nvPr/>
        </p:nvSpPr>
        <p:spPr>
          <a:xfrm>
            <a:off x="331786" y="3459746"/>
            <a:ext cx="5251351" cy="59230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42A4D165-E47D-41C3-5D71-54C6E8CD9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E89268E8-ED09-777B-5E21-44B1D030EBE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D943B6A9-0FCB-8D56-4709-2CE0A041A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457529"/>
          </a:xfrm>
        </p:spPr>
        <p:txBody>
          <a:bodyPr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Early designs lack support for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GQA</a:t>
            </a:r>
          </a:p>
          <a:p>
            <a:pPr lvl="1"/>
            <a:r>
              <a:rPr lang="en" altLang="zh-CN"/>
              <a:t>What problems does </a:t>
            </a:r>
            <a:r>
              <a:rPr lang="en" altLang="zh-CN" b="1">
                <a:solidFill>
                  <a:srgbClr val="C00000"/>
                </a:solidFill>
              </a:rPr>
              <a:t>Load imbalance</a:t>
            </a:r>
            <a:r>
              <a:rPr lang="en" altLang="zh-CN"/>
              <a:t> cause?</a:t>
            </a:r>
            <a:r>
              <a:rPr lang="zh-CN" altLang="en-US"/>
              <a:t> </a:t>
            </a:r>
            <a:r>
              <a:rPr lang="en-US" altLang="zh-CN"/>
              <a:t>(</a:t>
            </a:r>
            <a:r>
              <a:rPr lang="en-US" altLang="zh-CN" b="1">
                <a:solidFill>
                  <a:srgbClr val="C00000"/>
                </a:solidFill>
              </a:rPr>
              <a:t>decoding</a:t>
            </a:r>
            <a:r>
              <a:rPr lang="en-US" altLang="zh-CN"/>
              <a:t>)</a:t>
            </a:r>
            <a:endParaRPr lang="en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41FADA0-C386-24CD-62F3-0B0FB1ACB13C}"/>
              </a:ext>
            </a:extLst>
          </p:cNvPr>
          <p:cNvSpPr/>
          <p:nvPr/>
        </p:nvSpPr>
        <p:spPr>
          <a:xfrm>
            <a:off x="1279772" y="3615147"/>
            <a:ext cx="615739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</a:t>
            </a:r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0EDD2EF-FDD5-C34A-8379-B4713ABE6EFE}"/>
              </a:ext>
            </a:extLst>
          </p:cNvPr>
          <p:cNvSpPr/>
          <p:nvPr/>
        </p:nvSpPr>
        <p:spPr>
          <a:xfrm>
            <a:off x="2514658" y="3615147"/>
            <a:ext cx="748143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study</a:t>
            </a:r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19816E6-35A8-54C6-6DAE-44EC73A3CEDB}"/>
              </a:ext>
            </a:extLst>
          </p:cNvPr>
          <p:cNvSpPr/>
          <p:nvPr/>
        </p:nvSpPr>
        <p:spPr>
          <a:xfrm>
            <a:off x="1289802" y="418452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E43867-496F-1786-E65B-C05884B66EEE}"/>
              </a:ext>
            </a:extLst>
          </p:cNvPr>
          <p:cNvSpPr/>
          <p:nvPr/>
        </p:nvSpPr>
        <p:spPr>
          <a:xfrm>
            <a:off x="2370456" y="418452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39301F8-A3AB-9431-1C74-380B42AB6ACE}"/>
              </a:ext>
            </a:extLst>
          </p:cNvPr>
          <p:cNvSpPr/>
          <p:nvPr/>
        </p:nvSpPr>
        <p:spPr>
          <a:xfrm>
            <a:off x="1289802" y="473647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C5EF185-19D6-74F1-833D-453A8B8E7802}"/>
              </a:ext>
            </a:extLst>
          </p:cNvPr>
          <p:cNvSpPr/>
          <p:nvPr/>
        </p:nvSpPr>
        <p:spPr>
          <a:xfrm>
            <a:off x="2370456" y="473647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50461F5-DBDA-931C-B176-D85E76887E4B}"/>
              </a:ext>
            </a:extLst>
          </p:cNvPr>
          <p:cNvSpPr/>
          <p:nvPr/>
        </p:nvSpPr>
        <p:spPr>
          <a:xfrm>
            <a:off x="1289802" y="5352871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1E3A0B7-075F-398F-8E18-FF2D6385D830}"/>
              </a:ext>
            </a:extLst>
          </p:cNvPr>
          <p:cNvSpPr/>
          <p:nvPr/>
        </p:nvSpPr>
        <p:spPr>
          <a:xfrm>
            <a:off x="2370456" y="5352871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D3F7C1-E493-E9BB-CB6E-36B5D35378A7}"/>
              </a:ext>
            </a:extLst>
          </p:cNvPr>
          <p:cNvSpPr/>
          <p:nvPr/>
        </p:nvSpPr>
        <p:spPr>
          <a:xfrm>
            <a:off x="1289802" y="5838567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2BB5B2-CCB7-6E73-9B66-5B7766834608}"/>
              </a:ext>
            </a:extLst>
          </p:cNvPr>
          <p:cNvSpPr/>
          <p:nvPr/>
        </p:nvSpPr>
        <p:spPr>
          <a:xfrm>
            <a:off x="2370456" y="5838567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65F2FDEB-051F-0A18-32F7-05E5F255441E}"/>
              </a:ext>
            </a:extLst>
          </p:cNvPr>
          <p:cNvSpPr/>
          <p:nvPr/>
        </p:nvSpPr>
        <p:spPr>
          <a:xfrm>
            <a:off x="1898919" y="3615147"/>
            <a:ext cx="622120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Iove</a:t>
            </a:r>
            <a:endParaRPr kumimoji="1"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1929614-3381-2F53-2DDA-F931A88BAEC4}"/>
              </a:ext>
            </a:extLst>
          </p:cNvPr>
          <p:cNvSpPr/>
          <p:nvPr/>
        </p:nvSpPr>
        <p:spPr>
          <a:xfrm>
            <a:off x="3866305" y="3548752"/>
            <a:ext cx="407149" cy="43806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0D971B8-2887-8BB0-5E7A-9412B40B8BB1}"/>
              </a:ext>
            </a:extLst>
          </p:cNvPr>
          <p:cNvSpPr/>
          <p:nvPr/>
        </p:nvSpPr>
        <p:spPr>
          <a:xfrm>
            <a:off x="4460828" y="3542515"/>
            <a:ext cx="407149" cy="44198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785598CB-7686-9CFB-1B44-0D6FF8A0DCC6}"/>
              </a:ext>
            </a:extLst>
          </p:cNvPr>
          <p:cNvSpPr/>
          <p:nvPr/>
        </p:nvSpPr>
        <p:spPr>
          <a:xfrm>
            <a:off x="5055351" y="3542514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7EBEFB29-E871-7780-5A9C-9CBF48D3BBC8}"/>
              </a:ext>
            </a:extLst>
          </p:cNvPr>
          <p:cNvSpPr txBox="1"/>
          <p:nvPr/>
        </p:nvSpPr>
        <p:spPr>
          <a:xfrm>
            <a:off x="512120" y="358311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GPU1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2920E8B-20BD-6DD3-AEAF-E26DC22DF15A}"/>
              </a:ext>
            </a:extLst>
          </p:cNvPr>
          <p:cNvSpPr txBox="1"/>
          <p:nvPr/>
        </p:nvSpPr>
        <p:spPr>
          <a:xfrm>
            <a:off x="512120" y="4171405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GPU2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FD5DFE7C-29B2-6F7A-A853-CDEF4C938CF6}"/>
              </a:ext>
            </a:extLst>
          </p:cNvPr>
          <p:cNvSpPr txBox="1"/>
          <p:nvPr/>
        </p:nvSpPr>
        <p:spPr>
          <a:xfrm>
            <a:off x="523304" y="474665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GPU3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76625716-F287-8664-E062-A8F6DE48FE4D}"/>
              </a:ext>
            </a:extLst>
          </p:cNvPr>
          <p:cNvSpPr txBox="1"/>
          <p:nvPr/>
        </p:nvSpPr>
        <p:spPr>
          <a:xfrm>
            <a:off x="515697" y="55587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GPU4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221A61-5AD8-7B39-5072-7EF454F2BE50}"/>
              </a:ext>
            </a:extLst>
          </p:cNvPr>
          <p:cNvSpPr/>
          <p:nvPr/>
        </p:nvSpPr>
        <p:spPr>
          <a:xfrm>
            <a:off x="3859144" y="4134823"/>
            <a:ext cx="407149" cy="438065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BFE3B2D-EB15-4418-54E3-0C2F2DC1668B}"/>
              </a:ext>
            </a:extLst>
          </p:cNvPr>
          <p:cNvSpPr/>
          <p:nvPr/>
        </p:nvSpPr>
        <p:spPr>
          <a:xfrm>
            <a:off x="3856454" y="4727736"/>
            <a:ext cx="407149" cy="43806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4106D6A-9218-3EF0-9423-B32779985EA7}"/>
              </a:ext>
            </a:extLst>
          </p:cNvPr>
          <p:cNvSpPr/>
          <p:nvPr/>
        </p:nvSpPr>
        <p:spPr>
          <a:xfrm>
            <a:off x="3856454" y="5341082"/>
            <a:ext cx="407149" cy="438065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k1</a:t>
            </a:r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C1BAFE5-8B14-F483-8F70-C15C57F495FB}"/>
              </a:ext>
            </a:extLst>
          </p:cNvPr>
          <p:cNvSpPr/>
          <p:nvPr/>
        </p:nvSpPr>
        <p:spPr>
          <a:xfrm>
            <a:off x="4443339" y="4130901"/>
            <a:ext cx="407149" cy="441987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9DF0FD-9C92-2C20-6BFF-37ACDCD66823}"/>
              </a:ext>
            </a:extLst>
          </p:cNvPr>
          <p:cNvSpPr/>
          <p:nvPr/>
        </p:nvSpPr>
        <p:spPr>
          <a:xfrm>
            <a:off x="4440649" y="4723814"/>
            <a:ext cx="407149" cy="44198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36C1A0-D9C0-3FBB-E95A-832FF3E353DE}"/>
              </a:ext>
            </a:extLst>
          </p:cNvPr>
          <p:cNvSpPr/>
          <p:nvPr/>
        </p:nvSpPr>
        <p:spPr>
          <a:xfrm>
            <a:off x="4440648" y="5337128"/>
            <a:ext cx="407149" cy="441987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k2</a:t>
            </a:r>
            <a:endParaRPr kumimoji="1"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063AABC-D51B-D52F-3066-3ECBC7D6517B}"/>
              </a:ext>
            </a:extLst>
          </p:cNvPr>
          <p:cNvSpPr/>
          <p:nvPr/>
        </p:nvSpPr>
        <p:spPr>
          <a:xfrm>
            <a:off x="5048190" y="4149502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6156B85-137A-4693-80EA-1C521A00A198}"/>
              </a:ext>
            </a:extLst>
          </p:cNvPr>
          <p:cNvSpPr/>
          <p:nvPr/>
        </p:nvSpPr>
        <p:spPr>
          <a:xfrm>
            <a:off x="5045501" y="4739582"/>
            <a:ext cx="407149" cy="4194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38D38A0B-2C5F-7CDD-2F7A-EC0FEB7AA037}"/>
              </a:ext>
            </a:extLst>
          </p:cNvPr>
          <p:cNvSpPr/>
          <p:nvPr/>
        </p:nvSpPr>
        <p:spPr>
          <a:xfrm>
            <a:off x="5045501" y="5351438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k3</a:t>
            </a:r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C5269958-8D08-63FD-1896-840CA9BF82AF}"/>
              </a:ext>
            </a:extLst>
          </p:cNvPr>
          <p:cNvSpPr/>
          <p:nvPr/>
        </p:nvSpPr>
        <p:spPr>
          <a:xfrm>
            <a:off x="3389543" y="3595931"/>
            <a:ext cx="407150" cy="344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E34E9A1-6BCC-C564-E68E-C85CA5CDB52E}"/>
              </a:ext>
            </a:extLst>
          </p:cNvPr>
          <p:cNvSpPr/>
          <p:nvPr/>
        </p:nvSpPr>
        <p:spPr>
          <a:xfrm>
            <a:off x="3385090" y="4172092"/>
            <a:ext cx="407150" cy="3443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F5FB1657-9638-C21B-4C70-9DE9011B7E83}"/>
              </a:ext>
            </a:extLst>
          </p:cNvPr>
          <p:cNvSpPr/>
          <p:nvPr/>
        </p:nvSpPr>
        <p:spPr>
          <a:xfrm>
            <a:off x="3385090" y="4746653"/>
            <a:ext cx="407150" cy="3443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18E1EE7-264C-6DC9-C2FE-9581CDEC124F}"/>
              </a:ext>
            </a:extLst>
          </p:cNvPr>
          <p:cNvSpPr/>
          <p:nvPr/>
        </p:nvSpPr>
        <p:spPr>
          <a:xfrm>
            <a:off x="3393316" y="5371846"/>
            <a:ext cx="407150" cy="34438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D9858FE-F541-9630-6778-C3F48887D1FD}"/>
              </a:ext>
            </a:extLst>
          </p:cNvPr>
          <p:cNvSpPr txBox="1"/>
          <p:nvPr/>
        </p:nvSpPr>
        <p:spPr>
          <a:xfrm>
            <a:off x="2708472" y="2438324"/>
            <a:ext cx="6182504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During decoding,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need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all2all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communication.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8EDEDE53-CC3B-989C-8AC8-2673D46D687A}"/>
              </a:ext>
            </a:extLst>
          </p:cNvPr>
          <p:cNvSpPr/>
          <p:nvPr/>
        </p:nvSpPr>
        <p:spPr>
          <a:xfrm>
            <a:off x="7928565" y="4242595"/>
            <a:ext cx="1102578" cy="4194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all2all</a:t>
            </a:r>
            <a:endParaRPr kumimoji="1" lang="zh-CN" altLang="en-US"/>
          </a:p>
        </p:txBody>
      </p:sp>
      <p:sp>
        <p:nvSpPr>
          <p:cNvPr id="105" name="右箭头 104">
            <a:extLst>
              <a:ext uri="{FF2B5EF4-FFF2-40B4-BE49-F238E27FC236}">
                <a16:creationId xmlns:a16="http://schemas.microsoft.com/office/drawing/2014/main" id="{FE59BAC9-A1C1-8EED-15FD-3D6EF7863FA9}"/>
              </a:ext>
            </a:extLst>
          </p:cNvPr>
          <p:cNvSpPr/>
          <p:nvPr/>
        </p:nvSpPr>
        <p:spPr>
          <a:xfrm>
            <a:off x="5649874" y="3709027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右箭头 106">
            <a:extLst>
              <a:ext uri="{FF2B5EF4-FFF2-40B4-BE49-F238E27FC236}">
                <a16:creationId xmlns:a16="http://schemas.microsoft.com/office/drawing/2014/main" id="{0FDE7E96-19F0-5118-0B9A-D8D45D21CE82}"/>
              </a:ext>
            </a:extLst>
          </p:cNvPr>
          <p:cNvSpPr/>
          <p:nvPr/>
        </p:nvSpPr>
        <p:spPr>
          <a:xfrm>
            <a:off x="5647441" y="4295957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右箭头 107">
            <a:extLst>
              <a:ext uri="{FF2B5EF4-FFF2-40B4-BE49-F238E27FC236}">
                <a16:creationId xmlns:a16="http://schemas.microsoft.com/office/drawing/2014/main" id="{B5B2512E-0379-4948-4ED6-DF40CDBBB4CB}"/>
              </a:ext>
            </a:extLst>
          </p:cNvPr>
          <p:cNvSpPr/>
          <p:nvPr/>
        </p:nvSpPr>
        <p:spPr>
          <a:xfrm>
            <a:off x="5647441" y="4866495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右箭头 108">
            <a:extLst>
              <a:ext uri="{FF2B5EF4-FFF2-40B4-BE49-F238E27FC236}">
                <a16:creationId xmlns:a16="http://schemas.microsoft.com/office/drawing/2014/main" id="{3280C4D8-984A-142D-2DE2-9C13F15DAEB5}"/>
              </a:ext>
            </a:extLst>
          </p:cNvPr>
          <p:cNvSpPr/>
          <p:nvPr/>
        </p:nvSpPr>
        <p:spPr>
          <a:xfrm>
            <a:off x="5643585" y="5514482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0C924651-CA19-BB57-4EB6-271AACB34B5E}"/>
              </a:ext>
            </a:extLst>
          </p:cNvPr>
          <p:cNvGrpSpPr/>
          <p:nvPr/>
        </p:nvGrpSpPr>
        <p:grpSpPr>
          <a:xfrm>
            <a:off x="6187735" y="3685097"/>
            <a:ext cx="525063" cy="2412371"/>
            <a:chOff x="6393741" y="3492127"/>
            <a:chExt cx="525063" cy="2412371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861C52D3-13C2-04D4-8A33-2D95BE6BE65C}"/>
                </a:ext>
              </a:extLst>
            </p:cNvPr>
            <p:cNvSpPr/>
            <p:nvPr/>
          </p:nvSpPr>
          <p:spPr>
            <a:xfrm>
              <a:off x="6393741" y="349212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9669C69A-4EC2-B01C-3CB0-6C95C4DD776C}"/>
                </a:ext>
              </a:extLst>
            </p:cNvPr>
            <p:cNvSpPr/>
            <p:nvPr/>
          </p:nvSpPr>
          <p:spPr>
            <a:xfrm>
              <a:off x="6393741" y="416559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D4856B73-DEC7-E178-FD26-D293759CA6F6}"/>
                </a:ext>
              </a:extLst>
            </p:cNvPr>
            <p:cNvSpPr/>
            <p:nvPr/>
          </p:nvSpPr>
          <p:spPr>
            <a:xfrm>
              <a:off x="6393741" y="479879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11605BB1-8A6E-1C52-97CD-8562C11A3C26}"/>
                </a:ext>
              </a:extLst>
            </p:cNvPr>
            <p:cNvSpPr/>
            <p:nvPr/>
          </p:nvSpPr>
          <p:spPr>
            <a:xfrm>
              <a:off x="6393741" y="540805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158" name="矩形 157">
            <a:extLst>
              <a:ext uri="{FF2B5EF4-FFF2-40B4-BE49-F238E27FC236}">
                <a16:creationId xmlns:a16="http://schemas.microsoft.com/office/drawing/2014/main" id="{30FE2AD7-F52B-91FD-C86E-E792F38F9A3D}"/>
              </a:ext>
            </a:extLst>
          </p:cNvPr>
          <p:cNvSpPr/>
          <p:nvPr/>
        </p:nvSpPr>
        <p:spPr>
          <a:xfrm>
            <a:off x="3863064" y="3559456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B7195E6-7F09-2F85-B659-08C43686B7FE}"/>
              </a:ext>
            </a:extLst>
          </p:cNvPr>
          <p:cNvSpPr/>
          <p:nvPr/>
        </p:nvSpPr>
        <p:spPr>
          <a:xfrm>
            <a:off x="3866340" y="4142270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EA3BCE3C-38A9-3CB8-A4F9-8305AAFAB2F8}"/>
              </a:ext>
            </a:extLst>
          </p:cNvPr>
          <p:cNvSpPr/>
          <p:nvPr/>
        </p:nvSpPr>
        <p:spPr>
          <a:xfrm>
            <a:off x="3856148" y="4736117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C99B2A5D-5AB0-D528-7612-1EBFDDCB9A1A}"/>
              </a:ext>
            </a:extLst>
          </p:cNvPr>
          <p:cNvSpPr/>
          <p:nvPr/>
        </p:nvSpPr>
        <p:spPr>
          <a:xfrm>
            <a:off x="3856148" y="5337415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EBC000A6-D788-CD93-450B-F8ACCF23DB18}"/>
              </a:ext>
            </a:extLst>
          </p:cNvPr>
          <p:cNvSpPr/>
          <p:nvPr/>
        </p:nvSpPr>
        <p:spPr>
          <a:xfrm>
            <a:off x="4455721" y="3542514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2FF7850E-CE0F-34D0-C413-D0314E597759}"/>
              </a:ext>
            </a:extLst>
          </p:cNvPr>
          <p:cNvSpPr/>
          <p:nvPr/>
        </p:nvSpPr>
        <p:spPr>
          <a:xfrm>
            <a:off x="4458997" y="4125328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09C8FA21-B0E8-5CCC-39EF-C718E3DD3DD9}"/>
              </a:ext>
            </a:extLst>
          </p:cNvPr>
          <p:cNvSpPr/>
          <p:nvPr/>
        </p:nvSpPr>
        <p:spPr>
          <a:xfrm>
            <a:off x="4448805" y="4719175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DB28C95A-5762-A2F9-3069-C2CE1F4539F4}"/>
              </a:ext>
            </a:extLst>
          </p:cNvPr>
          <p:cNvSpPr/>
          <p:nvPr/>
        </p:nvSpPr>
        <p:spPr>
          <a:xfrm>
            <a:off x="4448805" y="5320473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348C04C4-3A24-190F-89B6-313CBA4514BE}"/>
              </a:ext>
            </a:extLst>
          </p:cNvPr>
          <p:cNvSpPr txBox="1"/>
          <p:nvPr/>
        </p:nvSpPr>
        <p:spPr>
          <a:xfrm>
            <a:off x="5799724" y="2897804"/>
            <a:ext cx="163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Output(Req1~5)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706C467-97FA-2285-D367-8594180C26D6}"/>
              </a:ext>
            </a:extLst>
          </p:cNvPr>
          <p:cNvSpPr txBox="1"/>
          <p:nvPr/>
        </p:nvSpPr>
        <p:spPr>
          <a:xfrm>
            <a:off x="1398336" y="3054280"/>
            <a:ext cx="26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(embedded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9" name="直线箭头连接符 198">
            <a:extLst>
              <a:ext uri="{FF2B5EF4-FFF2-40B4-BE49-F238E27FC236}">
                <a16:creationId xmlns:a16="http://schemas.microsoft.com/office/drawing/2014/main" id="{5C8B5C5A-EBB1-8A82-A4E2-C5C769A6B56C}"/>
              </a:ext>
            </a:extLst>
          </p:cNvPr>
          <p:cNvCxnSpPr>
            <a:cxnSpLocks/>
          </p:cNvCxnSpPr>
          <p:nvPr/>
        </p:nvCxnSpPr>
        <p:spPr>
          <a:xfrm>
            <a:off x="7592989" y="4452317"/>
            <a:ext cx="275366" cy="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DB7E0A99-86E2-E339-BB88-1E8300DC5745}"/>
              </a:ext>
            </a:extLst>
          </p:cNvPr>
          <p:cNvGrpSpPr/>
          <p:nvPr/>
        </p:nvGrpSpPr>
        <p:grpSpPr>
          <a:xfrm rot="16200000">
            <a:off x="10765865" y="2702513"/>
            <a:ext cx="525064" cy="1990920"/>
            <a:chOff x="9524370" y="3454205"/>
            <a:chExt cx="525064" cy="199092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96A7745C-BF42-87DE-352D-2DC13E44A267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533A5EAA-E564-61C7-839A-8B575E6353F3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C3658D2C-7A56-6C58-6FF2-64EAA082BBD1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CCDA8247-4521-5670-53D7-CE7423DD1A5B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7EF53C2C-569D-6FDA-60CF-07A09BDB66A0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0669F0AE-9288-A0F1-F6FC-0F1E9D5C7821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08" name="文本框 207">
            <a:extLst>
              <a:ext uri="{FF2B5EF4-FFF2-40B4-BE49-F238E27FC236}">
                <a16:creationId xmlns:a16="http://schemas.microsoft.com/office/drawing/2014/main" id="{08897F19-43A3-6E1E-B8D4-59C2163FBCE4}"/>
              </a:ext>
            </a:extLst>
          </p:cNvPr>
          <p:cNvSpPr txBox="1"/>
          <p:nvPr/>
        </p:nvSpPr>
        <p:spPr>
          <a:xfrm>
            <a:off x="9276811" y="3518900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Req1</a:t>
            </a:r>
            <a:endParaRPr lang="zh-CN" altLang="en-US"/>
          </a:p>
        </p:txBody>
      </p: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EBE73143-9298-A05B-8553-CCFAED088FC8}"/>
              </a:ext>
            </a:extLst>
          </p:cNvPr>
          <p:cNvGrpSpPr/>
          <p:nvPr/>
        </p:nvGrpSpPr>
        <p:grpSpPr>
          <a:xfrm rot="16200000">
            <a:off x="10767061" y="3351410"/>
            <a:ext cx="525064" cy="1990920"/>
            <a:chOff x="9524370" y="3454205"/>
            <a:chExt cx="525064" cy="1990920"/>
          </a:xfrm>
        </p:grpSpPr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C5487940-6C6D-3446-7C35-DC4B8C1B811E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B1A62CC5-3066-AF33-AFC1-1D3CF320C296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5774C67A-96B3-F66D-05FA-B5C693CACAE8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255D946A-5E28-D268-025D-270013FBCF8F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56F5891C-C4A3-BC49-AC99-299C56ED9640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01CCB28C-4087-7A2F-5CF2-7F1928B125EA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17" name="文本框 216">
            <a:extLst>
              <a:ext uri="{FF2B5EF4-FFF2-40B4-BE49-F238E27FC236}">
                <a16:creationId xmlns:a16="http://schemas.microsoft.com/office/drawing/2014/main" id="{C00CC45B-EEA6-5D8A-9CC5-8EE09352ACE7}"/>
              </a:ext>
            </a:extLst>
          </p:cNvPr>
          <p:cNvSpPr txBox="1"/>
          <p:nvPr/>
        </p:nvSpPr>
        <p:spPr>
          <a:xfrm>
            <a:off x="9278007" y="4167797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Req2</a:t>
            </a:r>
            <a:endParaRPr lang="zh-CN" altLang="en-US"/>
          </a:p>
        </p:txBody>
      </p: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387F154D-33A3-9EC1-6F2B-FDA6E6B42B0B}"/>
              </a:ext>
            </a:extLst>
          </p:cNvPr>
          <p:cNvGrpSpPr/>
          <p:nvPr/>
        </p:nvGrpSpPr>
        <p:grpSpPr>
          <a:xfrm rot="16200000">
            <a:off x="10771153" y="4800788"/>
            <a:ext cx="525064" cy="1990920"/>
            <a:chOff x="9524370" y="3454205"/>
            <a:chExt cx="525064" cy="1990920"/>
          </a:xfrm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B967D4AE-4CE1-AD5D-1936-18025B90F99B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4E79EF45-1233-8F9F-362D-A753E22801B7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C93B6A5C-9852-7646-6595-75AC99D07FFB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69E195D4-F0C6-19D2-AF93-A776AE25E1AF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5B57DA82-D584-551B-3D70-366368B29359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18485212-558E-9E16-EE00-22B21DB02635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25" name="文本框 224">
            <a:extLst>
              <a:ext uri="{FF2B5EF4-FFF2-40B4-BE49-F238E27FC236}">
                <a16:creationId xmlns:a16="http://schemas.microsoft.com/office/drawing/2014/main" id="{5EA7598C-DEC2-72B7-65D6-622DD5090483}"/>
              </a:ext>
            </a:extLst>
          </p:cNvPr>
          <p:cNvSpPr txBox="1"/>
          <p:nvPr/>
        </p:nvSpPr>
        <p:spPr>
          <a:xfrm>
            <a:off x="9113522" y="5769314"/>
            <a:ext cx="919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Req4,5</a:t>
            </a:r>
            <a:endParaRPr lang="zh-CN" altLang="en-US"/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BFA16BB5-EA8B-8188-1B33-07E7E002E43C}"/>
              </a:ext>
            </a:extLst>
          </p:cNvPr>
          <p:cNvGrpSpPr/>
          <p:nvPr/>
        </p:nvGrpSpPr>
        <p:grpSpPr>
          <a:xfrm rot="16200000">
            <a:off x="10655060" y="5063376"/>
            <a:ext cx="525064" cy="1990920"/>
            <a:chOff x="9524370" y="3454205"/>
            <a:chExt cx="525064" cy="1990920"/>
          </a:xfrm>
        </p:grpSpPr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04C577EF-38C0-AAC1-2648-158890AB6435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E2A6167A-5F99-A559-CA85-9F3CE6E6182D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F3D57317-00BB-7767-EC49-E7773BF5D8AE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1E850A99-CF29-1C9D-ABF1-D03822D7C116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D75E899D-FA9A-9053-430F-A9763C0C598E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AD72A9D6-0C69-F57E-1246-860377A74843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C20C3FB7-097B-C5CA-DE2D-9FE4387686F5}"/>
              </a:ext>
            </a:extLst>
          </p:cNvPr>
          <p:cNvCxnSpPr>
            <a:cxnSpLocks/>
          </p:cNvCxnSpPr>
          <p:nvPr/>
        </p:nvCxnSpPr>
        <p:spPr>
          <a:xfrm>
            <a:off x="9031143" y="4448015"/>
            <a:ext cx="275366" cy="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7AA9EE4C-71FE-7654-9751-49AB1E40D79A}"/>
              </a:ext>
            </a:extLst>
          </p:cNvPr>
          <p:cNvGrpSpPr/>
          <p:nvPr/>
        </p:nvGrpSpPr>
        <p:grpSpPr>
          <a:xfrm rot="16200000">
            <a:off x="10768553" y="4074463"/>
            <a:ext cx="525064" cy="1990920"/>
            <a:chOff x="9524370" y="3454205"/>
            <a:chExt cx="525064" cy="1990920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486CD9D2-4DEB-194A-6B19-9E6CE5369CC7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9D47B1FF-3631-913A-E0DF-DADF75B3A6BD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8C9E03ED-6CC3-56BE-6EA1-B9AE22C79B04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6E9F4AB7-03A1-89D7-ADF4-D437F66446B1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C37A42CF-D7C6-9F45-E977-AF2C24395BEE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6164A0F3-CCFB-8AE7-D859-98D7627FCCCB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42" name="文本框 241">
            <a:extLst>
              <a:ext uri="{FF2B5EF4-FFF2-40B4-BE49-F238E27FC236}">
                <a16:creationId xmlns:a16="http://schemas.microsoft.com/office/drawing/2014/main" id="{0D72B87C-E601-4A3E-46B4-B747DCEEF0B5}"/>
              </a:ext>
            </a:extLst>
          </p:cNvPr>
          <p:cNvSpPr txBox="1"/>
          <p:nvPr/>
        </p:nvSpPr>
        <p:spPr>
          <a:xfrm>
            <a:off x="9279499" y="4890850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Req3</a:t>
            </a:r>
            <a:endParaRPr lang="zh-CN" altLang="en-US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815F94A-3BAE-B898-1DBE-58B139DEE383}"/>
              </a:ext>
            </a:extLst>
          </p:cNvPr>
          <p:cNvSpPr txBox="1"/>
          <p:nvPr/>
        </p:nvSpPr>
        <p:spPr>
          <a:xfrm>
            <a:off x="5018020" y="6410252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734D2B7B-F185-B0BA-E9DA-853FFA0D76DA}"/>
              </a:ext>
            </a:extLst>
          </p:cNvPr>
          <p:cNvSpPr/>
          <p:nvPr/>
        </p:nvSpPr>
        <p:spPr>
          <a:xfrm>
            <a:off x="4477894" y="6410252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41F33F8C-58C7-F580-33EE-35B4AC87DDF5}"/>
              </a:ext>
            </a:extLst>
          </p:cNvPr>
          <p:cNvSpPr/>
          <p:nvPr/>
        </p:nvSpPr>
        <p:spPr>
          <a:xfrm>
            <a:off x="6492576" y="6385304"/>
            <a:ext cx="5250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7061009F-0450-BCFA-F556-63DABCA2D3CD}"/>
              </a:ext>
            </a:extLst>
          </p:cNvPr>
          <p:cNvSpPr txBox="1"/>
          <p:nvPr/>
        </p:nvSpPr>
        <p:spPr>
          <a:xfrm>
            <a:off x="7090079" y="6410252"/>
            <a:ext cx="356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Computed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err="1"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C3371729-D4CF-7B44-04D8-DEC3E2C73327}"/>
              </a:ext>
            </a:extLst>
          </p:cNvPr>
          <p:cNvGrpSpPr/>
          <p:nvPr/>
        </p:nvGrpSpPr>
        <p:grpSpPr>
          <a:xfrm rot="16200000">
            <a:off x="1840581" y="5775711"/>
            <a:ext cx="432098" cy="1638414"/>
            <a:chOff x="6393740" y="3492127"/>
            <a:chExt cx="525064" cy="1990920"/>
          </a:xfrm>
        </p:grpSpPr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1C768D86-AE74-2920-AA49-BAC70D4D62C8}"/>
                </a:ext>
              </a:extLst>
            </p:cNvPr>
            <p:cNvSpPr/>
            <p:nvPr/>
          </p:nvSpPr>
          <p:spPr>
            <a:xfrm>
              <a:off x="6393741" y="349212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50B5BB7B-F886-C61D-EDB9-CF5726DDF9DE}"/>
                </a:ext>
              </a:extLst>
            </p:cNvPr>
            <p:cNvSpPr/>
            <p:nvPr/>
          </p:nvSpPr>
          <p:spPr>
            <a:xfrm>
              <a:off x="6393741" y="3996621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B03BF6DF-0CB1-29EA-A0D3-77848A647A3E}"/>
                </a:ext>
              </a:extLst>
            </p:cNvPr>
            <p:cNvSpPr/>
            <p:nvPr/>
          </p:nvSpPr>
          <p:spPr>
            <a:xfrm>
              <a:off x="6393741" y="4490275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5623FB84-E9C7-4E5E-56B9-B5A6CC8C6892}"/>
                </a:ext>
              </a:extLst>
            </p:cNvPr>
            <p:cNvSpPr/>
            <p:nvPr/>
          </p:nvSpPr>
          <p:spPr>
            <a:xfrm>
              <a:off x="6393740" y="4986603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254" name="文本框 253">
            <a:extLst>
              <a:ext uri="{FF2B5EF4-FFF2-40B4-BE49-F238E27FC236}">
                <a16:creationId xmlns:a16="http://schemas.microsoft.com/office/drawing/2014/main" id="{F4004838-2C21-073F-C62D-7FB0503D0951}"/>
              </a:ext>
            </a:extLst>
          </p:cNvPr>
          <p:cNvSpPr txBox="1"/>
          <p:nvPr/>
        </p:nvSpPr>
        <p:spPr>
          <a:xfrm>
            <a:off x="2929244" y="6393345"/>
            <a:ext cx="14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Differ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heads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5038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818 0.00324 L -0.04818 0.00324 " pathEditMode="relative" ptsTypes="AAA">
                                      <p:cBhvr>
                                        <p:cTn id="6" dur="2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818 0.00324 L -0.04818 0.00324 " pathEditMode="relative" ptsTypes="AAA">
                                      <p:cBhvr>
                                        <p:cTn id="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818 0.00324 L -0.04818 0.00324 " pathEditMode="relative" ptsTypes="AAA">
                                      <p:cBhvr>
                                        <p:cTn id="10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4818 0.00324 L -0.04818 0.00324 " pathEditMode="relative" ptsTypes="AAA">
                                      <p:cBhvr>
                                        <p:cTn id="12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635 0.00162 L -0.09635 0.00162 " pathEditMode="relative" ptsTypes="AAA">
                                      <p:cBhvr>
                                        <p:cTn id="14" dur="2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635 0.00162 L -0.09635 0.00162 " pathEditMode="relative" ptsTypes="AAA">
                                      <p:cBhvr>
                                        <p:cTn id="16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635 0.00162 L -0.09635 0.00162 " pathEditMode="relative" ptsTypes="AAA">
                                      <p:cBhvr>
                                        <p:cTn id="1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09635 0.00162 L -0.09635 0.00162 " pathEditMode="relative" ptsTypes="AAA">
                                      <p:cBhvr>
                                        <p:cTn id="20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00"/>
                            </p:stCondLst>
                            <p:childTnLst>
                              <p:par>
                                <p:cTn id="3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000"/>
                            </p:stCondLst>
                            <p:childTnLst>
                              <p:par>
                                <p:cTn id="5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2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6" grpId="0" animBg="1"/>
      <p:bldP spid="46" grpId="1" animBg="1"/>
      <p:bldP spid="47" grpId="0" animBg="1"/>
      <p:bldP spid="47" grpId="1" animBg="1"/>
      <p:bldP spid="6" grpId="0" animBg="1"/>
      <p:bldP spid="10" grpId="0" animBg="1"/>
      <p:bldP spid="17" grpId="0" animBg="1"/>
      <p:bldP spid="26" grpId="0" animBg="1"/>
      <p:bldP spid="26" grpId="1" animBg="1"/>
      <p:bldP spid="29" grpId="0" animBg="1"/>
      <p:bldP spid="29" grpId="1" animBg="1"/>
      <p:bldP spid="30" grpId="0" animBg="1"/>
      <p:bldP spid="30" grpId="1" animBg="1"/>
      <p:bldP spid="32" grpId="0" animBg="1"/>
      <p:bldP spid="32" grpId="1" animBg="1"/>
      <p:bldP spid="33" grpId="0" animBg="1"/>
      <p:bldP spid="33" grpId="1" animBg="1"/>
      <p:bldP spid="35" grpId="0" animBg="1"/>
      <p:bldP spid="35" grpId="1" animBg="1"/>
      <p:bldP spid="82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  <p:bldP spid="166" grpId="0"/>
      <p:bldP spid="208" grpId="0"/>
      <p:bldP spid="217" grpId="0"/>
      <p:bldP spid="225" grpId="0"/>
      <p:bldP spid="24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E5D0-BC44-3E81-AA8E-F4C387B01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6BA74DCC-0923-15DB-1D28-FFD6A16B4B83}"/>
              </a:ext>
            </a:extLst>
          </p:cNvPr>
          <p:cNvGrpSpPr/>
          <p:nvPr/>
        </p:nvGrpSpPr>
        <p:grpSpPr>
          <a:xfrm>
            <a:off x="7030255" y="3236310"/>
            <a:ext cx="525063" cy="2412371"/>
            <a:chOff x="6897813" y="3289537"/>
            <a:chExt cx="525063" cy="2412371"/>
          </a:xfrm>
        </p:grpSpPr>
        <p:sp>
          <p:nvSpPr>
            <p:cNvPr id="193" name="矩形 192">
              <a:extLst>
                <a:ext uri="{FF2B5EF4-FFF2-40B4-BE49-F238E27FC236}">
                  <a16:creationId xmlns:a16="http://schemas.microsoft.com/office/drawing/2014/main" id="{C8863CE3-7272-C03C-F482-82F8CDA0C30D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4" name="矩形 193">
              <a:extLst>
                <a:ext uri="{FF2B5EF4-FFF2-40B4-BE49-F238E27FC236}">
                  <a16:creationId xmlns:a16="http://schemas.microsoft.com/office/drawing/2014/main" id="{95D066C7-277D-83D1-BA75-60BDF8BA7A23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5" name="矩形 194">
              <a:extLst>
                <a:ext uri="{FF2B5EF4-FFF2-40B4-BE49-F238E27FC236}">
                  <a16:creationId xmlns:a16="http://schemas.microsoft.com/office/drawing/2014/main" id="{66AEB424-8F04-7F03-9C24-EE5EC2D77FB5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6" name="矩形 195">
              <a:extLst>
                <a:ext uri="{FF2B5EF4-FFF2-40B4-BE49-F238E27FC236}">
                  <a16:creationId xmlns:a16="http://schemas.microsoft.com/office/drawing/2014/main" id="{426EF01B-64AE-26AD-7426-32630A0B088E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7" name="组合 186">
            <a:extLst>
              <a:ext uri="{FF2B5EF4-FFF2-40B4-BE49-F238E27FC236}">
                <a16:creationId xmlns:a16="http://schemas.microsoft.com/office/drawing/2014/main" id="{6F2584E5-33C9-5431-7319-59092541C981}"/>
              </a:ext>
            </a:extLst>
          </p:cNvPr>
          <p:cNvGrpSpPr/>
          <p:nvPr/>
        </p:nvGrpSpPr>
        <p:grpSpPr>
          <a:xfrm>
            <a:off x="6877639" y="3354868"/>
            <a:ext cx="525063" cy="2412371"/>
            <a:chOff x="6897813" y="3289537"/>
            <a:chExt cx="525063" cy="2412371"/>
          </a:xfrm>
        </p:grpSpPr>
        <p:sp>
          <p:nvSpPr>
            <p:cNvPr id="188" name="矩形 187">
              <a:extLst>
                <a:ext uri="{FF2B5EF4-FFF2-40B4-BE49-F238E27FC236}">
                  <a16:creationId xmlns:a16="http://schemas.microsoft.com/office/drawing/2014/main" id="{04FB2DF8-53D8-07D5-C51A-ABC207871949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89" name="矩形 188">
              <a:extLst>
                <a:ext uri="{FF2B5EF4-FFF2-40B4-BE49-F238E27FC236}">
                  <a16:creationId xmlns:a16="http://schemas.microsoft.com/office/drawing/2014/main" id="{B9035C89-DF04-1FC3-5AA4-2E71B9AE5D17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0" name="矩形 189">
              <a:extLst>
                <a:ext uri="{FF2B5EF4-FFF2-40B4-BE49-F238E27FC236}">
                  <a16:creationId xmlns:a16="http://schemas.microsoft.com/office/drawing/2014/main" id="{55F3D7A8-5DF1-2FFE-610C-E4F6DC9C6EF0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91" name="矩形 190">
              <a:extLst>
                <a:ext uri="{FF2B5EF4-FFF2-40B4-BE49-F238E27FC236}">
                  <a16:creationId xmlns:a16="http://schemas.microsoft.com/office/drawing/2014/main" id="{2CF8065D-4570-77E0-55BE-4B2D4750C946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4" name="组合 183">
            <a:extLst>
              <a:ext uri="{FF2B5EF4-FFF2-40B4-BE49-F238E27FC236}">
                <a16:creationId xmlns:a16="http://schemas.microsoft.com/office/drawing/2014/main" id="{D283CA2F-D8F2-1D86-77DB-0157D68762B0}"/>
              </a:ext>
            </a:extLst>
          </p:cNvPr>
          <p:cNvGrpSpPr/>
          <p:nvPr/>
        </p:nvGrpSpPr>
        <p:grpSpPr>
          <a:xfrm>
            <a:off x="6691807" y="3482507"/>
            <a:ext cx="525063" cy="2412371"/>
            <a:chOff x="6897813" y="3289537"/>
            <a:chExt cx="525063" cy="2412371"/>
          </a:xfrm>
        </p:grpSpPr>
        <p:sp>
          <p:nvSpPr>
            <p:cNvPr id="172" name="矩形 171">
              <a:extLst>
                <a:ext uri="{FF2B5EF4-FFF2-40B4-BE49-F238E27FC236}">
                  <a16:creationId xmlns:a16="http://schemas.microsoft.com/office/drawing/2014/main" id="{533C85FB-A7DD-A286-8102-3964D2046CD8}"/>
                </a:ext>
              </a:extLst>
            </p:cNvPr>
            <p:cNvSpPr/>
            <p:nvPr/>
          </p:nvSpPr>
          <p:spPr>
            <a:xfrm>
              <a:off x="6897813" y="328953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3" name="矩形 172">
              <a:extLst>
                <a:ext uri="{FF2B5EF4-FFF2-40B4-BE49-F238E27FC236}">
                  <a16:creationId xmlns:a16="http://schemas.microsoft.com/office/drawing/2014/main" id="{34B19621-89FD-E353-44B7-CC3A4AAD0475}"/>
                </a:ext>
              </a:extLst>
            </p:cNvPr>
            <p:cNvSpPr/>
            <p:nvPr/>
          </p:nvSpPr>
          <p:spPr>
            <a:xfrm>
              <a:off x="6897813" y="396300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4" name="矩形 173">
              <a:extLst>
                <a:ext uri="{FF2B5EF4-FFF2-40B4-BE49-F238E27FC236}">
                  <a16:creationId xmlns:a16="http://schemas.microsoft.com/office/drawing/2014/main" id="{E1088079-6687-63A2-0E08-F9E52AC14A36}"/>
                </a:ext>
              </a:extLst>
            </p:cNvPr>
            <p:cNvSpPr/>
            <p:nvPr/>
          </p:nvSpPr>
          <p:spPr>
            <a:xfrm>
              <a:off x="6897813" y="459620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5" name="矩形 174">
              <a:extLst>
                <a:ext uri="{FF2B5EF4-FFF2-40B4-BE49-F238E27FC236}">
                  <a16:creationId xmlns:a16="http://schemas.microsoft.com/office/drawing/2014/main" id="{FEEFA37D-E38C-D9F1-937B-10F0E3BA8C3A}"/>
                </a:ext>
              </a:extLst>
            </p:cNvPr>
            <p:cNvSpPr/>
            <p:nvPr/>
          </p:nvSpPr>
          <p:spPr>
            <a:xfrm>
              <a:off x="6897813" y="520546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grpSp>
        <p:nvGrpSpPr>
          <p:cNvPr id="185" name="组合 184">
            <a:extLst>
              <a:ext uri="{FF2B5EF4-FFF2-40B4-BE49-F238E27FC236}">
                <a16:creationId xmlns:a16="http://schemas.microsoft.com/office/drawing/2014/main" id="{B6337479-1A28-F4AE-AC3E-629A422F4B13}"/>
              </a:ext>
            </a:extLst>
          </p:cNvPr>
          <p:cNvGrpSpPr/>
          <p:nvPr/>
        </p:nvGrpSpPr>
        <p:grpSpPr>
          <a:xfrm>
            <a:off x="6444943" y="3590458"/>
            <a:ext cx="525063" cy="2412371"/>
            <a:chOff x="6650949" y="3397488"/>
            <a:chExt cx="525063" cy="2412371"/>
          </a:xfrm>
        </p:grpSpPr>
        <p:sp>
          <p:nvSpPr>
            <p:cNvPr id="168" name="矩形 167">
              <a:extLst>
                <a:ext uri="{FF2B5EF4-FFF2-40B4-BE49-F238E27FC236}">
                  <a16:creationId xmlns:a16="http://schemas.microsoft.com/office/drawing/2014/main" id="{EDBE43AB-4913-B646-1E4C-9FE05C442FA2}"/>
                </a:ext>
              </a:extLst>
            </p:cNvPr>
            <p:cNvSpPr/>
            <p:nvPr/>
          </p:nvSpPr>
          <p:spPr>
            <a:xfrm>
              <a:off x="6650949" y="3397488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69" name="矩形 168">
              <a:extLst>
                <a:ext uri="{FF2B5EF4-FFF2-40B4-BE49-F238E27FC236}">
                  <a16:creationId xmlns:a16="http://schemas.microsoft.com/office/drawing/2014/main" id="{9D81358F-C0C6-B772-FFDE-2AE13BA7D440}"/>
                </a:ext>
              </a:extLst>
            </p:cNvPr>
            <p:cNvSpPr/>
            <p:nvPr/>
          </p:nvSpPr>
          <p:spPr>
            <a:xfrm>
              <a:off x="6650949" y="4070956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0" name="矩形 169">
              <a:extLst>
                <a:ext uri="{FF2B5EF4-FFF2-40B4-BE49-F238E27FC236}">
                  <a16:creationId xmlns:a16="http://schemas.microsoft.com/office/drawing/2014/main" id="{FDFE0E60-6415-021A-615F-A3E7FBA589E4}"/>
                </a:ext>
              </a:extLst>
            </p:cNvPr>
            <p:cNvSpPr/>
            <p:nvPr/>
          </p:nvSpPr>
          <p:spPr>
            <a:xfrm>
              <a:off x="6650949" y="4704155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71" name="矩形 170">
              <a:extLst>
                <a:ext uri="{FF2B5EF4-FFF2-40B4-BE49-F238E27FC236}">
                  <a16:creationId xmlns:a16="http://schemas.microsoft.com/office/drawing/2014/main" id="{90AF2F75-3237-BBED-6991-9990912BF0E1}"/>
                </a:ext>
              </a:extLst>
            </p:cNvPr>
            <p:cNvSpPr/>
            <p:nvPr/>
          </p:nvSpPr>
          <p:spPr>
            <a:xfrm>
              <a:off x="6650949" y="5313415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88" name="圆角矩形 87">
            <a:extLst>
              <a:ext uri="{FF2B5EF4-FFF2-40B4-BE49-F238E27FC236}">
                <a16:creationId xmlns:a16="http://schemas.microsoft.com/office/drawing/2014/main" id="{4AC5AFE9-82F7-BCB5-B165-CB8DE9CA5CD7}"/>
              </a:ext>
            </a:extLst>
          </p:cNvPr>
          <p:cNvSpPr/>
          <p:nvPr/>
        </p:nvSpPr>
        <p:spPr>
          <a:xfrm>
            <a:off x="351023" y="5222172"/>
            <a:ext cx="5232114" cy="10775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圆角矩形 86">
            <a:extLst>
              <a:ext uri="{FF2B5EF4-FFF2-40B4-BE49-F238E27FC236}">
                <a16:creationId xmlns:a16="http://schemas.microsoft.com/office/drawing/2014/main" id="{96BE7EE6-72A9-51D7-C9B8-41CF4FE827E8}"/>
              </a:ext>
            </a:extLst>
          </p:cNvPr>
          <p:cNvSpPr/>
          <p:nvPr/>
        </p:nvSpPr>
        <p:spPr>
          <a:xfrm>
            <a:off x="351023" y="4640460"/>
            <a:ext cx="523211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85">
            <a:extLst>
              <a:ext uri="{FF2B5EF4-FFF2-40B4-BE49-F238E27FC236}">
                <a16:creationId xmlns:a16="http://schemas.microsoft.com/office/drawing/2014/main" id="{83646646-580B-CC52-732E-946685671C81}"/>
              </a:ext>
            </a:extLst>
          </p:cNvPr>
          <p:cNvSpPr/>
          <p:nvPr/>
        </p:nvSpPr>
        <p:spPr>
          <a:xfrm>
            <a:off x="341343" y="4056002"/>
            <a:ext cx="5241794" cy="59007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5" name="圆角矩形 84">
            <a:extLst>
              <a:ext uri="{FF2B5EF4-FFF2-40B4-BE49-F238E27FC236}">
                <a16:creationId xmlns:a16="http://schemas.microsoft.com/office/drawing/2014/main" id="{F9772353-40FE-E833-9D32-BD0809D11AEB}"/>
              </a:ext>
            </a:extLst>
          </p:cNvPr>
          <p:cNvSpPr/>
          <p:nvPr/>
        </p:nvSpPr>
        <p:spPr>
          <a:xfrm>
            <a:off x="331786" y="3459746"/>
            <a:ext cx="5251351" cy="59230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5F30E14-514E-19A0-21D1-526DC60E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F32A1FA1-8D7B-00AA-C8B2-CE99871DBBB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8C544234-0AC7-B305-C926-E07C6F1C39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457529"/>
          </a:xfrm>
        </p:spPr>
        <p:txBody>
          <a:bodyPr vert="horz" lIns="46800" tIns="45720" rIns="91440" bIns="45720" rtlCol="0" anchor="t">
            <a:normAutofit/>
          </a:bodyPr>
          <a:lstStyle/>
          <a:p>
            <a:r>
              <a:rPr lang="en-US" altLang="zh-CN"/>
              <a:t>1.</a:t>
            </a:r>
            <a:r>
              <a:rPr lang="zh-CN" altLang="en-US"/>
              <a:t> </a:t>
            </a:r>
            <a:r>
              <a:rPr lang="en-US" altLang="zh-CN"/>
              <a:t>Support</a:t>
            </a:r>
            <a:r>
              <a:rPr lang="zh-CN" altLang="en-US"/>
              <a:t> </a:t>
            </a:r>
            <a:r>
              <a:rPr lang="en" altLang="zh-CN"/>
              <a:t>SP for Inference</a:t>
            </a:r>
          </a:p>
          <a:p>
            <a:pPr lvl="1"/>
            <a:r>
              <a:rPr lang="en" altLang="zh-CN">
                <a:solidFill>
                  <a:schemeClr val="bg2">
                    <a:lumMod val="90000"/>
                  </a:schemeClr>
                </a:solidFill>
              </a:rPr>
              <a:t>Early designs lack support for </a:t>
            </a:r>
            <a:r>
              <a:rPr lang="en" altLang="zh-CN" b="1">
                <a:solidFill>
                  <a:schemeClr val="bg2">
                    <a:lumMod val="90000"/>
                  </a:schemeClr>
                </a:solidFill>
              </a:rPr>
              <a:t>GQA</a:t>
            </a:r>
          </a:p>
          <a:p>
            <a:pPr lvl="1"/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What </a:t>
            </a:r>
            <a:r>
              <a:rPr lang="en">
                <a:latin typeface="Calibri"/>
                <a:ea typeface="Calibri"/>
                <a:cs typeface="Calibri"/>
              </a:rPr>
              <a:t>problems does </a:t>
            </a:r>
            <a:r>
              <a:rPr lang="en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Load imbalance</a:t>
            </a:r>
            <a:r>
              <a:rPr lang="en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">
                <a:latin typeface="Calibri"/>
                <a:ea typeface="Calibri"/>
                <a:cs typeface="Calibri"/>
              </a:rPr>
              <a:t>cause?</a:t>
            </a:r>
            <a:r>
              <a:rPr lang="zh-CN" altLang="en-US">
                <a:latin typeface="Calibri"/>
                <a:cs typeface="Calibri"/>
              </a:rPr>
              <a:t> </a:t>
            </a:r>
            <a:r>
              <a:rPr lang="en-US">
                <a:latin typeface="Calibri"/>
                <a:ea typeface="Calibri"/>
                <a:cs typeface="Calibri"/>
              </a:rPr>
              <a:t>(</a:t>
            </a:r>
            <a:r>
              <a:rPr lang="en-US" b="1">
                <a:solidFill>
                  <a:srgbClr val="C00000"/>
                </a:solidFill>
                <a:latin typeface="Calibri"/>
                <a:ea typeface="Calibri"/>
                <a:cs typeface="Calibri"/>
              </a:rPr>
              <a:t>decoding</a:t>
            </a:r>
            <a:r>
              <a:rPr lang="en-US">
                <a:latin typeface="Calibri"/>
                <a:ea typeface="Calibri"/>
                <a:cs typeface="Calibri"/>
              </a:rPr>
              <a:t>)</a:t>
            </a:r>
            <a:endParaRPr lang="en">
              <a:latin typeface="Calibri"/>
              <a:ea typeface="Calibri"/>
              <a:cs typeface="Calibri"/>
            </a:endParaRPr>
          </a:p>
          <a:p>
            <a:pPr marL="306070" lvl="1" indent="0">
              <a:buNone/>
            </a:pPr>
            <a:endParaRPr lang="en-US" altLang="zh-CN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0CD532-FACE-ED2A-5DFF-64E42FE324C9}"/>
              </a:ext>
            </a:extLst>
          </p:cNvPr>
          <p:cNvSpPr/>
          <p:nvPr/>
        </p:nvSpPr>
        <p:spPr>
          <a:xfrm>
            <a:off x="1279772" y="3615147"/>
            <a:ext cx="615739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</a:t>
            </a:r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70028C-D24B-8B53-408C-4CB8635127B1}"/>
              </a:ext>
            </a:extLst>
          </p:cNvPr>
          <p:cNvSpPr/>
          <p:nvPr/>
        </p:nvSpPr>
        <p:spPr>
          <a:xfrm>
            <a:off x="2514658" y="3615147"/>
            <a:ext cx="748143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study</a:t>
            </a:r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B28D19-B3F0-67F6-350C-38D03BDA8E5C}"/>
              </a:ext>
            </a:extLst>
          </p:cNvPr>
          <p:cNvSpPr/>
          <p:nvPr/>
        </p:nvSpPr>
        <p:spPr>
          <a:xfrm>
            <a:off x="1289802" y="418452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C95D90-3619-DEC7-050C-094C44793536}"/>
              </a:ext>
            </a:extLst>
          </p:cNvPr>
          <p:cNvSpPr/>
          <p:nvPr/>
        </p:nvSpPr>
        <p:spPr>
          <a:xfrm>
            <a:off x="2370456" y="418452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6D2383-3CBC-D8DB-9624-41322CBFA296}"/>
              </a:ext>
            </a:extLst>
          </p:cNvPr>
          <p:cNvSpPr/>
          <p:nvPr/>
        </p:nvSpPr>
        <p:spPr>
          <a:xfrm>
            <a:off x="1289802" y="4736476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41C909A-2517-D693-CF8B-10B2E7117844}"/>
              </a:ext>
            </a:extLst>
          </p:cNvPr>
          <p:cNvSpPr/>
          <p:nvPr/>
        </p:nvSpPr>
        <p:spPr>
          <a:xfrm>
            <a:off x="2370456" y="4736476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9E7DCC-EC1B-6DA5-AD0B-21DDB2787278}"/>
              </a:ext>
            </a:extLst>
          </p:cNvPr>
          <p:cNvSpPr/>
          <p:nvPr/>
        </p:nvSpPr>
        <p:spPr>
          <a:xfrm>
            <a:off x="1289802" y="5352871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C13B4CC-408B-5B01-2213-A92778A65CFE}"/>
              </a:ext>
            </a:extLst>
          </p:cNvPr>
          <p:cNvSpPr/>
          <p:nvPr/>
        </p:nvSpPr>
        <p:spPr>
          <a:xfrm>
            <a:off x="2370456" y="5352871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39C828-7A79-74E8-8B6B-E4D13E17E1D5}"/>
              </a:ext>
            </a:extLst>
          </p:cNvPr>
          <p:cNvSpPr/>
          <p:nvPr/>
        </p:nvSpPr>
        <p:spPr>
          <a:xfrm>
            <a:off x="1289802" y="5838567"/>
            <a:ext cx="1080654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12ED612-53A2-137C-7714-5BE12414D03B}"/>
              </a:ext>
            </a:extLst>
          </p:cNvPr>
          <p:cNvSpPr/>
          <p:nvPr/>
        </p:nvSpPr>
        <p:spPr>
          <a:xfrm>
            <a:off x="2370456" y="5838567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458A576-EFA9-C3CB-D282-48D1D98A15CF}"/>
              </a:ext>
            </a:extLst>
          </p:cNvPr>
          <p:cNvSpPr/>
          <p:nvPr/>
        </p:nvSpPr>
        <p:spPr>
          <a:xfrm>
            <a:off x="1898919" y="3615147"/>
            <a:ext cx="622120" cy="34438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Iove</a:t>
            </a:r>
            <a:endParaRPr kumimoji="1"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D42E5B4-0CD9-6A1E-6817-D71E0D6565B0}"/>
              </a:ext>
            </a:extLst>
          </p:cNvPr>
          <p:cNvSpPr/>
          <p:nvPr/>
        </p:nvSpPr>
        <p:spPr>
          <a:xfrm>
            <a:off x="3389543" y="3595931"/>
            <a:ext cx="407150" cy="34438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481B15E5-9D99-7AC8-5ADC-8438AAE454F0}"/>
              </a:ext>
            </a:extLst>
          </p:cNvPr>
          <p:cNvSpPr/>
          <p:nvPr/>
        </p:nvSpPr>
        <p:spPr>
          <a:xfrm>
            <a:off x="3385090" y="4172092"/>
            <a:ext cx="407150" cy="34438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2A45901-1274-BCB9-09F6-F3116FBC13DA}"/>
              </a:ext>
            </a:extLst>
          </p:cNvPr>
          <p:cNvSpPr/>
          <p:nvPr/>
        </p:nvSpPr>
        <p:spPr>
          <a:xfrm>
            <a:off x="3385090" y="4746653"/>
            <a:ext cx="407150" cy="3443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9F67563-48DE-79E6-187B-85C592896066}"/>
              </a:ext>
            </a:extLst>
          </p:cNvPr>
          <p:cNvSpPr/>
          <p:nvPr/>
        </p:nvSpPr>
        <p:spPr>
          <a:xfrm>
            <a:off x="3393316" y="5371846"/>
            <a:ext cx="407150" cy="34438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kumimoji="1" lang="en-US" altLang="zh-CN"/>
              <a:t>q3</a:t>
            </a:r>
            <a:endParaRPr kumimoji="1" lang="zh-CN" altLang="en-US"/>
          </a:p>
        </p:txBody>
      </p:sp>
      <p:sp>
        <p:nvSpPr>
          <p:cNvPr id="82" name="椭圆 81">
            <a:extLst>
              <a:ext uri="{FF2B5EF4-FFF2-40B4-BE49-F238E27FC236}">
                <a16:creationId xmlns:a16="http://schemas.microsoft.com/office/drawing/2014/main" id="{01DD25CE-9FD2-E042-3967-2F105CC833B4}"/>
              </a:ext>
            </a:extLst>
          </p:cNvPr>
          <p:cNvSpPr/>
          <p:nvPr/>
        </p:nvSpPr>
        <p:spPr>
          <a:xfrm>
            <a:off x="7928565" y="4242595"/>
            <a:ext cx="1102578" cy="41944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all2all</a:t>
            </a:r>
            <a:endParaRPr kumimoji="1" lang="zh-CN" altLang="en-US"/>
          </a:p>
        </p:txBody>
      </p:sp>
      <p:sp>
        <p:nvSpPr>
          <p:cNvPr id="105" name="右箭头 104">
            <a:extLst>
              <a:ext uri="{FF2B5EF4-FFF2-40B4-BE49-F238E27FC236}">
                <a16:creationId xmlns:a16="http://schemas.microsoft.com/office/drawing/2014/main" id="{C35A36BC-4D1D-7B33-86CD-11C73CDE69B8}"/>
              </a:ext>
            </a:extLst>
          </p:cNvPr>
          <p:cNvSpPr/>
          <p:nvPr/>
        </p:nvSpPr>
        <p:spPr>
          <a:xfrm>
            <a:off x="5649874" y="3709027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7" name="右箭头 106">
            <a:extLst>
              <a:ext uri="{FF2B5EF4-FFF2-40B4-BE49-F238E27FC236}">
                <a16:creationId xmlns:a16="http://schemas.microsoft.com/office/drawing/2014/main" id="{641E2F5F-F5EA-3FA1-E2BC-87BAFE075949}"/>
              </a:ext>
            </a:extLst>
          </p:cNvPr>
          <p:cNvSpPr/>
          <p:nvPr/>
        </p:nvSpPr>
        <p:spPr>
          <a:xfrm>
            <a:off x="5647441" y="4295957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8" name="右箭头 107">
            <a:extLst>
              <a:ext uri="{FF2B5EF4-FFF2-40B4-BE49-F238E27FC236}">
                <a16:creationId xmlns:a16="http://schemas.microsoft.com/office/drawing/2014/main" id="{DC87DB6B-84E9-9049-5CA2-ACEEDAF9118C}"/>
              </a:ext>
            </a:extLst>
          </p:cNvPr>
          <p:cNvSpPr/>
          <p:nvPr/>
        </p:nvSpPr>
        <p:spPr>
          <a:xfrm>
            <a:off x="5647441" y="4866495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右箭头 108">
            <a:extLst>
              <a:ext uri="{FF2B5EF4-FFF2-40B4-BE49-F238E27FC236}">
                <a16:creationId xmlns:a16="http://schemas.microsoft.com/office/drawing/2014/main" id="{0C4D3A49-4CAF-E726-9832-3EDDE0EAE446}"/>
              </a:ext>
            </a:extLst>
          </p:cNvPr>
          <p:cNvSpPr/>
          <p:nvPr/>
        </p:nvSpPr>
        <p:spPr>
          <a:xfrm>
            <a:off x="5643585" y="5514482"/>
            <a:ext cx="307222" cy="15662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B434B744-F80C-BEF2-1C66-1388837C6B87}"/>
              </a:ext>
            </a:extLst>
          </p:cNvPr>
          <p:cNvGrpSpPr/>
          <p:nvPr/>
        </p:nvGrpSpPr>
        <p:grpSpPr>
          <a:xfrm>
            <a:off x="6187735" y="3685097"/>
            <a:ext cx="525063" cy="2412371"/>
            <a:chOff x="6393741" y="3492127"/>
            <a:chExt cx="525063" cy="2412371"/>
          </a:xfrm>
        </p:grpSpPr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7EFC90EA-104B-51D5-B8BF-77C72313F4B5}"/>
                </a:ext>
              </a:extLst>
            </p:cNvPr>
            <p:cNvSpPr/>
            <p:nvPr/>
          </p:nvSpPr>
          <p:spPr>
            <a:xfrm>
              <a:off x="6393741" y="349212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BEEED39F-55E7-8E97-6638-488925673FD3}"/>
                </a:ext>
              </a:extLst>
            </p:cNvPr>
            <p:cNvSpPr/>
            <p:nvPr/>
          </p:nvSpPr>
          <p:spPr>
            <a:xfrm>
              <a:off x="6393741" y="4165595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6A0332CC-7E69-2ECE-2D8A-7B9777C9DFCB}"/>
                </a:ext>
              </a:extLst>
            </p:cNvPr>
            <p:cNvSpPr/>
            <p:nvPr/>
          </p:nvSpPr>
          <p:spPr>
            <a:xfrm>
              <a:off x="6393741" y="4798794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B7A51E1F-97A1-C0CE-7554-56271D21552A}"/>
                </a:ext>
              </a:extLst>
            </p:cNvPr>
            <p:cNvSpPr/>
            <p:nvPr/>
          </p:nvSpPr>
          <p:spPr>
            <a:xfrm>
              <a:off x="6393741" y="5408054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</a:rPr>
                <a:t>o</a:t>
              </a:r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158" name="矩形 157">
            <a:extLst>
              <a:ext uri="{FF2B5EF4-FFF2-40B4-BE49-F238E27FC236}">
                <a16:creationId xmlns:a16="http://schemas.microsoft.com/office/drawing/2014/main" id="{99306629-3495-D35D-6069-D24CF8AAC5FD}"/>
              </a:ext>
            </a:extLst>
          </p:cNvPr>
          <p:cNvSpPr/>
          <p:nvPr/>
        </p:nvSpPr>
        <p:spPr>
          <a:xfrm>
            <a:off x="4024033" y="3558538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48470F6C-6C05-36EF-DE47-D54D40C2471E}"/>
              </a:ext>
            </a:extLst>
          </p:cNvPr>
          <p:cNvSpPr/>
          <p:nvPr/>
        </p:nvSpPr>
        <p:spPr>
          <a:xfrm>
            <a:off x="4027309" y="4141352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E4618F43-6A33-51E1-9803-02A4BEE3CCD6}"/>
              </a:ext>
            </a:extLst>
          </p:cNvPr>
          <p:cNvSpPr/>
          <p:nvPr/>
        </p:nvSpPr>
        <p:spPr>
          <a:xfrm>
            <a:off x="4017117" y="4735199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253CCE0D-3479-1745-C825-315794406AF3}"/>
              </a:ext>
            </a:extLst>
          </p:cNvPr>
          <p:cNvSpPr/>
          <p:nvPr/>
        </p:nvSpPr>
        <p:spPr>
          <a:xfrm>
            <a:off x="4017117" y="5336497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k</a:t>
            </a:r>
            <a:endParaRPr kumimoji="1" lang="zh-CN" altLang="en-US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46E0A19F-7E38-855A-8C1C-7A12D7E60FFF}"/>
              </a:ext>
            </a:extLst>
          </p:cNvPr>
          <p:cNvSpPr/>
          <p:nvPr/>
        </p:nvSpPr>
        <p:spPr>
          <a:xfrm>
            <a:off x="4616690" y="3541596"/>
            <a:ext cx="407149" cy="4194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D4D5F10A-AF87-DB60-6CBB-C0C109EC9F0C}"/>
              </a:ext>
            </a:extLst>
          </p:cNvPr>
          <p:cNvSpPr/>
          <p:nvPr/>
        </p:nvSpPr>
        <p:spPr>
          <a:xfrm>
            <a:off x="4619966" y="4124410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3AE960C3-9172-D45F-F4F0-3C04DBACCD34}"/>
              </a:ext>
            </a:extLst>
          </p:cNvPr>
          <p:cNvSpPr/>
          <p:nvPr/>
        </p:nvSpPr>
        <p:spPr>
          <a:xfrm>
            <a:off x="4609774" y="4718257"/>
            <a:ext cx="407149" cy="41944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17B85C2A-53F3-0328-982E-65A029090BDE}"/>
              </a:ext>
            </a:extLst>
          </p:cNvPr>
          <p:cNvSpPr/>
          <p:nvPr/>
        </p:nvSpPr>
        <p:spPr>
          <a:xfrm>
            <a:off x="4609774" y="5319555"/>
            <a:ext cx="407149" cy="41944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kumimoji="1" lang="en-US" altLang="zh-CN"/>
              <a:t>v</a:t>
            </a:r>
            <a:endParaRPr kumimoji="1" lang="zh-CN" altLang="en-US"/>
          </a:p>
        </p:txBody>
      </p:sp>
      <p:sp>
        <p:nvSpPr>
          <p:cNvPr id="166" name="文本框 165">
            <a:extLst>
              <a:ext uri="{FF2B5EF4-FFF2-40B4-BE49-F238E27FC236}">
                <a16:creationId xmlns:a16="http://schemas.microsoft.com/office/drawing/2014/main" id="{4687D893-9D7F-E102-7813-5EC49E5A98B2}"/>
              </a:ext>
            </a:extLst>
          </p:cNvPr>
          <p:cNvSpPr txBox="1"/>
          <p:nvPr/>
        </p:nvSpPr>
        <p:spPr>
          <a:xfrm>
            <a:off x="5799724" y="2897804"/>
            <a:ext cx="16314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Output(Req1~5)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EBE35D3A-C1AF-A6DC-2EA2-4C2FAA7CFC71}"/>
              </a:ext>
            </a:extLst>
          </p:cNvPr>
          <p:cNvSpPr txBox="1"/>
          <p:nvPr/>
        </p:nvSpPr>
        <p:spPr>
          <a:xfrm>
            <a:off x="1398336" y="3054280"/>
            <a:ext cx="2613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Input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(embedded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99" name="直线箭头连接符 198">
            <a:extLst>
              <a:ext uri="{FF2B5EF4-FFF2-40B4-BE49-F238E27FC236}">
                <a16:creationId xmlns:a16="http://schemas.microsoft.com/office/drawing/2014/main" id="{4F45E1A5-C7E9-A2AD-D147-A17FA19B314F}"/>
              </a:ext>
            </a:extLst>
          </p:cNvPr>
          <p:cNvCxnSpPr>
            <a:cxnSpLocks/>
          </p:cNvCxnSpPr>
          <p:nvPr/>
        </p:nvCxnSpPr>
        <p:spPr>
          <a:xfrm>
            <a:off x="7592989" y="4452317"/>
            <a:ext cx="275366" cy="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6" name="组合 205">
            <a:extLst>
              <a:ext uri="{FF2B5EF4-FFF2-40B4-BE49-F238E27FC236}">
                <a16:creationId xmlns:a16="http://schemas.microsoft.com/office/drawing/2014/main" id="{46EB6E43-3A80-D795-4248-ECF84B6C5B76}"/>
              </a:ext>
            </a:extLst>
          </p:cNvPr>
          <p:cNvGrpSpPr/>
          <p:nvPr/>
        </p:nvGrpSpPr>
        <p:grpSpPr>
          <a:xfrm rot="16200000">
            <a:off x="10765865" y="2702513"/>
            <a:ext cx="525064" cy="1990920"/>
            <a:chOff x="9524370" y="3454205"/>
            <a:chExt cx="525064" cy="1990920"/>
          </a:xfrm>
        </p:grpSpPr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822BDA40-AEB7-6CE1-26E9-D7599C78AC56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01" name="矩形 200">
                <a:extLst>
                  <a:ext uri="{FF2B5EF4-FFF2-40B4-BE49-F238E27FC236}">
                    <a16:creationId xmlns:a16="http://schemas.microsoft.com/office/drawing/2014/main" id="{46157856-7EF9-1F68-D5F5-EFF452155AB5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矩形 201">
                <a:extLst>
                  <a:ext uri="{FF2B5EF4-FFF2-40B4-BE49-F238E27FC236}">
                    <a16:creationId xmlns:a16="http://schemas.microsoft.com/office/drawing/2014/main" id="{4F48FFE0-37CD-6A32-B35E-408D10D6E08E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矩形 202">
                <a:extLst>
                  <a:ext uri="{FF2B5EF4-FFF2-40B4-BE49-F238E27FC236}">
                    <a16:creationId xmlns:a16="http://schemas.microsoft.com/office/drawing/2014/main" id="{36170CAD-980C-DF27-2B8C-562FFFE723A5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矩形 203">
                <a:extLst>
                  <a:ext uri="{FF2B5EF4-FFF2-40B4-BE49-F238E27FC236}">
                    <a16:creationId xmlns:a16="http://schemas.microsoft.com/office/drawing/2014/main" id="{F80BEDDF-26AC-9232-D3BE-7E1DBF93DFAD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05" name="文本框 204">
              <a:extLst>
                <a:ext uri="{FF2B5EF4-FFF2-40B4-BE49-F238E27FC236}">
                  <a16:creationId xmlns:a16="http://schemas.microsoft.com/office/drawing/2014/main" id="{850346B1-5EED-C341-1A69-ACA60EE6764B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08" name="文本框 207">
            <a:extLst>
              <a:ext uri="{FF2B5EF4-FFF2-40B4-BE49-F238E27FC236}">
                <a16:creationId xmlns:a16="http://schemas.microsoft.com/office/drawing/2014/main" id="{E2D4B0E7-D889-9317-126A-8B39E99D204F}"/>
              </a:ext>
            </a:extLst>
          </p:cNvPr>
          <p:cNvSpPr txBox="1"/>
          <p:nvPr/>
        </p:nvSpPr>
        <p:spPr>
          <a:xfrm>
            <a:off x="9276811" y="3518900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Req1</a:t>
            </a:r>
            <a:endParaRPr lang="zh-CN" altLang="en-US"/>
          </a:p>
        </p:txBody>
      </p:sp>
      <p:grpSp>
        <p:nvGrpSpPr>
          <p:cNvPr id="210" name="组合 209">
            <a:extLst>
              <a:ext uri="{FF2B5EF4-FFF2-40B4-BE49-F238E27FC236}">
                <a16:creationId xmlns:a16="http://schemas.microsoft.com/office/drawing/2014/main" id="{77B74602-A325-D099-4208-4E35C9E28490}"/>
              </a:ext>
            </a:extLst>
          </p:cNvPr>
          <p:cNvGrpSpPr/>
          <p:nvPr/>
        </p:nvGrpSpPr>
        <p:grpSpPr>
          <a:xfrm rot="16200000">
            <a:off x="10767061" y="3351410"/>
            <a:ext cx="525064" cy="1990920"/>
            <a:chOff x="9524370" y="3454205"/>
            <a:chExt cx="525064" cy="1990920"/>
          </a:xfrm>
        </p:grpSpPr>
        <p:grpSp>
          <p:nvGrpSpPr>
            <p:cNvPr id="211" name="组合 210">
              <a:extLst>
                <a:ext uri="{FF2B5EF4-FFF2-40B4-BE49-F238E27FC236}">
                  <a16:creationId xmlns:a16="http://schemas.microsoft.com/office/drawing/2014/main" id="{568C6018-4E0E-5023-E4FB-95A82F04622D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13" name="矩形 212">
                <a:extLst>
                  <a:ext uri="{FF2B5EF4-FFF2-40B4-BE49-F238E27FC236}">
                    <a16:creationId xmlns:a16="http://schemas.microsoft.com/office/drawing/2014/main" id="{F133CE20-49D7-D0BF-48B3-F7E7A23C0FDC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矩形 213">
                <a:extLst>
                  <a:ext uri="{FF2B5EF4-FFF2-40B4-BE49-F238E27FC236}">
                    <a16:creationId xmlns:a16="http://schemas.microsoft.com/office/drawing/2014/main" id="{1A13BDCE-821D-0B8B-DE69-02CA3B8071D2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5" name="矩形 214">
                <a:extLst>
                  <a:ext uri="{FF2B5EF4-FFF2-40B4-BE49-F238E27FC236}">
                    <a16:creationId xmlns:a16="http://schemas.microsoft.com/office/drawing/2014/main" id="{AB26CC49-163C-ACEE-DC98-7FD7F82E5941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16" name="矩形 215">
                <a:extLst>
                  <a:ext uri="{FF2B5EF4-FFF2-40B4-BE49-F238E27FC236}">
                    <a16:creationId xmlns:a16="http://schemas.microsoft.com/office/drawing/2014/main" id="{D3FDA402-5101-813F-CA95-F0D85F262190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12" name="文本框 211">
              <a:extLst>
                <a:ext uri="{FF2B5EF4-FFF2-40B4-BE49-F238E27FC236}">
                  <a16:creationId xmlns:a16="http://schemas.microsoft.com/office/drawing/2014/main" id="{572FCBBD-1896-D7D3-29EC-FF23A0E3F7A1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17" name="文本框 216">
            <a:extLst>
              <a:ext uri="{FF2B5EF4-FFF2-40B4-BE49-F238E27FC236}">
                <a16:creationId xmlns:a16="http://schemas.microsoft.com/office/drawing/2014/main" id="{0BA8428A-2C43-5767-7D77-C2AB2E96ED3C}"/>
              </a:ext>
            </a:extLst>
          </p:cNvPr>
          <p:cNvSpPr txBox="1"/>
          <p:nvPr/>
        </p:nvSpPr>
        <p:spPr>
          <a:xfrm>
            <a:off x="9278007" y="4167797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Req2</a:t>
            </a:r>
            <a:endParaRPr lang="zh-CN" altLang="en-US"/>
          </a:p>
        </p:txBody>
      </p:sp>
      <p:grpSp>
        <p:nvGrpSpPr>
          <p:cNvPr id="218" name="组合 217">
            <a:extLst>
              <a:ext uri="{FF2B5EF4-FFF2-40B4-BE49-F238E27FC236}">
                <a16:creationId xmlns:a16="http://schemas.microsoft.com/office/drawing/2014/main" id="{8561B704-83EF-EA72-9A4A-E0C5473D4724}"/>
              </a:ext>
            </a:extLst>
          </p:cNvPr>
          <p:cNvGrpSpPr/>
          <p:nvPr/>
        </p:nvGrpSpPr>
        <p:grpSpPr>
          <a:xfrm rot="16200000">
            <a:off x="10771153" y="4800788"/>
            <a:ext cx="525064" cy="1990920"/>
            <a:chOff x="9524370" y="3454205"/>
            <a:chExt cx="525064" cy="1990920"/>
          </a:xfrm>
        </p:grpSpPr>
        <p:grpSp>
          <p:nvGrpSpPr>
            <p:cNvPr id="219" name="组合 218">
              <a:extLst>
                <a:ext uri="{FF2B5EF4-FFF2-40B4-BE49-F238E27FC236}">
                  <a16:creationId xmlns:a16="http://schemas.microsoft.com/office/drawing/2014/main" id="{7F707737-ED8B-CD2F-6250-336A0F6B2B0A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21" name="矩形 220">
                <a:extLst>
                  <a:ext uri="{FF2B5EF4-FFF2-40B4-BE49-F238E27FC236}">
                    <a16:creationId xmlns:a16="http://schemas.microsoft.com/office/drawing/2014/main" id="{5B51F07C-68F8-7AC3-1149-18F5B185D331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2" name="矩形 221">
                <a:extLst>
                  <a:ext uri="{FF2B5EF4-FFF2-40B4-BE49-F238E27FC236}">
                    <a16:creationId xmlns:a16="http://schemas.microsoft.com/office/drawing/2014/main" id="{30B7A4B9-A394-B8FD-96C8-497F87183D72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矩形 222">
                <a:extLst>
                  <a:ext uri="{FF2B5EF4-FFF2-40B4-BE49-F238E27FC236}">
                    <a16:creationId xmlns:a16="http://schemas.microsoft.com/office/drawing/2014/main" id="{759964B8-30F7-45CA-0CD5-F1990AD00049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矩形 223">
                <a:extLst>
                  <a:ext uri="{FF2B5EF4-FFF2-40B4-BE49-F238E27FC236}">
                    <a16:creationId xmlns:a16="http://schemas.microsoft.com/office/drawing/2014/main" id="{2D5234CD-6B68-225E-774E-D33784272022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0" name="文本框 219">
              <a:extLst>
                <a:ext uri="{FF2B5EF4-FFF2-40B4-BE49-F238E27FC236}">
                  <a16:creationId xmlns:a16="http://schemas.microsoft.com/office/drawing/2014/main" id="{05025D53-3B59-D303-2409-AD7A7F90714E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25" name="文本框 224">
            <a:extLst>
              <a:ext uri="{FF2B5EF4-FFF2-40B4-BE49-F238E27FC236}">
                <a16:creationId xmlns:a16="http://schemas.microsoft.com/office/drawing/2014/main" id="{0362F763-72DD-A0CF-8DBF-424F95FD8CEF}"/>
              </a:ext>
            </a:extLst>
          </p:cNvPr>
          <p:cNvSpPr txBox="1"/>
          <p:nvPr/>
        </p:nvSpPr>
        <p:spPr>
          <a:xfrm>
            <a:off x="9113522" y="5769314"/>
            <a:ext cx="9194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Req4,5</a:t>
            </a:r>
            <a:endParaRPr lang="zh-CN" altLang="en-US"/>
          </a:p>
        </p:txBody>
      </p: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5D6A1E1E-0B75-8BD4-2A2A-15CF260571B6}"/>
              </a:ext>
            </a:extLst>
          </p:cNvPr>
          <p:cNvGrpSpPr/>
          <p:nvPr/>
        </p:nvGrpSpPr>
        <p:grpSpPr>
          <a:xfrm rot="16200000">
            <a:off x="10655060" y="5063376"/>
            <a:ext cx="525064" cy="1990920"/>
            <a:chOff x="9524370" y="3454205"/>
            <a:chExt cx="525064" cy="1990920"/>
          </a:xfrm>
        </p:grpSpPr>
        <p:grpSp>
          <p:nvGrpSpPr>
            <p:cNvPr id="227" name="组合 226">
              <a:extLst>
                <a:ext uri="{FF2B5EF4-FFF2-40B4-BE49-F238E27FC236}">
                  <a16:creationId xmlns:a16="http://schemas.microsoft.com/office/drawing/2014/main" id="{EF8CCF5F-BEEE-49C8-AF32-881A52D927FF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29" name="矩形 228">
                <a:extLst>
                  <a:ext uri="{FF2B5EF4-FFF2-40B4-BE49-F238E27FC236}">
                    <a16:creationId xmlns:a16="http://schemas.microsoft.com/office/drawing/2014/main" id="{60F9828D-3E1E-D26E-8E2C-3D58C4B74E76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矩形 229">
                <a:extLst>
                  <a:ext uri="{FF2B5EF4-FFF2-40B4-BE49-F238E27FC236}">
                    <a16:creationId xmlns:a16="http://schemas.microsoft.com/office/drawing/2014/main" id="{21A62C8A-A52E-52AC-9F58-32AF2E013EB2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1" name="矩形 230">
                <a:extLst>
                  <a:ext uri="{FF2B5EF4-FFF2-40B4-BE49-F238E27FC236}">
                    <a16:creationId xmlns:a16="http://schemas.microsoft.com/office/drawing/2014/main" id="{07C4ABDE-180F-94F5-E3A8-D664F535D8D2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2" name="矩形 231">
                <a:extLst>
                  <a:ext uri="{FF2B5EF4-FFF2-40B4-BE49-F238E27FC236}">
                    <a16:creationId xmlns:a16="http://schemas.microsoft.com/office/drawing/2014/main" id="{B09C096D-59B1-5583-689D-ED475BEFFD0E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28" name="文本框 227">
              <a:extLst>
                <a:ext uri="{FF2B5EF4-FFF2-40B4-BE49-F238E27FC236}">
                  <a16:creationId xmlns:a16="http://schemas.microsoft.com/office/drawing/2014/main" id="{D93AAC1C-32B2-4F76-D1F4-A39F6D30FCEA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cxnSp>
        <p:nvCxnSpPr>
          <p:cNvPr id="234" name="直线箭头连接符 233">
            <a:extLst>
              <a:ext uri="{FF2B5EF4-FFF2-40B4-BE49-F238E27FC236}">
                <a16:creationId xmlns:a16="http://schemas.microsoft.com/office/drawing/2014/main" id="{356194BE-4189-ED88-223A-119AD79C4223}"/>
              </a:ext>
            </a:extLst>
          </p:cNvPr>
          <p:cNvCxnSpPr>
            <a:cxnSpLocks/>
          </p:cNvCxnSpPr>
          <p:nvPr/>
        </p:nvCxnSpPr>
        <p:spPr>
          <a:xfrm>
            <a:off x="9031143" y="4448015"/>
            <a:ext cx="275366" cy="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5" name="组合 234">
            <a:extLst>
              <a:ext uri="{FF2B5EF4-FFF2-40B4-BE49-F238E27FC236}">
                <a16:creationId xmlns:a16="http://schemas.microsoft.com/office/drawing/2014/main" id="{03AD3045-D5D1-E69A-3625-AD010DFED836}"/>
              </a:ext>
            </a:extLst>
          </p:cNvPr>
          <p:cNvGrpSpPr/>
          <p:nvPr/>
        </p:nvGrpSpPr>
        <p:grpSpPr>
          <a:xfrm rot="16200000">
            <a:off x="10768553" y="4074463"/>
            <a:ext cx="525064" cy="1990920"/>
            <a:chOff x="9524370" y="3454205"/>
            <a:chExt cx="525064" cy="1990920"/>
          </a:xfrm>
        </p:grpSpPr>
        <p:grpSp>
          <p:nvGrpSpPr>
            <p:cNvPr id="236" name="组合 235">
              <a:extLst>
                <a:ext uri="{FF2B5EF4-FFF2-40B4-BE49-F238E27FC236}">
                  <a16:creationId xmlns:a16="http://schemas.microsoft.com/office/drawing/2014/main" id="{19D6241E-DDA9-CFCF-3FC2-05C524441722}"/>
                </a:ext>
              </a:extLst>
            </p:cNvPr>
            <p:cNvGrpSpPr/>
            <p:nvPr/>
          </p:nvGrpSpPr>
          <p:grpSpPr>
            <a:xfrm>
              <a:off x="9524370" y="3454205"/>
              <a:ext cx="525064" cy="1990920"/>
              <a:chOff x="6393740" y="3492127"/>
              <a:chExt cx="525064" cy="1990920"/>
            </a:xfrm>
          </p:grpSpPr>
          <p:sp>
            <p:nvSpPr>
              <p:cNvPr id="238" name="矩形 237">
                <a:extLst>
                  <a:ext uri="{FF2B5EF4-FFF2-40B4-BE49-F238E27FC236}">
                    <a16:creationId xmlns:a16="http://schemas.microsoft.com/office/drawing/2014/main" id="{B63DE4BA-EFDE-1052-D456-4CDC7E7E97B8}"/>
                  </a:ext>
                </a:extLst>
              </p:cNvPr>
              <p:cNvSpPr/>
              <p:nvPr/>
            </p:nvSpPr>
            <p:spPr>
              <a:xfrm>
                <a:off x="6393741" y="3492127"/>
                <a:ext cx="525063" cy="496444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39" name="矩形 238">
                <a:extLst>
                  <a:ext uri="{FF2B5EF4-FFF2-40B4-BE49-F238E27FC236}">
                    <a16:creationId xmlns:a16="http://schemas.microsoft.com/office/drawing/2014/main" id="{39933F1B-83E1-5F98-4811-38F315FB764A}"/>
                  </a:ext>
                </a:extLst>
              </p:cNvPr>
              <p:cNvSpPr/>
              <p:nvPr/>
            </p:nvSpPr>
            <p:spPr>
              <a:xfrm>
                <a:off x="6393741" y="3996621"/>
                <a:ext cx="525063" cy="49644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ACCE729B-2085-9775-8944-7E884CE41844}"/>
                  </a:ext>
                </a:extLst>
              </p:cNvPr>
              <p:cNvSpPr/>
              <p:nvPr/>
            </p:nvSpPr>
            <p:spPr>
              <a:xfrm>
                <a:off x="6393741" y="4490275"/>
                <a:ext cx="525063" cy="496444"/>
              </a:xfrm>
              <a:prstGeom prst="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  <p:sp>
            <p:nvSpPr>
              <p:cNvPr id="241" name="矩形 240">
                <a:extLst>
                  <a:ext uri="{FF2B5EF4-FFF2-40B4-BE49-F238E27FC236}">
                    <a16:creationId xmlns:a16="http://schemas.microsoft.com/office/drawing/2014/main" id="{6C107A75-DD4F-0236-B5DC-E221BDF2006D}"/>
                  </a:ext>
                </a:extLst>
              </p:cNvPr>
              <p:cNvSpPr/>
              <p:nvPr/>
            </p:nvSpPr>
            <p:spPr>
              <a:xfrm>
                <a:off x="6393740" y="4986603"/>
                <a:ext cx="525063" cy="496444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37" name="文本框 236">
              <a:extLst>
                <a:ext uri="{FF2B5EF4-FFF2-40B4-BE49-F238E27FC236}">
                  <a16:creationId xmlns:a16="http://schemas.microsoft.com/office/drawing/2014/main" id="{ACD048BE-B951-EFAC-0AC5-86BE70931E2F}"/>
                </a:ext>
              </a:extLst>
            </p:cNvPr>
            <p:cNvSpPr txBox="1"/>
            <p:nvPr/>
          </p:nvSpPr>
          <p:spPr>
            <a:xfrm rot="5400000">
              <a:off x="9618671" y="4142271"/>
              <a:ext cx="3765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/>
                <a:t>o</a:t>
              </a:r>
              <a:endParaRPr kumimoji="1" lang="zh-CN" altLang="en-US"/>
            </a:p>
          </p:txBody>
        </p:sp>
      </p:grpSp>
      <p:sp>
        <p:nvSpPr>
          <p:cNvPr id="242" name="文本框 241">
            <a:extLst>
              <a:ext uri="{FF2B5EF4-FFF2-40B4-BE49-F238E27FC236}">
                <a16:creationId xmlns:a16="http://schemas.microsoft.com/office/drawing/2014/main" id="{0268CC6F-8250-11D1-2C36-9D39F4A3DDE0}"/>
              </a:ext>
            </a:extLst>
          </p:cNvPr>
          <p:cNvSpPr txBox="1"/>
          <p:nvPr/>
        </p:nvSpPr>
        <p:spPr>
          <a:xfrm>
            <a:off x="9279499" y="4890850"/>
            <a:ext cx="6959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Req3</a:t>
            </a:r>
            <a:endParaRPr lang="zh-CN" altLang="en-US"/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1EA82696-5F1D-84F3-C40A-6A1E2C8D6F3D}"/>
              </a:ext>
            </a:extLst>
          </p:cNvPr>
          <p:cNvSpPr txBox="1"/>
          <p:nvPr/>
        </p:nvSpPr>
        <p:spPr>
          <a:xfrm>
            <a:off x="5018020" y="6410252"/>
            <a:ext cx="1306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New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96AC0E9-6FBE-4ACB-92EE-A780789A1D8F}"/>
              </a:ext>
            </a:extLst>
          </p:cNvPr>
          <p:cNvSpPr/>
          <p:nvPr/>
        </p:nvSpPr>
        <p:spPr>
          <a:xfrm>
            <a:off x="4477894" y="6410252"/>
            <a:ext cx="463138" cy="34438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EFD548F-D9BF-DEF1-149A-872AE24FE751}"/>
              </a:ext>
            </a:extLst>
          </p:cNvPr>
          <p:cNvSpPr/>
          <p:nvPr/>
        </p:nvSpPr>
        <p:spPr>
          <a:xfrm>
            <a:off x="6492576" y="6385304"/>
            <a:ext cx="525063" cy="36933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endParaRPr kumimoji="1" lang="zh-CN" altLang="en-US" sz="1600"/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DFF593A1-58B6-F5F2-8561-7F4DC4072602}"/>
              </a:ext>
            </a:extLst>
          </p:cNvPr>
          <p:cNvSpPr txBox="1"/>
          <p:nvPr/>
        </p:nvSpPr>
        <p:spPr>
          <a:xfrm>
            <a:off x="7090079" y="6410252"/>
            <a:ext cx="35651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Computed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token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err="1"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48" name="组合 247">
            <a:extLst>
              <a:ext uri="{FF2B5EF4-FFF2-40B4-BE49-F238E27FC236}">
                <a16:creationId xmlns:a16="http://schemas.microsoft.com/office/drawing/2014/main" id="{006B84D3-3581-F467-76E5-6EE99ADAB61A}"/>
              </a:ext>
            </a:extLst>
          </p:cNvPr>
          <p:cNvGrpSpPr/>
          <p:nvPr/>
        </p:nvGrpSpPr>
        <p:grpSpPr>
          <a:xfrm rot="16200000">
            <a:off x="1840580" y="5775712"/>
            <a:ext cx="432098" cy="1638414"/>
            <a:chOff x="6393740" y="3492127"/>
            <a:chExt cx="525064" cy="1990920"/>
          </a:xfrm>
        </p:grpSpPr>
        <p:sp>
          <p:nvSpPr>
            <p:cNvPr id="250" name="矩形 249">
              <a:extLst>
                <a:ext uri="{FF2B5EF4-FFF2-40B4-BE49-F238E27FC236}">
                  <a16:creationId xmlns:a16="http://schemas.microsoft.com/office/drawing/2014/main" id="{5536E45E-42B2-E327-9FE3-15763C4198E6}"/>
                </a:ext>
              </a:extLst>
            </p:cNvPr>
            <p:cNvSpPr/>
            <p:nvPr/>
          </p:nvSpPr>
          <p:spPr>
            <a:xfrm>
              <a:off x="6393741" y="3492127"/>
              <a:ext cx="525063" cy="496444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1" name="矩形 250">
              <a:extLst>
                <a:ext uri="{FF2B5EF4-FFF2-40B4-BE49-F238E27FC236}">
                  <a16:creationId xmlns:a16="http://schemas.microsoft.com/office/drawing/2014/main" id="{262A41D4-775D-DE8E-9F76-BA3983F0E045}"/>
                </a:ext>
              </a:extLst>
            </p:cNvPr>
            <p:cNvSpPr/>
            <p:nvPr/>
          </p:nvSpPr>
          <p:spPr>
            <a:xfrm>
              <a:off x="6393741" y="3996621"/>
              <a:ext cx="525063" cy="49644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2" name="矩形 251">
              <a:extLst>
                <a:ext uri="{FF2B5EF4-FFF2-40B4-BE49-F238E27FC236}">
                  <a16:creationId xmlns:a16="http://schemas.microsoft.com/office/drawing/2014/main" id="{56531F17-BC10-95E5-2DC2-C460651A422D}"/>
                </a:ext>
              </a:extLst>
            </p:cNvPr>
            <p:cNvSpPr/>
            <p:nvPr/>
          </p:nvSpPr>
          <p:spPr>
            <a:xfrm>
              <a:off x="6393741" y="4490275"/>
              <a:ext cx="525063" cy="49644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  <p:sp>
          <p:nvSpPr>
            <p:cNvPr id="253" name="矩形 252">
              <a:extLst>
                <a:ext uri="{FF2B5EF4-FFF2-40B4-BE49-F238E27FC236}">
                  <a16:creationId xmlns:a16="http://schemas.microsoft.com/office/drawing/2014/main" id="{BCAA77B8-F968-9ECD-DDAE-934FB2121BCB}"/>
                </a:ext>
              </a:extLst>
            </p:cNvPr>
            <p:cNvSpPr/>
            <p:nvPr/>
          </p:nvSpPr>
          <p:spPr>
            <a:xfrm>
              <a:off x="6393740" y="4986603"/>
              <a:ext cx="525063" cy="496444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</a:endParaRPr>
            </a:p>
          </p:txBody>
        </p:sp>
      </p:grpSp>
      <p:sp>
        <p:nvSpPr>
          <p:cNvPr id="254" name="文本框 253">
            <a:extLst>
              <a:ext uri="{FF2B5EF4-FFF2-40B4-BE49-F238E27FC236}">
                <a16:creationId xmlns:a16="http://schemas.microsoft.com/office/drawing/2014/main" id="{E1FC76F9-79E3-D289-B852-81E3929CBCAB}"/>
              </a:ext>
            </a:extLst>
          </p:cNvPr>
          <p:cNvSpPr txBox="1"/>
          <p:nvPr/>
        </p:nvSpPr>
        <p:spPr>
          <a:xfrm>
            <a:off x="2929244" y="6393345"/>
            <a:ext cx="14716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Differ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heads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F3E861-6960-CF9E-58C4-65D6A0DFF348}"/>
              </a:ext>
            </a:extLst>
          </p:cNvPr>
          <p:cNvSpPr/>
          <p:nvPr/>
        </p:nvSpPr>
        <p:spPr>
          <a:xfrm>
            <a:off x="9113522" y="3236310"/>
            <a:ext cx="1069056" cy="306339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5079E1B-6161-8D1D-3E4C-1C468680478B}"/>
              </a:ext>
            </a:extLst>
          </p:cNvPr>
          <p:cNvSpPr txBox="1"/>
          <p:nvPr/>
        </p:nvSpPr>
        <p:spPr>
          <a:xfrm>
            <a:off x="3136192" y="2496207"/>
            <a:ext cx="6517474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Solution: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Padding batches up to a multiple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 SP degree.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7AB3E5A-04E4-B0FC-E82E-DED4BE9D851B}"/>
              </a:ext>
            </a:extLst>
          </p:cNvPr>
          <p:cNvSpPr txBox="1"/>
          <p:nvPr/>
        </p:nvSpPr>
        <p:spPr>
          <a:xfrm>
            <a:off x="512120" y="3583118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GPU1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C23D7F0-8351-1126-3C09-664F0A6D3A4D}"/>
              </a:ext>
            </a:extLst>
          </p:cNvPr>
          <p:cNvSpPr txBox="1"/>
          <p:nvPr/>
        </p:nvSpPr>
        <p:spPr>
          <a:xfrm>
            <a:off x="512120" y="4171405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GPU2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7629CC-9EA0-3C5B-712D-455B868FE681}"/>
              </a:ext>
            </a:extLst>
          </p:cNvPr>
          <p:cNvSpPr txBox="1"/>
          <p:nvPr/>
        </p:nvSpPr>
        <p:spPr>
          <a:xfrm>
            <a:off x="523304" y="4746653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GPU3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7D2C0553-0345-BE52-33E7-ED12BAFD6F3F}"/>
              </a:ext>
            </a:extLst>
          </p:cNvPr>
          <p:cNvSpPr txBox="1"/>
          <p:nvPr/>
        </p:nvSpPr>
        <p:spPr>
          <a:xfrm>
            <a:off x="515697" y="5558792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GPU4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AFBA9035-20DA-2949-A802-A1D91015FFC6}"/>
              </a:ext>
            </a:extLst>
          </p:cNvPr>
          <p:cNvCxnSpPr>
            <a:cxnSpLocks/>
          </p:cNvCxnSpPr>
          <p:nvPr/>
        </p:nvCxnSpPr>
        <p:spPr>
          <a:xfrm flipH="1" flipV="1">
            <a:off x="7868355" y="2897804"/>
            <a:ext cx="1162788" cy="8349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文本框 254">
            <a:extLst>
              <a:ext uri="{FF2B5EF4-FFF2-40B4-BE49-F238E27FC236}">
                <a16:creationId xmlns:a16="http://schemas.microsoft.com/office/drawing/2014/main" id="{E4045FCE-1487-BEDF-0C5F-A10AA3BEC788}"/>
              </a:ext>
            </a:extLst>
          </p:cNvPr>
          <p:cNvSpPr txBox="1"/>
          <p:nvPr/>
        </p:nvSpPr>
        <p:spPr>
          <a:xfrm>
            <a:off x="3136192" y="2490480"/>
            <a:ext cx="5938184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batchsize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dim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mismatch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rank.</a:t>
            </a:r>
            <a:r>
              <a:rPr lang="zh-CN" altLang="en-US" sz="200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1" lang="zh-CN" altLang="en-US" sz="200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893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6A3E6D-A14C-59F3-D27A-B44783B0D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D3DC98FF-1876-F3EC-27A6-F1FFE64B0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75BF24FF-4644-D299-9C61-33FB5E3614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76B68034-B4E7-6ACE-D91D-DAC704BCF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303732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base</a:t>
            </a:r>
            <a:r>
              <a:rPr lang="en" altLang="zh-CN"/>
              <a:t> config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config?</a:t>
            </a:r>
            <a:endParaRPr lang="en" altLang="zh-CN"/>
          </a:p>
          <a:p>
            <a:pPr lvl="1"/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ensure</a:t>
            </a:r>
            <a:r>
              <a:rPr lang="zh-CN" altLang="en-US"/>
              <a:t> </a:t>
            </a:r>
            <a:r>
              <a:rPr lang="en-US" altLang="zh-CN" b="1"/>
              <a:t>KV</a:t>
            </a:r>
            <a:r>
              <a:rPr lang="zh-CN" altLang="en-US" b="1"/>
              <a:t> </a:t>
            </a:r>
            <a:r>
              <a:rPr lang="en-US" altLang="zh-CN" b="1"/>
              <a:t>cache</a:t>
            </a:r>
            <a:r>
              <a:rPr lang="zh-CN" altLang="en-US" b="1"/>
              <a:t> </a:t>
            </a:r>
            <a:r>
              <a:rPr lang="en" altLang="zh-CN" b="1"/>
              <a:t>consistency</a:t>
            </a:r>
            <a:r>
              <a:rPr lang="en-US" altLang="zh-CN"/>
              <a:t>?</a:t>
            </a:r>
          </a:p>
          <a:p>
            <a:pPr lvl="2"/>
            <a:r>
              <a:rPr lang="en-US" altLang="zh-CN" b="1">
                <a:solidFill>
                  <a:srgbClr val="C00000"/>
                </a:solidFill>
              </a:rPr>
              <a:t>H</a:t>
            </a:r>
            <a:r>
              <a:rPr lang="en" altLang="zh-CN" b="1" err="1">
                <a:solidFill>
                  <a:srgbClr val="C00000"/>
                </a:solidFill>
              </a:rPr>
              <a:t>ead</a:t>
            </a:r>
            <a:r>
              <a:rPr lang="en" altLang="zh-CN" b="1">
                <a:solidFill>
                  <a:srgbClr val="C00000"/>
                </a:solidFill>
              </a:rPr>
              <a:t> ordering </a:t>
            </a:r>
            <a:r>
              <a:rPr lang="en-US" altLang="zh-CN"/>
              <a:t>is</a:t>
            </a:r>
            <a:r>
              <a:rPr lang="zh-CN" altLang="en-US"/>
              <a:t> </a:t>
            </a:r>
            <a:r>
              <a:rPr lang="en-US" altLang="zh-CN"/>
              <a:t>different</a:t>
            </a:r>
            <a:r>
              <a:rPr lang="zh-CN" altLang="en-US"/>
              <a:t> </a:t>
            </a:r>
            <a:r>
              <a:rPr lang="en-US" altLang="zh-CN"/>
              <a:t>in</a:t>
            </a:r>
            <a:r>
              <a:rPr lang="zh-CN" altLang="en-US"/>
              <a:t> </a:t>
            </a:r>
            <a:r>
              <a:rPr lang="en-US" altLang="zh-CN">
                <a:sym typeface="Wingdings" pitchFamily="2" charset="2"/>
              </a:rPr>
              <a:t>(SP,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TP)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and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(SP=1,</a:t>
            </a:r>
            <a:r>
              <a:rPr lang="zh-CN" altLang="en-US">
                <a:sym typeface="Wingdings" pitchFamily="2" charset="2"/>
              </a:rPr>
              <a:t> </a:t>
            </a:r>
            <a:r>
              <a:rPr lang="en-US" altLang="zh-CN">
                <a:sym typeface="Wingdings" pitchFamily="2" charset="2"/>
              </a:rPr>
              <a:t>TP=P)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79CC7D-547B-6A62-B7FE-AF07B48B02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849" y="2223205"/>
            <a:ext cx="5919521" cy="287937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9AF57B6B-5AE7-7729-D673-0136017D38C0}"/>
              </a:ext>
            </a:extLst>
          </p:cNvPr>
          <p:cNvSpPr txBox="1"/>
          <p:nvPr/>
        </p:nvSpPr>
        <p:spPr>
          <a:xfrm>
            <a:off x="2743199" y="5284322"/>
            <a:ext cx="3352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*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E8069BE-F49C-AB98-57DA-7ABAA6DE61C3}"/>
              </a:ext>
            </a:extLst>
          </p:cNvPr>
          <p:cNvSpPr/>
          <p:nvPr/>
        </p:nvSpPr>
        <p:spPr>
          <a:xfrm>
            <a:off x="6174434" y="3680178"/>
            <a:ext cx="1196622" cy="474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181E0A72-6F72-A643-A80D-EE1503F560F0}"/>
              </a:ext>
            </a:extLst>
          </p:cNvPr>
          <p:cNvCxnSpPr>
            <a:cxnSpLocks/>
          </p:cNvCxnSpPr>
          <p:nvPr/>
        </p:nvCxnSpPr>
        <p:spPr>
          <a:xfrm>
            <a:off x="7371056" y="3894667"/>
            <a:ext cx="1152055" cy="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AE916ECF-97BC-366B-9523-A1677AD80255}"/>
              </a:ext>
            </a:extLst>
          </p:cNvPr>
          <p:cNvSpPr txBox="1"/>
          <p:nvPr/>
        </p:nvSpPr>
        <p:spPr>
          <a:xfrm>
            <a:off x="8499563" y="3732579"/>
            <a:ext cx="335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order of the heads does not follow the increasing rank order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4A3090D-D71E-05D5-7AB9-3B6479D42347}"/>
              </a:ext>
            </a:extLst>
          </p:cNvPr>
          <p:cNvSpPr/>
          <p:nvPr/>
        </p:nvSpPr>
        <p:spPr>
          <a:xfrm>
            <a:off x="2915061" y="2973906"/>
            <a:ext cx="1196622" cy="474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99D5806B-18D0-2DEC-308E-EB7A0CC86EE9}"/>
              </a:ext>
            </a:extLst>
          </p:cNvPr>
          <p:cNvCxnSpPr>
            <a:cxnSpLocks/>
          </p:cNvCxnSpPr>
          <p:nvPr/>
        </p:nvCxnSpPr>
        <p:spPr>
          <a:xfrm flipV="1">
            <a:off x="4149768" y="2483556"/>
            <a:ext cx="2352632" cy="517518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3E02C80-258D-9E51-480C-C85E5DD53580}"/>
              </a:ext>
            </a:extLst>
          </p:cNvPr>
          <p:cNvSpPr txBox="1"/>
          <p:nvPr/>
        </p:nvSpPr>
        <p:spPr>
          <a:xfrm>
            <a:off x="6426683" y="2273161"/>
            <a:ext cx="55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Ranks 0 and 1 together compose the full model weights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72DDFB-7120-827E-7197-5A0C246C4908}"/>
              </a:ext>
            </a:extLst>
          </p:cNvPr>
          <p:cNvSpPr/>
          <p:nvPr/>
        </p:nvSpPr>
        <p:spPr>
          <a:xfrm>
            <a:off x="1652031" y="3188757"/>
            <a:ext cx="1196622" cy="474134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2C734F6E-A288-8BE3-C92B-1EB80AD69895}"/>
              </a:ext>
            </a:extLst>
          </p:cNvPr>
          <p:cNvCxnSpPr>
            <a:cxnSpLocks/>
          </p:cNvCxnSpPr>
          <p:nvPr/>
        </p:nvCxnSpPr>
        <p:spPr>
          <a:xfrm flipH="1" flipV="1">
            <a:off x="1431394" y="2808634"/>
            <a:ext cx="377006" cy="384880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D5AD8F1C-E187-EF8B-1E67-553E608D84A2}"/>
              </a:ext>
            </a:extLst>
          </p:cNvPr>
          <p:cNvSpPr txBox="1"/>
          <p:nvPr/>
        </p:nvSpPr>
        <p:spPr>
          <a:xfrm>
            <a:off x="488656" y="2439318"/>
            <a:ext cx="22545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Same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sequence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367A259-E973-5DEE-7C65-655B100F44F3}"/>
              </a:ext>
            </a:extLst>
          </p:cNvPr>
          <p:cNvSpPr/>
          <p:nvPr/>
        </p:nvSpPr>
        <p:spPr>
          <a:xfrm>
            <a:off x="4342871" y="3045515"/>
            <a:ext cx="1030874" cy="169137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57880D16-80FE-FE3B-3372-AAB101BFC631}"/>
              </a:ext>
            </a:extLst>
          </p:cNvPr>
          <p:cNvCxnSpPr>
            <a:cxnSpLocks/>
          </p:cNvCxnSpPr>
          <p:nvPr/>
        </p:nvCxnSpPr>
        <p:spPr>
          <a:xfrm>
            <a:off x="5360432" y="4716271"/>
            <a:ext cx="1177260" cy="467099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A7D379C0-440B-6FD6-40DB-824D28476DDA}"/>
              </a:ext>
            </a:extLst>
          </p:cNvPr>
          <p:cNvSpPr txBox="1"/>
          <p:nvPr/>
        </p:nvSpPr>
        <p:spPr>
          <a:xfrm>
            <a:off x="6577859" y="5079734"/>
            <a:ext cx="5595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each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different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part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(seq,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head)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combination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196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23" grpId="0" animBg="1"/>
      <p:bldP spid="26" grpId="0"/>
      <p:bldP spid="2" grpId="0" animBg="1"/>
      <p:bldP spid="7" grpId="0"/>
      <p:bldP spid="9" grpId="0" animBg="1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64ABB-60B9-C62A-F987-4BB892124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EB92C837-C3BE-113A-1D1B-2A770313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42F140BE-1701-70F9-847B-B47DBC6DC9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5D3A8EE2-C7BE-4248-FA2B-595265278F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303732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base</a:t>
            </a:r>
            <a:r>
              <a:rPr lang="en" altLang="zh-CN"/>
              <a:t> config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config?</a:t>
            </a:r>
            <a:endParaRPr lang="en" altLang="zh-CN"/>
          </a:p>
          <a:p>
            <a:pPr lvl="1"/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ensure</a:t>
            </a:r>
            <a:r>
              <a:rPr lang="zh-CN" altLang="en-US"/>
              <a:t> </a:t>
            </a:r>
            <a:r>
              <a:rPr lang="en-US" altLang="zh-CN" b="1"/>
              <a:t>KV</a:t>
            </a:r>
            <a:r>
              <a:rPr lang="zh-CN" altLang="en-US" b="1"/>
              <a:t> </a:t>
            </a:r>
            <a:r>
              <a:rPr lang="en-US" altLang="zh-CN" b="1"/>
              <a:t>cache</a:t>
            </a:r>
            <a:r>
              <a:rPr lang="zh-CN" altLang="en-US" b="1"/>
              <a:t> </a:t>
            </a:r>
            <a:r>
              <a:rPr lang="en" altLang="zh-CN" b="1"/>
              <a:t>consistency</a:t>
            </a:r>
            <a:r>
              <a:rPr lang="en-US" altLang="zh-CN"/>
              <a:t>?</a:t>
            </a:r>
          </a:p>
          <a:p>
            <a:pPr lvl="2"/>
            <a:r>
              <a:rPr lang="en-US" altLang="zh-CN" b="1"/>
              <a:t>Solution:</a:t>
            </a:r>
            <a:r>
              <a:rPr lang="zh-CN" altLang="en-US" b="1"/>
              <a:t> </a:t>
            </a:r>
            <a:r>
              <a:rPr lang="en-US" altLang="zh-CN" b="1">
                <a:solidFill>
                  <a:srgbClr val="C00000"/>
                </a:solidFill>
              </a:rPr>
              <a:t>Reorder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the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heads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/>
              <a:t>when</a:t>
            </a:r>
            <a:r>
              <a:rPr lang="zh-CN" altLang="en-US"/>
              <a:t> </a:t>
            </a:r>
            <a:r>
              <a:rPr lang="en-US" altLang="zh-CN"/>
              <a:t>using</a:t>
            </a:r>
            <a:r>
              <a:rPr lang="zh-CN" altLang="en-US"/>
              <a:t> </a:t>
            </a:r>
            <a:r>
              <a:rPr lang="en-US" altLang="zh-CN" b="1"/>
              <a:t>shift</a:t>
            </a:r>
            <a:r>
              <a:rPr lang="zh-CN" altLang="en-US" b="1"/>
              <a:t> </a:t>
            </a:r>
            <a:r>
              <a:rPr lang="en-US" altLang="zh-CN" b="1"/>
              <a:t>config</a:t>
            </a:r>
            <a:r>
              <a:rPr lang="zh-CN" altLang="en-US" b="1"/>
              <a:t> </a:t>
            </a:r>
            <a:r>
              <a:rPr lang="en-US" altLang="zh-CN"/>
              <a:t>(SP=1,TP</a:t>
            </a:r>
            <a:r>
              <a:rPr lang="zh-CN" altLang="en-US"/>
              <a:t> </a:t>
            </a:r>
            <a:r>
              <a:rPr lang="en-US" altLang="zh-CN"/>
              <a:t>=</a:t>
            </a:r>
            <a:r>
              <a:rPr lang="zh-CN" altLang="en-US"/>
              <a:t> </a:t>
            </a:r>
            <a:r>
              <a:rPr lang="en-US" altLang="zh-CN" err="1"/>
              <a:t>SPxTP</a:t>
            </a:r>
            <a:r>
              <a:rPr lang="en-US" altLang="zh-CN"/>
              <a:t>)</a:t>
            </a:r>
            <a:endParaRPr lang="en-US" altLang="zh-CN">
              <a:sym typeface="Wingdings" pitchFamily="2" charset="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0ECE8B6-6E1F-B64C-2EB3-D65F7DFD6E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703" y="3127547"/>
            <a:ext cx="3857493" cy="281098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3D848F8-4294-E5E4-D729-DAC85A2A94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01" y="3031093"/>
            <a:ext cx="5778918" cy="281098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F529997-ED67-5DE7-C1B8-A10BB5469662}"/>
              </a:ext>
            </a:extLst>
          </p:cNvPr>
          <p:cNvSpPr/>
          <p:nvPr/>
        </p:nvSpPr>
        <p:spPr>
          <a:xfrm>
            <a:off x="8165308" y="3577976"/>
            <a:ext cx="1241778" cy="1535288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0EC0C9E8-2637-4F36-DF30-FC929FBA6FCD}"/>
              </a:ext>
            </a:extLst>
          </p:cNvPr>
          <p:cNvCxnSpPr/>
          <p:nvPr/>
        </p:nvCxnSpPr>
        <p:spPr>
          <a:xfrm flipH="1">
            <a:off x="6539708" y="5135842"/>
            <a:ext cx="2246489" cy="1083734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66D4724-7654-E7FF-FC35-5FE6C2C1BBDA}"/>
              </a:ext>
            </a:extLst>
          </p:cNvPr>
          <p:cNvSpPr txBox="1"/>
          <p:nvPr/>
        </p:nvSpPr>
        <p:spPr>
          <a:xfrm>
            <a:off x="5089084" y="6196999"/>
            <a:ext cx="22464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reorder the heads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DCF6AF0-BD59-8203-83E5-87D5AF7D829D}"/>
              </a:ext>
            </a:extLst>
          </p:cNvPr>
          <p:cNvSpPr/>
          <p:nvPr/>
        </p:nvSpPr>
        <p:spPr>
          <a:xfrm>
            <a:off x="9576418" y="3442457"/>
            <a:ext cx="1241778" cy="23996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47FC82A-3141-8624-335C-A95C5022F1CC}"/>
              </a:ext>
            </a:extLst>
          </p:cNvPr>
          <p:cNvSpPr/>
          <p:nvPr/>
        </p:nvSpPr>
        <p:spPr>
          <a:xfrm>
            <a:off x="5013370" y="3445717"/>
            <a:ext cx="1241778" cy="239961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4" name="肘形连接符 13">
            <a:extLst>
              <a:ext uri="{FF2B5EF4-FFF2-40B4-BE49-F238E27FC236}">
                <a16:creationId xmlns:a16="http://schemas.microsoft.com/office/drawing/2014/main" id="{2740497A-450A-81C9-2416-07A8348045A4}"/>
              </a:ext>
            </a:extLst>
          </p:cNvPr>
          <p:cNvCxnSpPr>
            <a:stCxn id="12" idx="0"/>
            <a:endCxn id="10" idx="0"/>
          </p:cNvCxnSpPr>
          <p:nvPr/>
        </p:nvCxnSpPr>
        <p:spPr>
          <a:xfrm rot="5400000" flipH="1" flipV="1">
            <a:off x="7914153" y="1162563"/>
            <a:ext cx="3260" cy="4563048"/>
          </a:xfrm>
          <a:prstGeom prst="bentConnector3">
            <a:avLst>
              <a:gd name="adj1" fmla="val 17847086"/>
            </a:avLst>
          </a:prstGeom>
          <a:ln w="28575"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ED210DBC-E2AE-59D3-7AFE-893100AB8F24}"/>
              </a:ext>
            </a:extLst>
          </p:cNvPr>
          <p:cNvSpPr txBox="1"/>
          <p:nvPr/>
        </p:nvSpPr>
        <p:spPr>
          <a:xfrm>
            <a:off x="6539708" y="2411460"/>
            <a:ext cx="28582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Matching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KV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head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3240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 animBg="1"/>
      <p:bldP spid="12" grpId="0" animBg="1"/>
      <p:bldP spid="1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FA40D-00BB-BE01-D92C-B60784B58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21CE40B-5F21-B131-19F3-77F373580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Design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85587ABE-0855-6CE1-4EF6-F21C60ACE9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9DF7D719-A4A4-48B5-131E-4D2ADE20E6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3"/>
            <a:ext cx="11371556" cy="1303732"/>
          </a:xfrm>
        </p:spPr>
        <p:txBody>
          <a:bodyPr>
            <a:normAutofit lnSpcReduction="10000"/>
          </a:bodyPr>
          <a:lstStyle/>
          <a:p>
            <a:r>
              <a:rPr lang="en-US" altLang="zh-CN"/>
              <a:t>2.</a:t>
            </a:r>
            <a:r>
              <a:rPr lang="zh-CN" altLang="en-US"/>
              <a:t> </a:t>
            </a:r>
            <a:r>
              <a:rPr lang="en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between</a:t>
            </a:r>
            <a:r>
              <a:rPr lang="zh-CN" altLang="en-US"/>
              <a:t> </a:t>
            </a:r>
            <a:r>
              <a:rPr lang="en-US" altLang="zh-CN"/>
              <a:t>base</a:t>
            </a:r>
            <a:r>
              <a:rPr lang="en" altLang="zh-CN"/>
              <a:t> config</a:t>
            </a:r>
            <a:r>
              <a:rPr lang="zh-CN" altLang="en-US"/>
              <a:t> </a:t>
            </a:r>
            <a:r>
              <a:rPr lang="en-US" altLang="zh-CN"/>
              <a:t>and</a:t>
            </a:r>
            <a:r>
              <a:rPr lang="zh-CN" altLang="en-US"/>
              <a:t> </a:t>
            </a:r>
            <a:r>
              <a:rPr lang="en-US" altLang="zh-CN"/>
              <a:t>shift</a:t>
            </a:r>
            <a:r>
              <a:rPr lang="zh-CN" altLang="en-US"/>
              <a:t> </a:t>
            </a:r>
            <a:r>
              <a:rPr lang="en-US" altLang="zh-CN"/>
              <a:t>config?</a:t>
            </a:r>
            <a:endParaRPr lang="en" altLang="zh-CN"/>
          </a:p>
          <a:p>
            <a:pPr lvl="1"/>
            <a:r>
              <a:rPr lang="en-US" altLang="zh-CN"/>
              <a:t>How</a:t>
            </a:r>
            <a:r>
              <a:rPr lang="zh-CN" altLang="en-US"/>
              <a:t> </a:t>
            </a:r>
            <a:r>
              <a:rPr lang="en-US" altLang="zh-CN"/>
              <a:t>to</a:t>
            </a:r>
            <a:r>
              <a:rPr lang="zh-CN" altLang="en-US"/>
              <a:t> </a:t>
            </a:r>
            <a:r>
              <a:rPr lang="en-US" altLang="zh-CN"/>
              <a:t>ensure</a:t>
            </a:r>
            <a:r>
              <a:rPr lang="zh-CN" altLang="en-US"/>
              <a:t> </a:t>
            </a:r>
            <a:r>
              <a:rPr lang="en" altLang="zh-CN" b="1"/>
              <a:t>weight compatibility</a:t>
            </a:r>
            <a:r>
              <a:rPr lang="en-US" altLang="zh-CN"/>
              <a:t>?</a:t>
            </a:r>
            <a:endParaRPr lang="en" altLang="zh-CN"/>
          </a:p>
          <a:p>
            <a:pPr lvl="2"/>
            <a:r>
              <a:rPr lang="en" altLang="zh-CN" b="1">
                <a:solidFill>
                  <a:srgbClr val="C00000"/>
                </a:solidFill>
              </a:rPr>
              <a:t>Weight layouts differ </a:t>
            </a:r>
            <a:r>
              <a:rPr lang="en" altLang="zh-CN"/>
              <a:t>across the two configs.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C22D593-625A-ADC8-5D16-9A41832A7BA8}"/>
              </a:ext>
            </a:extLst>
          </p:cNvPr>
          <p:cNvSpPr txBox="1"/>
          <p:nvPr/>
        </p:nvSpPr>
        <p:spPr>
          <a:xfrm>
            <a:off x="1072444" y="2305585"/>
            <a:ext cx="354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Option1: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On-the-fly slicing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3620A0-6781-13A7-4921-2B258213B5F8}"/>
              </a:ext>
            </a:extLst>
          </p:cNvPr>
          <p:cNvSpPr txBox="1"/>
          <p:nvPr/>
        </p:nvSpPr>
        <p:spPr>
          <a:xfrm>
            <a:off x="6743784" y="2305585"/>
            <a:ext cx="354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Option2: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Separate Models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625F38-A4F5-90E2-C448-8E7A02A8C197}"/>
              </a:ext>
            </a:extLst>
          </p:cNvPr>
          <p:cNvSpPr txBox="1"/>
          <p:nvPr/>
        </p:nvSpPr>
        <p:spPr>
          <a:xfrm>
            <a:off x="706786" y="2787783"/>
            <a:ext cx="55767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Advantage: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No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overhead.</a:t>
            </a:r>
          </a:p>
          <a:p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isadvantage: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ach slicing requires matrix transposition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due to an FP8 hardware limitation of Hopper tensor cores.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D7EC88-EC20-E67B-5189-59ED7F814C29}"/>
              </a:ext>
            </a:extLst>
          </p:cNvPr>
          <p:cNvSpPr txBox="1"/>
          <p:nvPr/>
        </p:nvSpPr>
        <p:spPr>
          <a:xfrm>
            <a:off x="6381529" y="2849928"/>
            <a:ext cx="55767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Advantage: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Fast.</a:t>
            </a:r>
          </a:p>
          <a:p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isadvantage: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More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memory</a:t>
            </a:r>
            <a:r>
              <a:rPr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overhead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928E14BA-0162-17AF-3264-91E4B590F28A}"/>
              </a:ext>
            </a:extLst>
          </p:cNvPr>
          <p:cNvGrpSpPr/>
          <p:nvPr/>
        </p:nvGrpSpPr>
        <p:grpSpPr>
          <a:xfrm>
            <a:off x="7574847" y="2674917"/>
            <a:ext cx="2142525" cy="869244"/>
            <a:chOff x="5113867" y="4425245"/>
            <a:chExt cx="2142525" cy="869244"/>
          </a:xfrm>
          <a:solidFill>
            <a:srgbClr val="92D050"/>
          </a:solidFill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DDB67BE-7AC9-2A44-F83E-8A29E8E88362}"/>
                </a:ext>
              </a:extLst>
            </p:cNvPr>
            <p:cNvSpPr/>
            <p:nvPr/>
          </p:nvSpPr>
          <p:spPr>
            <a:xfrm rot="19333779">
              <a:off x="5113867" y="4425245"/>
              <a:ext cx="169333" cy="86924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DB3BE80-84C0-9D71-AFD2-0C08F157BF51}"/>
                </a:ext>
              </a:extLst>
            </p:cNvPr>
            <p:cNvSpPr/>
            <p:nvPr/>
          </p:nvSpPr>
          <p:spPr>
            <a:xfrm rot="3156354">
              <a:off x="6113023" y="3474206"/>
              <a:ext cx="167177" cy="2119561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5F203772-9D0A-0C49-58F4-831C690F01AA}"/>
              </a:ext>
            </a:extLst>
          </p:cNvPr>
          <p:cNvSpPr/>
          <p:nvPr/>
        </p:nvSpPr>
        <p:spPr>
          <a:xfrm>
            <a:off x="948857" y="4566868"/>
            <a:ext cx="5251351" cy="138824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A16035-28E7-6396-8029-7AE3FE3D8718}"/>
              </a:ext>
            </a:extLst>
          </p:cNvPr>
          <p:cNvSpPr txBox="1"/>
          <p:nvPr/>
        </p:nvSpPr>
        <p:spPr>
          <a:xfrm>
            <a:off x="1188018" y="5018580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GPU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A4183D2-0542-A52C-769F-C239AE722F04}"/>
              </a:ext>
            </a:extLst>
          </p:cNvPr>
          <p:cNvSpPr/>
          <p:nvPr/>
        </p:nvSpPr>
        <p:spPr>
          <a:xfrm>
            <a:off x="2301223" y="4951053"/>
            <a:ext cx="1253066" cy="6198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weight</a:t>
            </a:r>
            <a:endParaRPr kumimoji="1"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4E4D33F2-07FC-D819-90D9-8A42D06D4FE4}"/>
              </a:ext>
            </a:extLst>
          </p:cNvPr>
          <p:cNvSpPr txBox="1"/>
          <p:nvPr/>
        </p:nvSpPr>
        <p:spPr>
          <a:xfrm>
            <a:off x="1604351" y="3938316"/>
            <a:ext cx="20679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Base config: (SP, TP)  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BA45705-5D20-FAD2-0BD2-B587FB26A9AC}"/>
              </a:ext>
            </a:extLst>
          </p:cNvPr>
          <p:cNvSpPr txBox="1"/>
          <p:nvPr/>
        </p:nvSpPr>
        <p:spPr>
          <a:xfrm>
            <a:off x="3672303" y="3929696"/>
            <a:ext cx="2709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>
                <a:latin typeface="Calibri" panose="020F0502020204030204" pitchFamily="34" charset="0"/>
                <a:cs typeface="Calibri" panose="020F0502020204030204" pitchFamily="34" charset="0"/>
              </a:rPr>
              <a:t>Shift config: (SP=1, TP=P)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4063294-C060-A464-3343-6A6BDC031779}"/>
              </a:ext>
            </a:extLst>
          </p:cNvPr>
          <p:cNvSpPr/>
          <p:nvPr/>
        </p:nvSpPr>
        <p:spPr>
          <a:xfrm>
            <a:off x="4333221" y="4951053"/>
            <a:ext cx="1504731" cy="2516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weight</a:t>
            </a:r>
            <a:endParaRPr kumimoji="1" lang="zh-CN" altLang="en-US"/>
          </a:p>
        </p:txBody>
      </p: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B4C76DDD-8CE9-B13A-F7E3-0917B0F76CA2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2927756" y="4299028"/>
            <a:ext cx="0" cy="6520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BA634DC2-E023-3498-AA61-C955FF2AB074}"/>
              </a:ext>
            </a:extLst>
          </p:cNvPr>
          <p:cNvCxnSpPr>
            <a:cxnSpLocks/>
          </p:cNvCxnSpPr>
          <p:nvPr/>
        </p:nvCxnSpPr>
        <p:spPr>
          <a:xfrm flipV="1">
            <a:off x="5123445" y="4299028"/>
            <a:ext cx="0" cy="652025"/>
          </a:xfrm>
          <a:prstGeom prst="straightConnector1">
            <a:avLst/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图片 35">
            <a:extLst>
              <a:ext uri="{FF2B5EF4-FFF2-40B4-BE49-F238E27FC236}">
                <a16:creationId xmlns:a16="http://schemas.microsoft.com/office/drawing/2014/main" id="{33FB64EA-62CC-B4D4-E82E-458EE8A456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17"/>
          <a:stretch/>
        </p:blipFill>
        <p:spPr>
          <a:xfrm>
            <a:off x="7171753" y="4074753"/>
            <a:ext cx="3441400" cy="876300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BF0D978A-D7C7-F8A5-4D5A-2191B994A6CC}"/>
              </a:ext>
            </a:extLst>
          </p:cNvPr>
          <p:cNvSpPr txBox="1"/>
          <p:nvPr/>
        </p:nvSpPr>
        <p:spPr>
          <a:xfrm>
            <a:off x="7326382" y="5116226"/>
            <a:ext cx="39167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when SP=8, the shift model’s memory overhead is 12.5%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Base</a:t>
            </a:r>
            <a:r>
              <a:rPr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model</a:t>
            </a:r>
            <a:endParaRPr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895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7C86-B396-535A-373C-CA1A40A12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4631C863-193D-0B96-926E-748E633D9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Implementation</a:t>
            </a:r>
            <a:r>
              <a:rPr kumimoji="1" lang="zh-CN" altLang="en-US"/>
              <a:t> </a:t>
            </a:r>
            <a:r>
              <a:rPr kumimoji="1" lang="en-US" altLang="zh-CN"/>
              <a:t>of</a:t>
            </a:r>
            <a:r>
              <a:rPr kumimoji="1" lang="zh-CN" altLang="en-US"/>
              <a:t> </a:t>
            </a:r>
            <a:r>
              <a:rPr kumimoji="1" lang="en-US" altLang="zh-CN"/>
              <a:t>Shift Parallelism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A13FA36D-4DAA-CB9A-0654-67314154C6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290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占位符 10">
            <a:extLst>
              <a:ext uri="{FF2B5EF4-FFF2-40B4-BE49-F238E27FC236}">
                <a16:creationId xmlns:a16="http://schemas.microsoft.com/office/drawing/2014/main" id="{BAE2F42A-DD02-DD8D-E0F9-003739BB2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8656" y="919472"/>
            <a:ext cx="11371556" cy="3009061"/>
          </a:xfrm>
        </p:spPr>
        <p:txBody>
          <a:bodyPr vert="horz" lIns="46800" tIns="45720" rIns="91440" bIns="45720" rtlCol="0" anchor="t">
            <a:normAutofit/>
          </a:bodyPr>
          <a:lstStyle/>
          <a:p>
            <a:r>
              <a:rPr lang="en-US" altLang="zh-CN"/>
              <a:t>Integration into </a:t>
            </a:r>
            <a:r>
              <a:rPr lang="en-US" altLang="zh-CN" b="1" err="1">
                <a:solidFill>
                  <a:srgbClr val="C00000"/>
                </a:solidFill>
              </a:rPr>
              <a:t>vLLM</a:t>
            </a:r>
            <a:endParaRPr lang="en-US" altLang="zh-CN" b="1">
              <a:solidFill>
                <a:srgbClr val="C00000"/>
              </a:solidFill>
            </a:endParaRPr>
          </a:p>
          <a:p>
            <a:pPr lvl="1"/>
            <a:r>
              <a:rPr lang="en-US" altLang="zh-CN"/>
              <a:t>The existing inference frameworks </a:t>
            </a:r>
            <a:r>
              <a:rPr lang="en" altLang="zh-CN"/>
              <a:t>haven’t</a:t>
            </a:r>
            <a:r>
              <a:rPr lang="zh-CN" altLang="en-US"/>
              <a:t> </a:t>
            </a:r>
            <a:r>
              <a:rPr lang="en" altLang="zh-CN"/>
              <a:t>implemented</a:t>
            </a:r>
            <a:r>
              <a:rPr lang="zh-CN" altLang="en-US"/>
              <a:t> </a:t>
            </a:r>
            <a:r>
              <a:rPr lang="en-US" altLang="zh-CN"/>
              <a:t>SP</a:t>
            </a:r>
          </a:p>
          <a:p>
            <a:pPr lvl="2"/>
            <a:r>
              <a:rPr lang="en-US" altLang="zh-CN" b="1"/>
              <a:t>Solution</a:t>
            </a:r>
            <a:r>
              <a:rPr lang="en-US" altLang="zh-CN"/>
              <a:t>:</a:t>
            </a:r>
            <a:r>
              <a:rPr lang="zh-CN" altLang="en-US"/>
              <a:t> </a:t>
            </a:r>
            <a:r>
              <a:rPr lang="en" altLang="zh-CN"/>
              <a:t>Developing a </a:t>
            </a:r>
            <a:r>
              <a:rPr lang="en" altLang="zh-CN" b="1">
                <a:solidFill>
                  <a:srgbClr val="C00000"/>
                </a:solidFill>
              </a:rPr>
              <a:t>plug-in </a:t>
            </a:r>
            <a:r>
              <a:rPr lang="en" altLang="zh-CN"/>
              <a:t>system</a:t>
            </a:r>
          </a:p>
          <a:p>
            <a:pPr lvl="1"/>
            <a:r>
              <a:rPr lang="en-US" altLang="zh-CN"/>
              <a:t>capturing cudagraph</a:t>
            </a:r>
            <a:r>
              <a:rPr lang="zh-CN" altLang="en-US"/>
              <a:t> </a:t>
            </a:r>
            <a:r>
              <a:rPr lang="en" altLang="zh-CN"/>
              <a:t>failed due to dynamic all-to-all communication</a:t>
            </a:r>
          </a:p>
          <a:p>
            <a:pPr lvl="2"/>
            <a:r>
              <a:rPr lang="en" altLang="zh-CN" b="1">
                <a:latin typeface="Calibri"/>
                <a:ea typeface="Microsoft Himalaya"/>
                <a:cs typeface="Calibri"/>
              </a:rPr>
              <a:t>Solution:</a:t>
            </a:r>
            <a:r>
              <a:rPr lang="en" altLang="zh-CN">
                <a:latin typeface="Calibri"/>
                <a:ea typeface="Microsoft Himalaya"/>
                <a:cs typeface="Calibri"/>
              </a:rPr>
              <a:t> </a:t>
            </a:r>
            <a:r>
              <a:rPr lang="en-US" altLang="zh-CN">
                <a:latin typeface="Calibri"/>
                <a:ea typeface="Microsoft Himalaya"/>
                <a:cs typeface="Calibri"/>
              </a:rPr>
              <a:t>M</a:t>
            </a:r>
            <a:r>
              <a:rPr lang="en" altLang="zh-CN">
                <a:latin typeface="Calibri"/>
                <a:ea typeface="Microsoft Himalaya"/>
                <a:cs typeface="Calibri"/>
              </a:rPr>
              <a:t>odifying compilation</a:t>
            </a:r>
            <a:r>
              <a:rPr lang="zh-CN" altLang="en-US">
                <a:latin typeface="Calibri"/>
                <a:cs typeface="Calibri"/>
              </a:rPr>
              <a:t> </a:t>
            </a:r>
            <a:r>
              <a:rPr lang="en-US" altLang="zh-CN">
                <a:latin typeface="Calibri"/>
                <a:ea typeface="Microsoft Himalaya"/>
                <a:cs typeface="Calibri"/>
              </a:rPr>
              <a:t>by</a:t>
            </a:r>
            <a:r>
              <a:rPr lang="zh-CN" altLang="en-US">
                <a:latin typeface="Calibri"/>
                <a:cs typeface="Calibri"/>
              </a:rPr>
              <a:t> </a:t>
            </a:r>
            <a:r>
              <a:rPr lang="en-US" altLang="zh-CN">
                <a:latin typeface="Calibri"/>
                <a:ea typeface="Microsoft Himalaya"/>
                <a:cs typeface="Calibri"/>
              </a:rPr>
              <a:t>r</a:t>
            </a:r>
            <a:r>
              <a:rPr lang="en" altLang="zh-CN">
                <a:latin typeface="Calibri"/>
                <a:ea typeface="Microsoft Himalaya"/>
                <a:cs typeface="Calibri"/>
              </a:rPr>
              <a:t>elax</a:t>
            </a:r>
            <a:r>
              <a:rPr lang="en-US" altLang="zh-CN">
                <a:latin typeface="Calibri"/>
                <a:ea typeface="Microsoft Himalaya"/>
                <a:cs typeface="Calibri"/>
              </a:rPr>
              <a:t>ing</a:t>
            </a:r>
            <a:r>
              <a:rPr lang="en" altLang="zh-CN">
                <a:latin typeface="Calibri"/>
                <a:ea typeface="Microsoft Himalaya"/>
                <a:cs typeface="Calibri"/>
              </a:rPr>
              <a:t> vLLM’s assumptions</a:t>
            </a:r>
            <a:endParaRPr lang="en-US" altLang="zh-CN">
              <a:latin typeface="Calibri"/>
              <a:ea typeface="Microsoft Himalaya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578005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Background &amp; Motivation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Design &amp; Implementation</a:t>
            </a:r>
          </a:p>
          <a:p>
            <a:r>
              <a:rPr kumimoji="1" lang="en-US" altLang="zh-CN"/>
              <a:t>Evaluation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Conclusion</a:t>
            </a:r>
            <a:endParaRPr kumimoji="1" lang="en-US" altLang="zh-CN"/>
          </a:p>
          <a:p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25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Outline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0500" indent="-514350">
              <a:buFont typeface="+mj-lt"/>
              <a:buAutoNum type="arabicPeriod"/>
            </a:pPr>
            <a:r>
              <a:rPr lang="en-US" altLang="zh-CN"/>
              <a:t>Adaptation under bursty real-world pattern</a:t>
            </a:r>
          </a:p>
          <a:p>
            <a:pPr marL="190500" indent="-514350">
              <a:buFont typeface="+mj-lt"/>
              <a:buAutoNum type="arabicPeriod"/>
            </a:pPr>
            <a:r>
              <a:rPr lang="en-US" altLang="zh-CN"/>
              <a:t>Performance across various benchmarks</a:t>
            </a:r>
          </a:p>
          <a:p>
            <a:pPr marL="190500" indent="-514350">
              <a:buFont typeface="+mj-lt"/>
              <a:buAutoNum type="arabicPeriod"/>
            </a:pPr>
            <a:r>
              <a:rPr lang="en-US" altLang="zh-CN"/>
              <a:t>Integration with inference optimization techniques</a:t>
            </a:r>
          </a:p>
          <a:p>
            <a:pPr marL="190500" indent="-514350">
              <a:buFont typeface="+mj-lt"/>
              <a:buAutoNum type="arabicPeriod"/>
            </a:pPr>
            <a:r>
              <a:rPr lang="en-US" altLang="zh-CN"/>
              <a:t>Breakdown analysis of different parallelism strategies</a:t>
            </a:r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26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Evaluation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485502" y="1080485"/>
            <a:ext cx="11204293" cy="5644165"/>
          </a:xfrm>
        </p:spPr>
        <p:txBody>
          <a:bodyPr/>
          <a:lstStyle/>
          <a:p>
            <a:r>
              <a:rPr kumimoji="1" lang="en-US" altLang="zh-CN"/>
              <a:t>Environments</a:t>
            </a:r>
          </a:p>
          <a:p>
            <a:pPr lvl="1"/>
            <a:r>
              <a:rPr kumimoji="1" lang="en-US" altLang="zh-CN"/>
              <a:t>8</a:t>
            </a:r>
            <a:r>
              <a:rPr kumimoji="1" lang="zh-CN" altLang="en-US"/>
              <a:t> </a:t>
            </a:r>
            <a:r>
              <a:rPr kumimoji="1" lang="en-US" altLang="zh-CN"/>
              <a:t>NVIDIA</a:t>
            </a:r>
            <a:r>
              <a:rPr kumimoji="1" lang="zh-CN" altLang="en-US"/>
              <a:t> </a:t>
            </a:r>
            <a:r>
              <a:rPr kumimoji="1" lang="en-US" altLang="zh-CN" b="1">
                <a:solidFill>
                  <a:srgbClr val="FF0000"/>
                </a:solidFill>
              </a:rPr>
              <a:t>H200-141GB</a:t>
            </a:r>
            <a:r>
              <a:rPr kumimoji="1" lang="zh-CN" altLang="en-US"/>
              <a:t> </a:t>
            </a:r>
            <a:r>
              <a:rPr kumimoji="1" lang="en-US" altLang="zh-CN"/>
              <a:t>GPUs</a:t>
            </a:r>
          </a:p>
          <a:p>
            <a:pPr lvl="1"/>
            <a:r>
              <a:rPr kumimoji="1" lang="en-US" altLang="zh-CN" err="1"/>
              <a:t>NVSwitch</a:t>
            </a:r>
            <a:r>
              <a:rPr kumimoji="1" lang="en-US" altLang="zh-CN"/>
              <a:t> with a bandwidth of </a:t>
            </a:r>
            <a:r>
              <a:rPr kumimoji="1" lang="en-US" altLang="zh-CN" b="1">
                <a:solidFill>
                  <a:srgbClr val="FF0000"/>
                </a:solidFill>
              </a:rPr>
              <a:t>900GB/s</a:t>
            </a:r>
            <a:endParaRPr kumimoji="1" lang="en-US" altLang="zh-CN"/>
          </a:p>
          <a:p>
            <a:r>
              <a:rPr kumimoji="1" lang="en-US" altLang="zh-CN"/>
              <a:t>Baselines</a:t>
            </a:r>
          </a:p>
          <a:p>
            <a:pPr lvl="1"/>
            <a:r>
              <a:rPr kumimoji="1" lang="en-US" altLang="zh-CN" err="1"/>
              <a:t>SGLang</a:t>
            </a:r>
            <a:endParaRPr kumimoji="1" lang="en-US" altLang="zh-CN"/>
          </a:p>
          <a:p>
            <a:pPr lvl="1"/>
            <a:r>
              <a:rPr kumimoji="1" lang="en-US" altLang="zh-CN"/>
              <a:t>TRT-LLM</a:t>
            </a:r>
          </a:p>
          <a:p>
            <a:r>
              <a:rPr kumimoji="1" lang="en-US" altLang="zh-CN"/>
              <a:t>Models </a:t>
            </a:r>
            <a:r>
              <a:rPr kumimoji="1" lang="en-US" altLang="zh-CN" sz="2400" i="1"/>
              <a:t>(all in FP8 quantization)</a:t>
            </a:r>
          </a:p>
          <a:p>
            <a:pPr lvl="2"/>
            <a:endParaRPr kumimoji="1"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27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Evaluation</a:t>
            </a:r>
            <a:r>
              <a:rPr kumimoji="1" lang="zh-CN" altLang="en-US"/>
              <a:t> </a:t>
            </a:r>
            <a:r>
              <a:rPr kumimoji="1" lang="en-US" altLang="zh-CN"/>
              <a:t>Setup</a:t>
            </a:r>
            <a:endParaRPr kumimoji="1" lang="zh-CN" altLang="en-US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3643758"/>
              </p:ext>
            </p:extLst>
          </p:nvPr>
        </p:nvGraphicFramePr>
        <p:xfrm>
          <a:off x="1501644" y="4592863"/>
          <a:ext cx="9172008" cy="1981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988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4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99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588">
                  <a:extLst>
                    <a:ext uri="{9D8B030D-6E8A-4147-A177-3AD203B41FA5}">
                      <a16:colId xmlns:a16="http://schemas.microsoft.com/office/drawing/2014/main" val="2197906902"/>
                    </a:ext>
                  </a:extLst>
                </a:gridCol>
                <a:gridCol w="1528668">
                  <a:extLst>
                    <a:ext uri="{9D8B030D-6E8A-4147-A177-3AD203B41FA5}">
                      <a16:colId xmlns:a16="http://schemas.microsoft.com/office/drawing/2014/main" val="14966154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Model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#Params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#Layer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Hidden</a:t>
                      </a:r>
                      <a:r>
                        <a:rPr lang="zh-CN" altLang="en-US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Size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 Heads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KV Heads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LLaMA-70B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70B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80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8192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Qwen-32B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5120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64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LLaMA-17B-16E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109B/17B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5120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40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Qwen-30B-A3B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30B/3B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2048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32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0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zh-CN" altLang="en-US" sz="200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77609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/>
          <a:lstStyle/>
          <a:p>
            <a:r>
              <a:rPr kumimoji="1" lang="en-US" altLang="zh-CN"/>
              <a:t>Datasets</a:t>
            </a:r>
          </a:p>
          <a:p>
            <a:pPr lvl="1"/>
            <a:r>
              <a:rPr kumimoji="1" lang="en-US" altLang="zh-CN"/>
              <a:t>A mixture of requests from </a:t>
            </a:r>
            <a:r>
              <a:rPr kumimoji="1" lang="en-US" altLang="zh-CN" err="1"/>
              <a:t>HumanEval</a:t>
            </a:r>
            <a:r>
              <a:rPr kumimoji="1" lang="en-US" altLang="zh-CN"/>
              <a:t> and from a </a:t>
            </a:r>
            <a:r>
              <a:rPr kumimoji="1" lang="en-US" altLang="zh-CN" err="1"/>
              <a:t>CodeAct</a:t>
            </a:r>
            <a:r>
              <a:rPr kumimoji="1" lang="en-US" altLang="zh-CN"/>
              <a:t> agent</a:t>
            </a:r>
          </a:p>
          <a:p>
            <a:pPr lvl="2"/>
            <a:r>
              <a:rPr kumimoji="1" lang="en-US" altLang="zh-CN"/>
              <a:t>Running against </a:t>
            </a:r>
            <a:r>
              <a:rPr kumimoji="1" lang="en-US" altLang="zh-CN" err="1"/>
              <a:t>SWEBench</a:t>
            </a:r>
            <a:endParaRPr kumimoji="1" lang="en-US" altLang="zh-CN"/>
          </a:p>
          <a:p>
            <a:pPr lvl="2"/>
            <a:r>
              <a:rPr kumimoji="1" lang="en-US" altLang="zh-CN">
                <a:solidFill>
                  <a:srgbClr val="C00000"/>
                </a:solidFill>
              </a:rPr>
              <a:t>Real-world</a:t>
            </a:r>
          </a:p>
          <a:p>
            <a:pPr lvl="1"/>
            <a:r>
              <a:rPr lang="en-US" altLang="zh-CN"/>
              <a:t>A </a:t>
            </a:r>
            <a:r>
              <a:rPr lang="en-US" altLang="zh-CN">
                <a:solidFill>
                  <a:srgbClr val="C00000"/>
                </a:solidFill>
              </a:rPr>
              <a:t>filtered real-life dataset </a:t>
            </a:r>
            <a:r>
              <a:rPr lang="en-US" altLang="zh-CN"/>
              <a:t>that matches the synthetic dataset requests</a:t>
            </a:r>
          </a:p>
          <a:p>
            <a:pPr lvl="1"/>
            <a:r>
              <a:rPr lang="en" altLang="zh-CN">
                <a:solidFill>
                  <a:srgbClr val="C00000"/>
                </a:solidFill>
              </a:rPr>
              <a:t>Synthetic requests </a:t>
            </a:r>
            <a:r>
              <a:rPr lang="en" altLang="zh-CN"/>
              <a:t>with random data</a:t>
            </a:r>
            <a:endParaRPr lang="en-US" altLang="zh-CN" b="1">
              <a:solidFill>
                <a:srgbClr val="FF0000"/>
              </a:solidFill>
            </a:endParaRPr>
          </a:p>
          <a:p>
            <a:pPr lvl="1"/>
            <a:r>
              <a:rPr lang="en-US" altLang="zh-CN"/>
              <a:t>﻿A </a:t>
            </a:r>
            <a:r>
              <a:rPr lang="en-US" altLang="zh-CN">
                <a:solidFill>
                  <a:srgbClr val="C00000"/>
                </a:solidFill>
              </a:rPr>
              <a:t>bursty traffic pattern </a:t>
            </a:r>
            <a:r>
              <a:rPr lang="en-US" altLang="zh-CN"/>
              <a:t>that resembles </a:t>
            </a:r>
            <a:r>
              <a:rPr lang="en-US" altLang="zh-CN" err="1"/>
              <a:t>reallife</a:t>
            </a:r>
            <a:r>
              <a:rPr lang="en-US" altLang="zh-CN"/>
              <a:t> production environment</a:t>
            </a:r>
            <a:endParaRPr kumimoji="1" lang="en-US" altLang="zh-CN"/>
          </a:p>
          <a:p>
            <a:pPr lvl="0"/>
            <a:endParaRPr kumimoji="1"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28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Evaluation</a:t>
            </a:r>
            <a:r>
              <a:rPr kumimoji="1" lang="zh-CN" altLang="en-US"/>
              <a:t> </a:t>
            </a:r>
            <a:r>
              <a:rPr kumimoji="1" lang="en-US" altLang="zh-CN"/>
              <a:t>Setup</a:t>
            </a:r>
            <a:endParaRPr kumimoji="1" lang="zh-CN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486138" y="1213836"/>
            <a:ext cx="6080126" cy="3932930"/>
          </a:xfrm>
        </p:spPr>
        <p:txBody>
          <a:bodyPr>
            <a:normAutofit/>
          </a:bodyPr>
          <a:lstStyle/>
          <a:p>
            <a:r>
              <a:rPr kumimoji="1" lang="en-US" altLang="zh-CN"/>
              <a:t>LLaMa-70B,</a:t>
            </a:r>
            <a:r>
              <a:rPr kumimoji="1" lang="zh-CN" altLang="en-US"/>
              <a:t> </a:t>
            </a:r>
            <a:r>
              <a:rPr kumimoji="1" lang="en-US" altLang="zh-CN"/>
              <a:t>real-world trace</a:t>
            </a:r>
          </a:p>
          <a:p>
            <a:pPr lvl="1"/>
            <a:r>
              <a:rPr kumimoji="1" lang="en-US" altLang="zh-CN" sz="2400"/>
              <a:t>Shift Parallelism obtains </a:t>
            </a:r>
          </a:p>
          <a:p>
            <a:pPr lvl="2"/>
            <a:r>
              <a:rPr kumimoji="1" lang="en-US" altLang="zh-CN" sz="2000"/>
              <a:t>Lowest latency</a:t>
            </a:r>
            <a:r>
              <a:rPr kumimoji="1" lang="zh-CN" altLang="en-US" sz="2000"/>
              <a:t> </a:t>
            </a:r>
            <a:r>
              <a:rPr kumimoji="1" lang="en-US" altLang="zh-CN" sz="2000"/>
              <a:t>at bursty requests</a:t>
            </a:r>
          </a:p>
          <a:p>
            <a:pPr lvl="2"/>
            <a:r>
              <a:rPr kumimoji="1" lang="en-US" altLang="zh-CN" sz="2000"/>
              <a:t>Lower median TTFT &amp; TPOT</a:t>
            </a:r>
          </a:p>
          <a:p>
            <a:pPr lvl="2"/>
            <a:r>
              <a:rPr kumimoji="1" lang="en-US" altLang="zh-CN" sz="2000"/>
              <a:t>Higher peak throughput</a:t>
            </a:r>
            <a:r>
              <a:rPr kumimoji="1" lang="zh-CN" altLang="en-US" sz="2000"/>
              <a:t> </a:t>
            </a:r>
            <a:r>
              <a:rPr kumimoji="1" lang="en-US" altLang="zh-CN" sz="2000"/>
              <a:t>than TP</a:t>
            </a:r>
          </a:p>
          <a:p>
            <a:r>
              <a:rPr lang="en" altLang="zh-CN"/>
              <a:t>Shift Parallelism can handle the high-traffic bursts better</a:t>
            </a:r>
            <a:endParaRPr kumimoji="1" lang="en-US" altLang="zh-CN" sz="28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29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Performance ﻿in Real-World Traffic</a:t>
            </a:r>
            <a:endParaRPr kumimoji="1"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4C98F25-9C96-6794-E0B2-D035E2020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833" y="1086067"/>
            <a:ext cx="5731499" cy="537057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D1095E-8C68-93FD-5DBD-BDD66B450AB6}"/>
              </a:ext>
            </a:extLst>
          </p:cNvPr>
          <p:cNvSpPr txBox="1"/>
          <p:nvPr/>
        </p:nvSpPr>
        <p:spPr>
          <a:xfrm>
            <a:off x="7811587" y="1029170"/>
            <a:ext cx="896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DP</a:t>
            </a:r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31DA7A6-E302-9D91-7A3C-DB643D6AF927}"/>
              </a:ext>
            </a:extLst>
          </p:cNvPr>
          <p:cNvSpPr txBox="1"/>
          <p:nvPr/>
        </p:nvSpPr>
        <p:spPr>
          <a:xfrm>
            <a:off x="9299876" y="1029170"/>
            <a:ext cx="8969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0A60E-B9A0-D5F9-2BEE-EF5AFAB27B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D8717EF-C562-D955-C159-38718A13D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/>
          <a:lstStyle/>
          <a:p>
            <a:r>
              <a:rPr kumimoji="1" lang="en-US" altLang="zh-CN"/>
              <a:t>LLaMa-70B &amp; Qwen-32B, input: 4k, output: 250</a:t>
            </a:r>
          </a:p>
          <a:p>
            <a:pPr lvl="1"/>
            <a:r>
              <a:rPr kumimoji="1" lang="en-US" altLang="zh-CN"/>
              <a:t>The trend is similar to real-world traffic</a:t>
            </a:r>
          </a:p>
          <a:p>
            <a:pPr lvl="2"/>
            <a:r>
              <a:rPr kumimoji="1" lang="en-US" altLang="zh-CN"/>
              <a:t>Lowest TTFT, 2</a:t>
            </a:r>
            <a:r>
              <a:rPr kumimoji="1" lang="en-US" altLang="zh-CN" baseline="30000"/>
              <a:t>nd</a:t>
            </a:r>
            <a:r>
              <a:rPr kumimoji="1" lang="en-US" altLang="zh-CN"/>
              <a:t> lowest TPOT</a:t>
            </a:r>
          </a:p>
          <a:p>
            <a:pPr lvl="2"/>
            <a:r>
              <a:rPr kumimoji="1" lang="en-US" altLang="zh-CN"/>
              <a:t>Better throughput than TP</a:t>
            </a:r>
          </a:p>
          <a:p>
            <a:pPr lvl="0"/>
            <a:endParaRPr kumimoji="1"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F146A66-B8D8-1684-44E2-7AC0CD0C306B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30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53EBC10F-57B9-E6BA-0242-D9B9CF2ED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Performance Benchmarks</a:t>
            </a:r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9B03BAB-5796-D7AF-EC50-C0F7065703C0}"/>
              </a:ext>
            </a:extLst>
          </p:cNvPr>
          <p:cNvSpPr txBox="1"/>
          <p:nvPr/>
        </p:nvSpPr>
        <p:spPr>
          <a:xfrm>
            <a:off x="3749347" y="6374008"/>
            <a:ext cx="4693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" altLang="zh-CN" sz="2000" b="1" i="0">
                <a:solidFill>
                  <a:srgbClr val="000000"/>
                </a:solidFill>
                <a:effectLst/>
                <a:latin typeface="rival-sans"/>
              </a:rPr>
              <a:t>Latency vs. throughput tradeoff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870ADF1-62D7-F1DA-1945-8F831D49A4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869976"/>
            <a:ext cx="7772400" cy="350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16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9E43A-49C1-5881-D259-F7A021182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4EB41C4A-1C23-8E71-CE78-0DB2A0C12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/>
          <a:lstStyle/>
          <a:p>
            <a:r>
              <a:rPr kumimoji="1" lang="en-US" altLang="zh-CN" sz="2800"/>
              <a:t>LLaMa-70B &amp; Qwen-32B, input: 2k-128k, output: 250</a:t>
            </a:r>
          </a:p>
          <a:p>
            <a:pPr lvl="1"/>
            <a:r>
              <a:rPr kumimoji="1" lang="en-US" altLang="zh-CN" sz="2400"/>
              <a:t>SP introduces faster prefill, so Shift Parallelism achieves best TTFT</a:t>
            </a:r>
          </a:p>
          <a:p>
            <a:pPr lvl="1"/>
            <a:r>
              <a:rPr lang="en" altLang="zh-CN" sz="2400"/>
              <a:t>TPOT increases with the input size</a:t>
            </a:r>
          </a:p>
          <a:p>
            <a:pPr lvl="2"/>
            <a:r>
              <a:rPr lang="en" altLang="zh-CN" sz="2000"/>
              <a:t>As the number of tokens read from KV cache increases</a:t>
            </a:r>
            <a:r>
              <a:rPr lang="zh-CN" altLang="en-US" sz="2000"/>
              <a:t> </a:t>
            </a:r>
            <a:r>
              <a:rPr lang="en-US" altLang="zh-CN" sz="2000"/>
              <a:t>-&gt; Memory bandwidth bound</a:t>
            </a:r>
            <a:endParaRPr kumimoji="1" lang="en-US" altLang="zh-CN" sz="2000"/>
          </a:p>
          <a:p>
            <a:pPr lvl="1"/>
            <a:r>
              <a:rPr lang="en" altLang="zh-CN" sz="2400"/>
              <a:t>Throughput drops significantly with larger contexts </a:t>
            </a:r>
          </a:p>
          <a:p>
            <a:pPr lvl="2"/>
            <a:r>
              <a:rPr lang="en" altLang="zh-CN" sz="2000"/>
              <a:t>Because attention time dominates the end-to-end generation</a:t>
            </a:r>
            <a:endParaRPr kumimoji="1" lang="en-US" altLang="zh-CN" sz="180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65BC968-3914-A59E-0563-AB9B497A849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31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8D3D919D-435C-A998-ECF0-C96AF904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Performance Benchmarks</a:t>
            </a:r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F4C0DF7-1381-BF9B-C8F6-CEF3F45D05BA}"/>
              </a:ext>
            </a:extLst>
          </p:cNvPr>
          <p:cNvSpPr txBox="1"/>
          <p:nvPr/>
        </p:nvSpPr>
        <p:spPr>
          <a:xfrm>
            <a:off x="3756870" y="6053285"/>
            <a:ext cx="469330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2000" b="1" i="0">
                <a:solidFill>
                  <a:srgbClr val="000000"/>
                </a:solidFill>
                <a:effectLst/>
                <a:latin typeface="rival-sans"/>
              </a:rPr>
              <a:t>Variations across context sizes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DAE1CDD-2A17-C60C-A311-A4203DAB99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592" r="50452" b="47124"/>
          <a:stretch>
            <a:fillRect/>
          </a:stretch>
        </p:blipFill>
        <p:spPr>
          <a:xfrm>
            <a:off x="1172655" y="3967641"/>
            <a:ext cx="4707837" cy="190579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683D0A-5E4D-503A-C837-10D31F600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2655" y="3552527"/>
            <a:ext cx="4791572" cy="27467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D8BCC61-1AB7-6989-784D-C267256969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2876" r="50452" b="3361"/>
          <a:stretch>
            <a:fillRect/>
          </a:stretch>
        </p:blipFill>
        <p:spPr>
          <a:xfrm>
            <a:off x="6096256" y="3675635"/>
            <a:ext cx="4707837" cy="2123095"/>
          </a:xfrm>
          <a:prstGeom prst="rect">
            <a:avLst/>
          </a:prstGeom>
        </p:spPr>
      </p:pic>
      <p:sp>
        <p:nvSpPr>
          <p:cNvPr id="9" name="右箭头 8">
            <a:extLst>
              <a:ext uri="{FF2B5EF4-FFF2-40B4-BE49-F238E27FC236}">
                <a16:creationId xmlns:a16="http://schemas.microsoft.com/office/drawing/2014/main" id="{CAE7BD09-2777-3EFC-155E-89C2305D3D08}"/>
              </a:ext>
            </a:extLst>
          </p:cNvPr>
          <p:cNvSpPr/>
          <p:nvPr/>
        </p:nvSpPr>
        <p:spPr>
          <a:xfrm rot="20724766">
            <a:off x="4349262" y="4319908"/>
            <a:ext cx="926123" cy="237616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EA863623-5C9B-7E25-6F8D-4859791E986D}"/>
              </a:ext>
            </a:extLst>
          </p:cNvPr>
          <p:cNvSpPr/>
          <p:nvPr/>
        </p:nvSpPr>
        <p:spPr>
          <a:xfrm rot="1417512">
            <a:off x="7269847" y="4279929"/>
            <a:ext cx="2584004" cy="237616"/>
          </a:xfrm>
          <a:prstGeom prst="right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990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5EA6A-2B75-56D5-F7CE-74D68A7D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34303A30-6F57-9302-50B9-6CBD77739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/>
          <a:lstStyle/>
          <a:p>
            <a:r>
              <a:rPr kumimoji="1" lang="en-US" altLang="zh-CN" sz="2800"/>
              <a:t>LLaMa-70B &amp; Qwen-32B, input: 8k, output: 250</a:t>
            </a:r>
          </a:p>
          <a:p>
            <a:pPr lvl="1"/>
            <a:r>
              <a:rPr kumimoji="1" lang="en-US" altLang="zh-CN" sz="2400"/>
              <a:t>Completion Time = TTFT + #output * TPOT</a:t>
            </a:r>
          </a:p>
          <a:p>
            <a:pPr lvl="1"/>
            <a:r>
              <a:rPr lang="en" altLang="zh-CN" sz="2400"/>
              <a:t>Shift Parallelism strictly obtains the lowest completion time across arrival rates</a:t>
            </a:r>
            <a:endParaRPr lang="en" altLang="zh-CN"/>
          </a:p>
          <a:p>
            <a:pPr lvl="1"/>
            <a:r>
              <a:rPr lang="en" altLang="zh-CN" sz="2400"/>
              <a:t>In </a:t>
            </a:r>
            <a:r>
              <a:rPr lang="en" altLang="zh-CN" sz="2400">
                <a:solidFill>
                  <a:schemeClr val="accent1"/>
                </a:solidFill>
              </a:rPr>
              <a:t>low-to-medium</a:t>
            </a:r>
            <a:r>
              <a:rPr lang="en" altLang="zh-CN" sz="2400"/>
              <a:t> rates, Shift Parallelism </a:t>
            </a:r>
            <a:r>
              <a:rPr lang="en" altLang="zh-CN" sz="2400">
                <a:solidFill>
                  <a:schemeClr val="accent1"/>
                </a:solidFill>
              </a:rPr>
              <a:t>switches back-and-forth</a:t>
            </a:r>
            <a:r>
              <a:rPr lang="en" altLang="zh-CN" sz="2400"/>
              <a:t> across SP and TP </a:t>
            </a:r>
          </a:p>
          <a:p>
            <a:pPr lvl="2"/>
            <a:r>
              <a:rPr lang="en" altLang="zh-CN" sz="2000"/>
              <a:t>For minimizing latencies</a:t>
            </a:r>
          </a:p>
          <a:p>
            <a:pPr lvl="1"/>
            <a:r>
              <a:rPr lang="en" altLang="zh-CN" sz="2400"/>
              <a:t>In </a:t>
            </a:r>
            <a:r>
              <a:rPr lang="en" altLang="zh-CN" sz="2400">
                <a:solidFill>
                  <a:srgbClr val="C00000"/>
                </a:solidFill>
              </a:rPr>
              <a:t>high traffic</a:t>
            </a:r>
            <a:r>
              <a:rPr lang="en" altLang="zh-CN" sz="2400"/>
              <a:t>, Shift Parallelism uses </a:t>
            </a:r>
            <a:r>
              <a:rPr lang="en" altLang="zh-CN" sz="2400">
                <a:solidFill>
                  <a:srgbClr val="C00000"/>
                </a:solidFill>
              </a:rPr>
              <a:t>SP</a:t>
            </a:r>
          </a:p>
          <a:p>
            <a:pPr lvl="2"/>
            <a:r>
              <a:rPr lang="en" altLang="zh-CN" sz="2000"/>
              <a:t>To save combined throughput</a:t>
            </a:r>
            <a:endParaRPr kumimoji="1" lang="en-US" altLang="zh-CN" sz="180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A2AB7BD-D603-A652-D56A-88FB843F9DF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32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BF4AB68-0BAB-3A91-9100-A5516B746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Performance Benchmarks</a:t>
            </a:r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190BF9-66CF-F834-DFE7-E455FC7F1C27}"/>
              </a:ext>
            </a:extLst>
          </p:cNvPr>
          <p:cNvSpPr txBox="1"/>
          <p:nvPr/>
        </p:nvSpPr>
        <p:spPr>
          <a:xfrm>
            <a:off x="5885683" y="4998747"/>
            <a:ext cx="46933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b="1"/>
              <a:t>Latency vs. Arrival Rate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676F5A2-91D2-913D-EBAD-A711374361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320" y="3792763"/>
            <a:ext cx="6502400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7909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5B909-91E4-BB77-39DF-0C080FB80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EDD04D2-9E12-A7A3-8745-624AF23EA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>
            <a:normAutofit/>
          </a:bodyPr>
          <a:lstStyle/>
          <a:p>
            <a:r>
              <a:rPr lang="en" altLang="zh-CN" sz="2800"/>
              <a:t>Already integrated Shift Parallelism with </a:t>
            </a:r>
            <a:r>
              <a:rPr lang="en" altLang="zh-CN" sz="2800" err="1"/>
              <a:t>SwiftKV</a:t>
            </a:r>
            <a:r>
              <a:rPr lang="en" altLang="zh-CN" sz="2800"/>
              <a:t> and speculative decoding</a:t>
            </a:r>
            <a:endParaRPr kumimoji="1" lang="en-US" altLang="zh-CN" sz="1800"/>
          </a:p>
          <a:p>
            <a:r>
              <a:rPr lang="en" altLang="zh-CN" sz="2800"/>
              <a:t>Highest throughput and lowest completion time</a:t>
            </a:r>
          </a:p>
          <a:p>
            <a:pPr lvl="1"/>
            <a:r>
              <a:rPr lang="en" altLang="zh-CN" sz="2400"/>
              <a:t>Outperforming the best open source systems</a:t>
            </a:r>
            <a:endParaRPr lang="en" altLang="zh-CN" sz="200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C02ADA8E-71B8-438F-E0A4-27F65E1D2822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33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66AD436-AD5F-92BF-2904-FFDD509BC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/>
              <a:t>Shift Parallelism in Production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2140C4-9C98-6140-F1C3-C6472D5B06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122" y="3001108"/>
            <a:ext cx="7152802" cy="2883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39445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57059-44F5-6F01-1D74-570CBF2C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9C271D92-7E70-20A8-C113-769F74E26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1377" y="1080485"/>
            <a:ext cx="11204293" cy="5644165"/>
          </a:xfrm>
        </p:spPr>
        <p:txBody>
          <a:bodyPr>
            <a:normAutofit/>
          </a:bodyPr>
          <a:lstStyle/>
          <a:p>
            <a:r>
              <a:rPr lang="en" altLang="zh-CN"/>
              <a:t>SP has a lower communication cost than TP</a:t>
            </a:r>
          </a:p>
          <a:p>
            <a:r>
              <a:rPr lang="en" altLang="zh-CN"/>
              <a:t>The parallelization cost of </a:t>
            </a:r>
            <a:r>
              <a:rPr lang="en" altLang="zh-CN" err="1"/>
              <a:t>vLLM</a:t>
            </a:r>
            <a:r>
              <a:rPr lang="en" altLang="zh-CN"/>
              <a:t> is significant</a:t>
            </a:r>
          </a:p>
          <a:p>
            <a:pPr lvl="1"/>
            <a:r>
              <a:rPr lang="en" altLang="zh-CN"/>
              <a:t>Which explains the remaining throughput gap between DP and SP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35C31FA3-53C0-0063-43AB-4A92E6A9C5A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34</a:t>
            </a:fld>
            <a:endParaRPr lang="zh-CN" altLang="en-US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0C339460-18F7-C27D-32EA-21A3373E0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CN"/>
              <a:t>Breakdown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B6CBC85-6AB4-F031-0E83-1E3ADABA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0345" y="2720242"/>
            <a:ext cx="8411309" cy="3504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94400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Background &amp; Motivation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Design &amp; Implementation</a:t>
            </a:r>
          </a:p>
          <a:p>
            <a:r>
              <a:rPr kumimoji="1" lang="en-US" altLang="zh-CN">
                <a:solidFill>
                  <a:schemeClr val="bg2">
                    <a:lumMod val="75000"/>
                  </a:schemeClr>
                </a:solidFill>
              </a:rPr>
              <a:t>Evaluation</a:t>
            </a:r>
          </a:p>
          <a:p>
            <a:r>
              <a:rPr kumimoji="1" lang="en-US" altLang="zh-CN"/>
              <a:t>Conclusion</a:t>
            </a:r>
          </a:p>
          <a:p>
            <a:endParaRPr kumimoji="1" lang="en-US" altLang="zh-CN"/>
          </a:p>
          <a:p>
            <a:endParaRPr kumimoji="1" lang="zh-CN" altLang="en-US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35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Outline</a:t>
            </a:r>
            <a:endParaRPr kumimoji="1" lang="zh-CN" alt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1"/>
          </p:nvPr>
        </p:nvSpPr>
        <p:spPr>
          <a:xfrm>
            <a:off x="373403" y="972453"/>
            <a:ext cx="11705863" cy="4912958"/>
          </a:xfrm>
        </p:spPr>
        <p:txBody>
          <a:bodyPr>
            <a:normAutofit/>
          </a:bodyPr>
          <a:lstStyle/>
          <a:p>
            <a:r>
              <a:rPr kumimoji="1" lang="en-US" altLang="zh-CN"/>
              <a:t>Strength</a:t>
            </a:r>
          </a:p>
          <a:p>
            <a:pPr lvl="1"/>
            <a:r>
              <a:rPr lang="en-US" altLang="zh-CN"/>
              <a:t>Demonstrates </a:t>
            </a:r>
            <a:r>
              <a:rPr lang="en-US" altLang="zh-CN" b="1">
                <a:solidFill>
                  <a:srgbClr val="FF0000"/>
                </a:solidFill>
              </a:rPr>
              <a:t>KV cache invariance</a:t>
            </a:r>
            <a:r>
              <a:rPr lang="en-US" altLang="zh-CN" b="1">
                <a:solidFill>
                  <a:srgbClr val="C00000"/>
                </a:solidFill>
              </a:rPr>
              <a:t> </a:t>
            </a:r>
            <a:r>
              <a:rPr lang="en-US" altLang="zh-CN"/>
              <a:t>between TP and SP</a:t>
            </a:r>
          </a:p>
          <a:p>
            <a:pPr lvl="1"/>
            <a:r>
              <a:rPr lang="en" altLang="zh-CN" b="1">
                <a:solidFill>
                  <a:srgbClr val="FF0000"/>
                </a:solidFill>
              </a:rPr>
              <a:t>Integrated SP into </a:t>
            </a:r>
            <a:r>
              <a:rPr lang="en" altLang="zh-CN" b="1" err="1">
                <a:solidFill>
                  <a:srgbClr val="FF0000"/>
                </a:solidFill>
              </a:rPr>
              <a:t>vLLM</a:t>
            </a:r>
            <a:r>
              <a:rPr lang="en" altLang="zh-CN" b="1">
                <a:solidFill>
                  <a:srgbClr val="FF0000"/>
                </a:solidFill>
              </a:rPr>
              <a:t> </a:t>
            </a:r>
            <a:r>
              <a:rPr lang="en" altLang="zh-CN"/>
              <a:t>and combined it with other optimizations</a:t>
            </a:r>
          </a:p>
          <a:p>
            <a:pPr lvl="1"/>
            <a:r>
              <a:rPr kumimoji="1" lang="en-US" altLang="zh-CN"/>
              <a:t>Innovatively </a:t>
            </a:r>
            <a:r>
              <a:rPr kumimoji="1" lang="en-US" altLang="zh-CN" b="1">
                <a:solidFill>
                  <a:srgbClr val="FF0000"/>
                </a:solidFill>
              </a:rPr>
              <a:t>switches TP and SP configs </a:t>
            </a:r>
            <a:r>
              <a:rPr kumimoji="1" lang="en-US" altLang="zh-CN"/>
              <a:t>to handle bursty workloads</a:t>
            </a:r>
          </a:p>
          <a:p>
            <a:r>
              <a:rPr kumimoji="1" lang="en-US" altLang="zh-CN"/>
              <a:t>Weakness</a:t>
            </a:r>
          </a:p>
          <a:p>
            <a:pPr lvl="1"/>
            <a:r>
              <a:rPr kumimoji="1" lang="en-US" altLang="zh-CN"/>
              <a:t>Poor paper writing!!!</a:t>
            </a:r>
          </a:p>
          <a:p>
            <a:pPr lvl="1"/>
            <a:r>
              <a:rPr kumimoji="1" lang="en-US" altLang="zh-CN"/>
              <a:t>No optimization when </a:t>
            </a:r>
            <a:r>
              <a:rPr kumimoji="1" lang="en-US" altLang="zh-CN" b="1">
                <a:solidFill>
                  <a:srgbClr val="FF0000"/>
                </a:solidFill>
              </a:rPr>
              <a:t>TP must be 8</a:t>
            </a:r>
            <a:endParaRPr kumimoji="1" lang="en-US" altLang="zh-CN"/>
          </a:p>
          <a:p>
            <a:pPr lvl="1"/>
            <a:r>
              <a:rPr kumimoji="1" lang="en-US" altLang="zh-CN"/>
              <a:t>No analysis of </a:t>
            </a:r>
            <a:r>
              <a:rPr kumimoji="1" lang="en-US" altLang="zh-CN" b="1">
                <a:solidFill>
                  <a:srgbClr val="FF0000"/>
                </a:solidFill>
              </a:rPr>
              <a:t>switching overhead</a:t>
            </a:r>
          </a:p>
          <a:p>
            <a:pPr lvl="1"/>
            <a:r>
              <a:rPr kumimoji="1" lang="en-US" altLang="zh-CN"/>
              <a:t>No mention of request </a:t>
            </a:r>
            <a:r>
              <a:rPr kumimoji="1" lang="en-US" altLang="zh-CN" b="1">
                <a:solidFill>
                  <a:srgbClr val="FF0000"/>
                </a:solidFill>
              </a:rPr>
              <a:t>waiting time</a:t>
            </a:r>
          </a:p>
          <a:p>
            <a:pPr lvl="2"/>
            <a:endParaRPr kumimoji="1" lang="en-US" altLang="zh-CN"/>
          </a:p>
          <a:p>
            <a:pPr marL="306070" lvl="1" indent="0">
              <a:buNone/>
            </a:pPr>
            <a:endParaRPr kumimoji="1" lang="en-US" altLang="zh-CN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/>
              <a:t>36</a:t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Conclusion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4708B2-7037-809E-8EC9-6752182F8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6945DA-B130-2493-67AD-FCF0D3671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/>
              <a:t>Computational Complexity of TP and SP</a:t>
            </a:r>
            <a:endParaRPr kumimoji="1" lang="en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2AAB2480-943B-FFAE-C925-0A5EB6FE9CA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37</a:t>
            </a:fld>
            <a:endParaRPr lang="en-US" altLang="zh-CN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2DBEB39F-EC11-23F8-DC94-EB2635650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D8B5AC-209D-E07D-3F94-A3B4BA6A3615}"/>
              </a:ext>
            </a:extLst>
          </p:cNvPr>
          <p:cNvSpPr txBox="1"/>
          <p:nvPr/>
        </p:nvSpPr>
        <p:spPr>
          <a:xfrm>
            <a:off x="0" y="6484492"/>
            <a:ext cx="122529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[1] Combined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Throughput (token/sec)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means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total number of tokens </a:t>
            </a:r>
            <a:r>
              <a:rPr kumimoji="1" lang="en" altLang="zh-CN" err="1">
                <a:latin typeface="Calibri" panose="020F0502020204030204" pitchFamily="34" charset="0"/>
                <a:cs typeface="Calibri" panose="020F0502020204030204" pitchFamily="34" charset="0"/>
              </a:rPr>
              <a:t>processe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" altLang="zh-CN">
                <a:latin typeface="Calibri" panose="020F0502020204030204" pitchFamily="34" charset="0"/>
                <a:cs typeface="Calibri" panose="020F0502020204030204" pitchFamily="34" charset="0"/>
              </a:rPr>
              <a:t>by the inference system per unit of time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F885CF-B01E-95F0-2B4E-9B7E8CAA0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032" y="2506933"/>
            <a:ext cx="9814501" cy="2567110"/>
          </a:xfrm>
          <a:prstGeom prst="rect">
            <a:avLst/>
          </a:prstGeom>
          <a:ln>
            <a:noFill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BCB1607-B768-2B3D-08F8-3CA69967DCE7}"/>
              </a:ext>
            </a:extLst>
          </p:cNvPr>
          <p:cNvSpPr/>
          <p:nvPr/>
        </p:nvSpPr>
        <p:spPr>
          <a:xfrm>
            <a:off x="8579802" y="3249976"/>
            <a:ext cx="2282829" cy="1652530"/>
          </a:xfrm>
          <a:prstGeom prst="rect">
            <a:avLst/>
          </a:prstGeom>
          <a:noFill/>
          <a:ln w="3492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4D6DB65-9964-A348-AC39-58031E25D88A}"/>
              </a:ext>
            </a:extLst>
          </p:cNvPr>
          <p:cNvSpPr txBox="1"/>
          <p:nvPr/>
        </p:nvSpPr>
        <p:spPr>
          <a:xfrm>
            <a:off x="8150890" y="4946568"/>
            <a:ext cx="32341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dose</a:t>
            </a:r>
            <a:r>
              <a:rPr kumimoji="1" lang="zh-CN" altLang="en-US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not increase comm cost</a:t>
            </a:r>
            <a:endParaRPr kumimoji="1" lang="zh-CN" altLang="en-US" b="1">
              <a:solidFill>
                <a:srgbClr val="C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79695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D78365-9CF2-C20C-7275-13CD1AC9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58A8BF3-1F67-2E83-5039-ED0D7BD9E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410" y="1214120"/>
            <a:ext cx="11705590" cy="1061720"/>
          </a:xfrm>
        </p:spPr>
        <p:txBody>
          <a:bodyPr>
            <a:normAutofit fontScale="97500"/>
          </a:bodyPr>
          <a:lstStyle/>
          <a:p>
            <a:r>
              <a:rPr kumimoji="1" lang="en-US" altLang="zh-CN"/>
              <a:t>Tensor</a:t>
            </a:r>
            <a:r>
              <a:rPr kumimoji="1" lang="zh-CN" altLang="en-US"/>
              <a:t> </a:t>
            </a:r>
            <a:r>
              <a:rPr kumimoji="1" lang="en-US" altLang="zh-CN"/>
              <a:t>parallelism: </a:t>
            </a:r>
            <a:r>
              <a:rPr kumimoji="1" lang="en" altLang="zh-CN"/>
              <a:t>partitions</a:t>
            </a:r>
            <a:r>
              <a:rPr kumimoji="1" lang="zh-CN" altLang="en-US"/>
              <a:t> </a:t>
            </a:r>
            <a:r>
              <a:rPr kumimoji="1" lang="en-US" altLang="zh-CN"/>
              <a:t>weight</a:t>
            </a:r>
            <a:r>
              <a:rPr kumimoji="1" lang="zh-CN" altLang="en-US"/>
              <a:t> </a:t>
            </a:r>
            <a:r>
              <a:rPr kumimoji="1" lang="en-US" altLang="zh-CN"/>
              <a:t>along</a:t>
            </a:r>
            <a:r>
              <a:rPr kumimoji="1" lang="zh-CN" altLang="en-US"/>
              <a:t>  </a:t>
            </a:r>
            <a:r>
              <a:rPr kumimoji="1" lang="en-US" altLang="zh-CN"/>
              <a:t>hidden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</a:p>
          <a:p>
            <a:pPr lvl="1"/>
            <a:r>
              <a:rPr kumimoji="1" lang="en-US" altLang="zh-CN"/>
              <a:t>TP</a:t>
            </a:r>
            <a:r>
              <a:rPr kumimoji="1" lang="zh-CN" altLang="en-US"/>
              <a:t> </a:t>
            </a:r>
            <a:r>
              <a:rPr kumimoji="1" lang="en-US" altLang="zh-CN"/>
              <a:t>in</a:t>
            </a:r>
            <a:r>
              <a:rPr kumimoji="1" lang="zh-CN" altLang="en-US"/>
              <a:t> </a:t>
            </a:r>
            <a:r>
              <a:rPr kumimoji="1" lang="en-US" altLang="zh-CN"/>
              <a:t>MLP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89DFB883-B069-CA44-F221-9691F54C61CA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38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D5AE77A1-CFA1-60F3-48C9-37E95F534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9EED9829-7736-625A-51A4-2F6A7D625D67}"/>
              </a:ext>
            </a:extLst>
          </p:cNvPr>
          <p:cNvGrpSpPr/>
          <p:nvPr/>
        </p:nvGrpSpPr>
        <p:grpSpPr>
          <a:xfrm>
            <a:off x="3789306" y="1816589"/>
            <a:ext cx="4613387" cy="800709"/>
            <a:chOff x="2131868" y="2121146"/>
            <a:chExt cx="4613387" cy="800709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E34E28E5-0707-D0AC-A4E8-EFAD4B28CB9A}"/>
                </a:ext>
              </a:extLst>
            </p:cNvPr>
            <p:cNvSpPr/>
            <p:nvPr/>
          </p:nvSpPr>
          <p:spPr>
            <a:xfrm>
              <a:off x="3352869" y="2122655"/>
              <a:ext cx="8001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圆角矩形 105">
              <a:extLst>
                <a:ext uri="{FF2B5EF4-FFF2-40B4-BE49-F238E27FC236}">
                  <a16:creationId xmlns:a16="http://schemas.microsoft.com/office/drawing/2014/main" id="{048B15AE-C171-F880-F98B-1FA59E9500A7}"/>
                </a:ext>
              </a:extLst>
            </p:cNvPr>
            <p:cNvSpPr/>
            <p:nvPr/>
          </p:nvSpPr>
          <p:spPr>
            <a:xfrm>
              <a:off x="4516334" y="2121146"/>
              <a:ext cx="800100" cy="792721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8" name="圆角矩形 107">
              <a:extLst>
                <a:ext uri="{FF2B5EF4-FFF2-40B4-BE49-F238E27FC236}">
                  <a16:creationId xmlns:a16="http://schemas.microsoft.com/office/drawing/2014/main" id="{C9E1B817-5879-9D44-5CCD-255ADBEFB422}"/>
                </a:ext>
              </a:extLst>
            </p:cNvPr>
            <p:cNvSpPr/>
            <p:nvPr/>
          </p:nvSpPr>
          <p:spPr>
            <a:xfrm>
              <a:off x="2131868" y="2367127"/>
              <a:ext cx="799200" cy="399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i="1">
                  <a:latin typeface="Calibri" panose="020F0502020204030204" pitchFamily="34" charset="0"/>
                  <a:cs typeface="Calibri" panose="020F0502020204030204" pitchFamily="34" charset="0"/>
                </a:rPr>
                <a:t>GELU</a:t>
              </a:r>
              <a:endParaRPr kumimoji="1" lang="zh-CN" altLang="en-US" i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0F8BB96A-7EF8-2F80-BF9A-54352FB7B609}"/>
                </a:ext>
              </a:extLst>
            </p:cNvPr>
            <p:cNvSpPr/>
            <p:nvPr/>
          </p:nvSpPr>
          <p:spPr>
            <a:xfrm>
              <a:off x="5945155" y="2121146"/>
              <a:ext cx="800100" cy="792721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AE3E685B-AC3B-81FE-D059-C35036AE3C1F}"/>
                </a:ext>
              </a:extLst>
            </p:cNvPr>
            <p:cNvSpPr txBox="1"/>
            <p:nvPr/>
          </p:nvSpPr>
          <p:spPr>
            <a:xfrm flipH="1">
              <a:off x="3038326" y="2274540"/>
              <a:ext cx="63371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>
                  <a:latin typeface="Calibri" panose="020F0502020204030204" pitchFamily="34" charset="0"/>
                  <a:cs typeface="Calibri" panose="020F0502020204030204" pitchFamily="34" charset="0"/>
                </a:rPr>
                <a:t>(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B97C25A3-4E77-AD60-72C7-57E21D43C47D}"/>
                </a:ext>
              </a:extLst>
            </p:cNvPr>
            <p:cNvSpPr txBox="1"/>
            <p:nvPr/>
          </p:nvSpPr>
          <p:spPr>
            <a:xfrm flipH="1">
              <a:off x="5338028" y="2274540"/>
              <a:ext cx="61412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3200">
                  <a:latin typeface="Calibri" panose="020F0502020204030204" pitchFamily="34" charset="0"/>
                  <a:cs typeface="Calibri" panose="020F0502020204030204" pitchFamily="34" charset="0"/>
                </a:rPr>
                <a:t>)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AC1070EE-AAF8-3D95-5003-DAB558B33D14}"/>
                    </a:ext>
                  </a:extLst>
                </p:cNvPr>
                <p:cNvSpPr txBox="1"/>
                <p:nvPr/>
              </p:nvSpPr>
              <p:spPr>
                <a:xfrm>
                  <a:off x="5338028" y="238226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AC1070EE-AAF8-3D95-5003-DAB558B33D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38028" y="2382261"/>
                  <a:ext cx="75853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82B91D78-0C19-A176-8AA0-6BB77002017C}"/>
                    </a:ext>
                  </a:extLst>
                </p:cNvPr>
                <p:cNvSpPr txBox="1"/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82B91D78-0C19-A176-8AA0-6BB7700201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692847B0-2812-A105-968B-63BBF193DFF2}"/>
              </a:ext>
            </a:extLst>
          </p:cNvPr>
          <p:cNvGrpSpPr/>
          <p:nvPr/>
        </p:nvGrpSpPr>
        <p:grpSpPr>
          <a:xfrm>
            <a:off x="5906608" y="2782692"/>
            <a:ext cx="1739102" cy="732555"/>
            <a:chOff x="6058464" y="3041182"/>
            <a:chExt cx="1739102" cy="732555"/>
          </a:xfrm>
        </p:grpSpPr>
        <p:sp>
          <p:nvSpPr>
            <p:cNvPr id="117" name="下箭头 116">
              <a:extLst>
                <a:ext uri="{FF2B5EF4-FFF2-40B4-BE49-F238E27FC236}">
                  <a16:creationId xmlns:a16="http://schemas.microsoft.com/office/drawing/2014/main" id="{53C25DE0-758A-C60E-EB70-034822226879}"/>
                </a:ext>
              </a:extLst>
            </p:cNvPr>
            <p:cNvSpPr/>
            <p:nvPr/>
          </p:nvSpPr>
          <p:spPr>
            <a:xfrm>
              <a:off x="6058464" y="3041182"/>
              <a:ext cx="284755" cy="64709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601F532D-7968-EC43-147E-2A51917DAC38}"/>
                </a:ext>
              </a:extLst>
            </p:cNvPr>
            <p:cNvSpPr txBox="1"/>
            <p:nvPr/>
          </p:nvSpPr>
          <p:spPr>
            <a:xfrm>
              <a:off x="6246757" y="3127406"/>
              <a:ext cx="15508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Tensor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parallel</a:t>
              </a:r>
            </a:p>
            <a:p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5E7F1B44-CC86-7D24-9642-A1A475C41143}"/>
              </a:ext>
            </a:extLst>
          </p:cNvPr>
          <p:cNvGrpSpPr/>
          <p:nvPr/>
        </p:nvGrpSpPr>
        <p:grpSpPr>
          <a:xfrm>
            <a:off x="10459942" y="1134745"/>
            <a:ext cx="1670592" cy="799200"/>
            <a:chOff x="10084961" y="286310"/>
            <a:chExt cx="1670592" cy="799200"/>
          </a:xfrm>
        </p:grpSpPr>
        <p:grpSp>
          <p:nvGrpSpPr>
            <p:cNvPr id="394" name="组合 393">
              <a:extLst>
                <a:ext uri="{FF2B5EF4-FFF2-40B4-BE49-F238E27FC236}">
                  <a16:creationId xmlns:a16="http://schemas.microsoft.com/office/drawing/2014/main" id="{F6B486E1-4D7C-7431-6CF0-66C0EEE1BCDC}"/>
                </a:ext>
              </a:extLst>
            </p:cNvPr>
            <p:cNvGrpSpPr/>
            <p:nvPr/>
          </p:nvGrpSpPr>
          <p:grpSpPr>
            <a:xfrm>
              <a:off x="10084961" y="286310"/>
              <a:ext cx="800101" cy="799200"/>
              <a:chOff x="3521749" y="3354646"/>
              <a:chExt cx="800099" cy="243357"/>
            </a:xfrm>
          </p:grpSpPr>
          <p:sp>
            <p:nvSpPr>
              <p:cNvPr id="395" name="圆角矩形 394">
                <a:extLst>
                  <a:ext uri="{FF2B5EF4-FFF2-40B4-BE49-F238E27FC236}">
                    <a16:creationId xmlns:a16="http://schemas.microsoft.com/office/drawing/2014/main" id="{997C2952-B6EF-7837-2B2F-A87ECF811C73}"/>
                  </a:ext>
                </a:extLst>
              </p:cNvPr>
              <p:cNvSpPr/>
              <p:nvPr/>
            </p:nvSpPr>
            <p:spPr>
              <a:xfrm>
                <a:off x="3524298" y="3354646"/>
                <a:ext cx="418464" cy="241384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6" name="圆角矩形 395">
                <a:extLst>
                  <a:ext uri="{FF2B5EF4-FFF2-40B4-BE49-F238E27FC236}">
                    <a16:creationId xmlns:a16="http://schemas.microsoft.com/office/drawing/2014/main" id="{71C15315-158E-B9DC-47B5-5BC6C9720DEC}"/>
                  </a:ext>
                </a:extLst>
              </p:cNvPr>
              <p:cNvSpPr/>
              <p:nvPr/>
            </p:nvSpPr>
            <p:spPr>
              <a:xfrm>
                <a:off x="3521749" y="3356619"/>
                <a:ext cx="800099" cy="241384"/>
              </a:xfrm>
              <a:prstGeom prst="roundRect">
                <a:avLst/>
              </a:prstGeom>
              <a:noFill/>
              <a:ln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4C7F7901-8F61-DE9E-18D4-71DF7A3E9518}"/>
                </a:ext>
              </a:extLst>
            </p:cNvPr>
            <p:cNvSpPr txBox="1"/>
            <p:nvPr/>
          </p:nvSpPr>
          <p:spPr>
            <a:xfrm>
              <a:off x="10905640" y="510677"/>
              <a:ext cx="849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weight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88976211-2D75-8835-A0CA-9BAF4DE249FE}"/>
              </a:ext>
            </a:extLst>
          </p:cNvPr>
          <p:cNvGrpSpPr/>
          <p:nvPr/>
        </p:nvGrpSpPr>
        <p:grpSpPr>
          <a:xfrm>
            <a:off x="10459938" y="2114804"/>
            <a:ext cx="1645689" cy="799200"/>
            <a:chOff x="10084957" y="1446669"/>
            <a:chExt cx="1645689" cy="7992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EB88E5D-E586-2914-6E8E-404A8DA0E124}"/>
                </a:ext>
              </a:extLst>
            </p:cNvPr>
            <p:cNvGrpSpPr/>
            <p:nvPr/>
          </p:nvGrpSpPr>
          <p:grpSpPr>
            <a:xfrm>
              <a:off x="10084957" y="1446669"/>
              <a:ext cx="800100" cy="799200"/>
              <a:chOff x="7929004" y="4960263"/>
              <a:chExt cx="800100" cy="79920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F79DEBCA-ED05-0471-0792-18E723F9BA41}"/>
                  </a:ext>
                </a:extLst>
              </p:cNvPr>
              <p:cNvSpPr/>
              <p:nvPr/>
            </p:nvSpPr>
            <p:spPr>
              <a:xfrm>
                <a:off x="7929004" y="4960263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14C9236-A328-81C9-4B1F-379453C4CE9D}"/>
                  </a:ext>
                </a:extLst>
              </p:cNvPr>
              <p:cNvSpPr/>
              <p:nvPr/>
            </p:nvSpPr>
            <p:spPr>
              <a:xfrm>
                <a:off x="7929004" y="4960263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BFCF7169-B27E-38CB-3FEF-9A9E2F53D18E}"/>
                </a:ext>
              </a:extLst>
            </p:cNvPr>
            <p:cNvSpPr txBox="1"/>
            <p:nvPr/>
          </p:nvSpPr>
          <p:spPr>
            <a:xfrm>
              <a:off x="10930546" y="1684938"/>
              <a:ext cx="800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63" name="直线箭头连接符 62">
            <a:extLst>
              <a:ext uri="{FF2B5EF4-FFF2-40B4-BE49-F238E27FC236}">
                <a16:creationId xmlns:a16="http://schemas.microsoft.com/office/drawing/2014/main" id="{A01A2F1E-12D2-F714-D161-F044743EBDC2}"/>
              </a:ext>
            </a:extLst>
          </p:cNvPr>
          <p:cNvCxnSpPr>
            <a:cxnSpLocks/>
            <a:stCxn id="47" idx="3"/>
            <a:endCxn id="50" idx="1"/>
          </p:cNvCxnSpPr>
          <p:nvPr/>
        </p:nvCxnSpPr>
        <p:spPr>
          <a:xfrm>
            <a:off x="9064069" y="4010449"/>
            <a:ext cx="125517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CC906D97-D175-FAE6-E311-ABCDC25162CB}"/>
              </a:ext>
            </a:extLst>
          </p:cNvPr>
          <p:cNvCxnSpPr>
            <a:cxnSpLocks/>
            <a:stCxn id="11" idx="3"/>
            <a:endCxn id="32" idx="0"/>
          </p:cNvCxnSpPr>
          <p:nvPr/>
        </p:nvCxnSpPr>
        <p:spPr>
          <a:xfrm flipV="1">
            <a:off x="2614148" y="4009175"/>
            <a:ext cx="1015564" cy="1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4A5B61D-9C70-5915-6604-25EB13EB50E6}"/>
              </a:ext>
            </a:extLst>
          </p:cNvPr>
          <p:cNvSpPr txBox="1"/>
          <p:nvPr/>
        </p:nvSpPr>
        <p:spPr>
          <a:xfrm>
            <a:off x="10226880" y="4496792"/>
            <a:ext cx="135476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Reduce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8FDF410-479A-2611-11F3-F1EAF4D73E25}"/>
              </a:ext>
            </a:extLst>
          </p:cNvPr>
          <p:cNvSpPr/>
          <p:nvPr/>
        </p:nvSpPr>
        <p:spPr>
          <a:xfrm>
            <a:off x="1814048" y="3610849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6E378DAF-B07B-2CCD-82CF-11B2475F91B6}"/>
              </a:ext>
            </a:extLst>
          </p:cNvPr>
          <p:cNvSpPr/>
          <p:nvPr/>
        </p:nvSpPr>
        <p:spPr>
          <a:xfrm rot="16200000">
            <a:off x="6076341" y="-988659"/>
            <a:ext cx="1012392" cy="9998217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86D9CA5D-76FB-E75B-CFB1-2814C9AC0C1E}"/>
              </a:ext>
            </a:extLst>
          </p:cNvPr>
          <p:cNvSpPr/>
          <p:nvPr/>
        </p:nvSpPr>
        <p:spPr>
          <a:xfrm rot="16200000">
            <a:off x="6078837" y="331275"/>
            <a:ext cx="1012392" cy="9993226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1F8A8AB-1006-97E5-6DAB-DDC004A0FDF4}"/>
              </a:ext>
            </a:extLst>
          </p:cNvPr>
          <p:cNvSpPr/>
          <p:nvPr/>
        </p:nvSpPr>
        <p:spPr>
          <a:xfrm>
            <a:off x="1814048" y="4928287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06442CE8-AF23-6589-9F70-F891CBE16EF2}"/>
              </a:ext>
            </a:extLst>
          </p:cNvPr>
          <p:cNvGrpSpPr/>
          <p:nvPr/>
        </p:nvGrpSpPr>
        <p:grpSpPr>
          <a:xfrm rot="16200000">
            <a:off x="3626022" y="3614089"/>
            <a:ext cx="800100" cy="792721"/>
            <a:chOff x="3521749" y="3356619"/>
            <a:chExt cx="800099" cy="241384"/>
          </a:xfrm>
        </p:grpSpPr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7846C1C5-B288-4564-94A7-B2E429FE9616}"/>
                </a:ext>
              </a:extLst>
            </p:cNvPr>
            <p:cNvSpPr/>
            <p:nvPr/>
          </p:nvSpPr>
          <p:spPr>
            <a:xfrm>
              <a:off x="3524298" y="3356619"/>
              <a:ext cx="797550" cy="12383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2CD9FC4C-7650-408A-B518-748939D91120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3203F917-BDC5-391C-B304-A3CDB0D37ABC}"/>
              </a:ext>
            </a:extLst>
          </p:cNvPr>
          <p:cNvGrpSpPr/>
          <p:nvPr/>
        </p:nvGrpSpPr>
        <p:grpSpPr>
          <a:xfrm>
            <a:off x="5706808" y="3610849"/>
            <a:ext cx="800100" cy="799200"/>
            <a:chOff x="7929004" y="4960263"/>
            <a:chExt cx="800100" cy="799200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165B1F82-2CA3-C0D2-6331-E5A59439A8D6}"/>
                </a:ext>
              </a:extLst>
            </p:cNvPr>
            <p:cNvSpPr/>
            <p:nvPr/>
          </p:nvSpPr>
          <p:spPr>
            <a:xfrm>
              <a:off x="7929004" y="4960263"/>
              <a:ext cx="3996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2B1682A-2E08-35AD-8FC9-CD2B5D7C221F}"/>
                </a:ext>
              </a:extLst>
            </p:cNvPr>
            <p:cNvSpPr/>
            <p:nvPr/>
          </p:nvSpPr>
          <p:spPr>
            <a:xfrm>
              <a:off x="7929004" y="4960263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A4B07B83-89CD-5BB0-8604-D3F93AC27AA7}"/>
              </a:ext>
            </a:extLst>
          </p:cNvPr>
          <p:cNvGrpSpPr/>
          <p:nvPr/>
        </p:nvGrpSpPr>
        <p:grpSpPr>
          <a:xfrm>
            <a:off x="6950021" y="3614089"/>
            <a:ext cx="800100" cy="792721"/>
            <a:chOff x="3521749" y="3356619"/>
            <a:chExt cx="800099" cy="241384"/>
          </a:xfrm>
        </p:grpSpPr>
        <p:sp>
          <p:nvSpPr>
            <p:cNvPr id="45" name="圆角矩形 44">
              <a:extLst>
                <a:ext uri="{FF2B5EF4-FFF2-40B4-BE49-F238E27FC236}">
                  <a16:creationId xmlns:a16="http://schemas.microsoft.com/office/drawing/2014/main" id="{EDFA7CBC-291A-E40F-554C-E0EE1C630321}"/>
                </a:ext>
              </a:extLst>
            </p:cNvPr>
            <p:cNvSpPr/>
            <p:nvPr/>
          </p:nvSpPr>
          <p:spPr>
            <a:xfrm>
              <a:off x="3524298" y="3356619"/>
              <a:ext cx="797550" cy="12383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圆角矩形 45">
              <a:extLst>
                <a:ext uri="{FF2B5EF4-FFF2-40B4-BE49-F238E27FC236}">
                  <a16:creationId xmlns:a16="http://schemas.microsoft.com/office/drawing/2014/main" id="{6117DAC6-7487-3008-D549-EE526B2D7469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030A8FB5-A864-410F-F92D-EF00C6C87768}"/>
              </a:ext>
            </a:extLst>
          </p:cNvPr>
          <p:cNvSpPr/>
          <p:nvPr/>
        </p:nvSpPr>
        <p:spPr>
          <a:xfrm>
            <a:off x="8263969" y="3610849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9B6100B-E7DA-343E-3D75-9E78A8675B44}"/>
              </a:ext>
            </a:extLst>
          </p:cNvPr>
          <p:cNvSpPr/>
          <p:nvPr/>
        </p:nvSpPr>
        <p:spPr>
          <a:xfrm>
            <a:off x="10319244" y="3610849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66" name="左右箭头 565">
            <a:extLst>
              <a:ext uri="{FF2B5EF4-FFF2-40B4-BE49-F238E27FC236}">
                <a16:creationId xmlns:a16="http://schemas.microsoft.com/office/drawing/2014/main" id="{B0C443EB-9A17-6131-4416-ED60DFE6A354}"/>
              </a:ext>
            </a:extLst>
          </p:cNvPr>
          <p:cNvSpPr/>
          <p:nvPr/>
        </p:nvSpPr>
        <p:spPr>
          <a:xfrm rot="5400000">
            <a:off x="9695492" y="4574209"/>
            <a:ext cx="935325" cy="212328"/>
          </a:xfrm>
          <a:prstGeom prst="left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009D4D79-4C04-639C-2658-030D9205B8F7}"/>
              </a:ext>
            </a:extLst>
          </p:cNvPr>
          <p:cNvCxnSpPr>
            <a:cxnSpLocks/>
            <a:stCxn id="46" idx="3"/>
            <a:endCxn id="47" idx="1"/>
          </p:cNvCxnSpPr>
          <p:nvPr/>
        </p:nvCxnSpPr>
        <p:spPr>
          <a:xfrm flipV="1">
            <a:off x="7750121" y="4010449"/>
            <a:ext cx="513848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553E966-69E9-9C82-59FC-3F1F708D00E6}"/>
              </a:ext>
            </a:extLst>
          </p:cNvPr>
          <p:cNvGrpSpPr/>
          <p:nvPr/>
        </p:nvGrpSpPr>
        <p:grpSpPr>
          <a:xfrm rot="16200000">
            <a:off x="3626022" y="4931527"/>
            <a:ext cx="800100" cy="792721"/>
            <a:chOff x="3521749" y="3356619"/>
            <a:chExt cx="800099" cy="241384"/>
          </a:xfrm>
        </p:grpSpPr>
        <p:sp>
          <p:nvSpPr>
            <p:cNvPr id="83" name="圆角矩形 82">
              <a:extLst>
                <a:ext uri="{FF2B5EF4-FFF2-40B4-BE49-F238E27FC236}">
                  <a16:creationId xmlns:a16="http://schemas.microsoft.com/office/drawing/2014/main" id="{B1D20DB3-21CA-A8AD-F40E-27A84883E742}"/>
                </a:ext>
              </a:extLst>
            </p:cNvPr>
            <p:cNvSpPr/>
            <p:nvPr/>
          </p:nvSpPr>
          <p:spPr>
            <a:xfrm>
              <a:off x="3524298" y="3480457"/>
              <a:ext cx="797550" cy="11557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圆角矩形 83">
              <a:extLst>
                <a:ext uri="{FF2B5EF4-FFF2-40B4-BE49-F238E27FC236}">
                  <a16:creationId xmlns:a16="http://schemas.microsoft.com/office/drawing/2014/main" id="{83235AAC-535B-7231-D818-18CD7D7A4378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FBAAF0E0-5B05-7EF5-7CD3-99277EF7EE10}"/>
              </a:ext>
            </a:extLst>
          </p:cNvPr>
          <p:cNvGrpSpPr/>
          <p:nvPr/>
        </p:nvGrpSpPr>
        <p:grpSpPr>
          <a:xfrm>
            <a:off x="5673139" y="4928287"/>
            <a:ext cx="800100" cy="799200"/>
            <a:chOff x="7929004" y="4960263"/>
            <a:chExt cx="800100" cy="799200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BDB54D61-31E8-43DA-F31A-BD4536B0A7A3}"/>
                </a:ext>
              </a:extLst>
            </p:cNvPr>
            <p:cNvSpPr/>
            <p:nvPr/>
          </p:nvSpPr>
          <p:spPr>
            <a:xfrm>
              <a:off x="8338286" y="4960263"/>
              <a:ext cx="390816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5C6AF208-220D-4542-6D64-53C57F280E28}"/>
                </a:ext>
              </a:extLst>
            </p:cNvPr>
            <p:cNvSpPr/>
            <p:nvPr/>
          </p:nvSpPr>
          <p:spPr>
            <a:xfrm>
              <a:off x="7929004" y="4960263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AF109E44-1384-B287-0CAC-477028961000}"/>
              </a:ext>
            </a:extLst>
          </p:cNvPr>
          <p:cNvGrpSpPr/>
          <p:nvPr/>
        </p:nvGrpSpPr>
        <p:grpSpPr>
          <a:xfrm>
            <a:off x="6953253" y="4931527"/>
            <a:ext cx="800100" cy="792721"/>
            <a:chOff x="3521749" y="3356619"/>
            <a:chExt cx="800099" cy="241384"/>
          </a:xfrm>
        </p:grpSpPr>
        <p:sp>
          <p:nvSpPr>
            <p:cNvPr id="89" name="圆角矩形 88">
              <a:extLst>
                <a:ext uri="{FF2B5EF4-FFF2-40B4-BE49-F238E27FC236}">
                  <a16:creationId xmlns:a16="http://schemas.microsoft.com/office/drawing/2014/main" id="{50127E29-4DF9-DBB5-B880-E9FE9101ACC4}"/>
                </a:ext>
              </a:extLst>
            </p:cNvPr>
            <p:cNvSpPr/>
            <p:nvPr/>
          </p:nvSpPr>
          <p:spPr>
            <a:xfrm>
              <a:off x="3524298" y="3480457"/>
              <a:ext cx="797550" cy="11557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0" name="圆角矩形 89">
              <a:extLst>
                <a:ext uri="{FF2B5EF4-FFF2-40B4-BE49-F238E27FC236}">
                  <a16:creationId xmlns:a16="http://schemas.microsoft.com/office/drawing/2014/main" id="{1E589C49-83A8-6125-CB2C-973615A7F2F7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91" name="矩形 90">
            <a:extLst>
              <a:ext uri="{FF2B5EF4-FFF2-40B4-BE49-F238E27FC236}">
                <a16:creationId xmlns:a16="http://schemas.microsoft.com/office/drawing/2014/main" id="{E8DC7BD1-E663-A69D-DF5F-548216948DB3}"/>
              </a:ext>
            </a:extLst>
          </p:cNvPr>
          <p:cNvSpPr/>
          <p:nvPr/>
        </p:nvSpPr>
        <p:spPr>
          <a:xfrm>
            <a:off x="8265624" y="4928287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4B881E7-1977-AF9D-ABFC-BFE9965EF9C6}"/>
              </a:ext>
            </a:extLst>
          </p:cNvPr>
          <p:cNvSpPr/>
          <p:nvPr/>
        </p:nvSpPr>
        <p:spPr>
          <a:xfrm>
            <a:off x="10319244" y="4928287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93" name="直线箭头连接符 92">
            <a:extLst>
              <a:ext uri="{FF2B5EF4-FFF2-40B4-BE49-F238E27FC236}">
                <a16:creationId xmlns:a16="http://schemas.microsoft.com/office/drawing/2014/main" id="{65595643-EE02-4EED-3033-EE47C85B59FB}"/>
              </a:ext>
            </a:extLst>
          </p:cNvPr>
          <p:cNvCxnSpPr>
            <a:cxnSpLocks/>
            <a:stCxn id="91" idx="3"/>
            <a:endCxn id="92" idx="1"/>
          </p:cNvCxnSpPr>
          <p:nvPr/>
        </p:nvCxnSpPr>
        <p:spPr>
          <a:xfrm>
            <a:off x="9065724" y="5327887"/>
            <a:ext cx="125352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46DAC078-CC71-AC1B-93C0-B76C196DE333}"/>
              </a:ext>
            </a:extLst>
          </p:cNvPr>
          <p:cNvCxnSpPr>
            <a:cxnSpLocks/>
            <a:stCxn id="14" idx="3"/>
            <a:endCxn id="84" idx="0"/>
          </p:cNvCxnSpPr>
          <p:nvPr/>
        </p:nvCxnSpPr>
        <p:spPr>
          <a:xfrm>
            <a:off x="2614148" y="5327887"/>
            <a:ext cx="101556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线箭头连接符 96">
            <a:extLst>
              <a:ext uri="{FF2B5EF4-FFF2-40B4-BE49-F238E27FC236}">
                <a16:creationId xmlns:a16="http://schemas.microsoft.com/office/drawing/2014/main" id="{9C2D7D2A-0979-63D1-DCB1-34347AFBDDA4}"/>
              </a:ext>
            </a:extLst>
          </p:cNvPr>
          <p:cNvCxnSpPr>
            <a:cxnSpLocks/>
            <a:stCxn id="90" idx="3"/>
            <a:endCxn id="91" idx="1"/>
          </p:cNvCxnSpPr>
          <p:nvPr/>
        </p:nvCxnSpPr>
        <p:spPr>
          <a:xfrm flipV="1">
            <a:off x="7753353" y="5327887"/>
            <a:ext cx="512271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E7A82047-EB57-B4CD-994A-E23B2966CFD7}"/>
              </a:ext>
            </a:extLst>
          </p:cNvPr>
          <p:cNvSpPr/>
          <p:nvPr/>
        </p:nvSpPr>
        <p:spPr>
          <a:xfrm>
            <a:off x="3006249" y="3413265"/>
            <a:ext cx="212328" cy="25259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EF77877A-9670-867E-63C0-E9E86DEFCDDB}"/>
              </a:ext>
            </a:extLst>
          </p:cNvPr>
          <p:cNvSpPr/>
          <p:nvPr/>
        </p:nvSpPr>
        <p:spPr>
          <a:xfrm>
            <a:off x="9823443" y="3413265"/>
            <a:ext cx="212328" cy="25259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333E5A8-2318-8F64-746B-EA26CF4C9DD0}"/>
              </a:ext>
            </a:extLst>
          </p:cNvPr>
          <p:cNvSpPr txBox="1"/>
          <p:nvPr/>
        </p:nvSpPr>
        <p:spPr>
          <a:xfrm>
            <a:off x="1746470" y="594624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(B*S,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66AB87D-0C54-EE86-EF6E-EC8FAF1F390A}"/>
              </a:ext>
            </a:extLst>
          </p:cNvPr>
          <p:cNvSpPr txBox="1"/>
          <p:nvPr/>
        </p:nvSpPr>
        <p:spPr>
          <a:xfrm>
            <a:off x="3518982" y="5946241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(H, 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5764F3F-A89B-69D6-ABF6-CCC2E82CD4C8}"/>
              </a:ext>
            </a:extLst>
          </p:cNvPr>
          <p:cNvSpPr txBox="1"/>
          <p:nvPr/>
        </p:nvSpPr>
        <p:spPr>
          <a:xfrm>
            <a:off x="5387745" y="5946241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 S, 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D40961A-01D0-A81C-90D5-E69ABED35363}"/>
              </a:ext>
            </a:extLst>
          </p:cNvPr>
          <p:cNvSpPr txBox="1"/>
          <p:nvPr/>
        </p:nvSpPr>
        <p:spPr>
          <a:xfrm>
            <a:off x="6852667" y="5946241"/>
            <a:ext cx="1044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1862B72-E656-B017-6B35-073D1BDD7E2B}"/>
              </a:ext>
            </a:extLst>
          </p:cNvPr>
          <p:cNvSpPr txBox="1"/>
          <p:nvPr/>
        </p:nvSpPr>
        <p:spPr>
          <a:xfrm>
            <a:off x="8196391" y="5964009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S,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C39C9D7-F5F2-EC71-CB5E-D1E8C5AC20BD}"/>
              </a:ext>
            </a:extLst>
          </p:cNvPr>
          <p:cNvSpPr txBox="1"/>
          <p:nvPr/>
        </p:nvSpPr>
        <p:spPr>
          <a:xfrm>
            <a:off x="10267517" y="5946241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S,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B3E6614-413F-6F4C-7553-9F2431F0B0BE}"/>
              </a:ext>
            </a:extLst>
          </p:cNvPr>
          <p:cNvSpPr/>
          <p:nvPr/>
        </p:nvSpPr>
        <p:spPr>
          <a:xfrm rot="5400000">
            <a:off x="4596606" y="3810649"/>
            <a:ext cx="799200" cy="399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GELU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73636295-1BFD-21A6-A8C5-3CC9745AFBC9}"/>
              </a:ext>
            </a:extLst>
          </p:cNvPr>
          <p:cNvSpPr/>
          <p:nvPr/>
        </p:nvSpPr>
        <p:spPr>
          <a:xfrm rot="5400000">
            <a:off x="4597817" y="5128087"/>
            <a:ext cx="799200" cy="399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GELU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988D5338-C9DF-5AF6-75E3-CA6313CBEBB4}"/>
              </a:ext>
            </a:extLst>
          </p:cNvPr>
          <p:cNvSpPr txBox="1"/>
          <p:nvPr/>
        </p:nvSpPr>
        <p:spPr>
          <a:xfrm>
            <a:off x="641228" y="3841222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CA845DE7-48EA-F3FC-31E6-FE4A259D0228}"/>
              </a:ext>
            </a:extLst>
          </p:cNvPr>
          <p:cNvSpPr txBox="1"/>
          <p:nvPr/>
        </p:nvSpPr>
        <p:spPr>
          <a:xfrm>
            <a:off x="610353" y="5158659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A05FA905-F0D9-6F67-5A59-B154B68B9498}"/>
              </a:ext>
            </a:extLst>
          </p:cNvPr>
          <p:cNvCxnSpPr>
            <a:cxnSpLocks/>
            <a:stCxn id="33" idx="2"/>
            <a:endCxn id="55" idx="2"/>
          </p:cNvCxnSpPr>
          <p:nvPr/>
        </p:nvCxnSpPr>
        <p:spPr>
          <a:xfrm flipV="1">
            <a:off x="4422433" y="4010449"/>
            <a:ext cx="373973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直线箭头连接符 512">
            <a:extLst>
              <a:ext uri="{FF2B5EF4-FFF2-40B4-BE49-F238E27FC236}">
                <a16:creationId xmlns:a16="http://schemas.microsoft.com/office/drawing/2014/main" id="{D2F646C1-25FD-4244-FA57-969934963292}"/>
              </a:ext>
            </a:extLst>
          </p:cNvPr>
          <p:cNvCxnSpPr>
            <a:cxnSpLocks/>
            <a:stCxn id="55" idx="0"/>
            <a:endCxn id="43" idx="1"/>
          </p:cNvCxnSpPr>
          <p:nvPr/>
        </p:nvCxnSpPr>
        <p:spPr>
          <a:xfrm>
            <a:off x="5196006" y="4010449"/>
            <a:ext cx="51080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直线箭头连接符 517">
            <a:extLst>
              <a:ext uri="{FF2B5EF4-FFF2-40B4-BE49-F238E27FC236}">
                <a16:creationId xmlns:a16="http://schemas.microsoft.com/office/drawing/2014/main" id="{D698D1FD-D45B-28AD-83BA-1FE89282EBA4}"/>
              </a:ext>
            </a:extLst>
          </p:cNvPr>
          <p:cNvCxnSpPr>
            <a:cxnSpLocks/>
            <a:stCxn id="43" idx="3"/>
          </p:cNvCxnSpPr>
          <p:nvPr/>
        </p:nvCxnSpPr>
        <p:spPr>
          <a:xfrm>
            <a:off x="6506908" y="4010449"/>
            <a:ext cx="463542" cy="900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直线箭头连接符 520">
            <a:extLst>
              <a:ext uri="{FF2B5EF4-FFF2-40B4-BE49-F238E27FC236}">
                <a16:creationId xmlns:a16="http://schemas.microsoft.com/office/drawing/2014/main" id="{789D47C3-9838-F043-8751-C188D1E3B482}"/>
              </a:ext>
            </a:extLst>
          </p:cNvPr>
          <p:cNvCxnSpPr>
            <a:cxnSpLocks/>
            <a:stCxn id="84" idx="2"/>
            <a:endCxn id="72" idx="2"/>
          </p:cNvCxnSpPr>
          <p:nvPr/>
        </p:nvCxnSpPr>
        <p:spPr>
          <a:xfrm flipV="1">
            <a:off x="4422433" y="5327887"/>
            <a:ext cx="37518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4" name="直线箭头连接符 523">
            <a:extLst>
              <a:ext uri="{FF2B5EF4-FFF2-40B4-BE49-F238E27FC236}">
                <a16:creationId xmlns:a16="http://schemas.microsoft.com/office/drawing/2014/main" id="{89A9B47F-884B-F441-0270-D1127B9466E2}"/>
              </a:ext>
            </a:extLst>
          </p:cNvPr>
          <p:cNvCxnSpPr>
            <a:cxnSpLocks/>
            <a:stCxn id="72" idx="0"/>
            <a:endCxn id="87" idx="1"/>
          </p:cNvCxnSpPr>
          <p:nvPr/>
        </p:nvCxnSpPr>
        <p:spPr>
          <a:xfrm>
            <a:off x="5197217" y="5327887"/>
            <a:ext cx="475922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7" name="直线箭头连接符 526">
            <a:extLst>
              <a:ext uri="{FF2B5EF4-FFF2-40B4-BE49-F238E27FC236}">
                <a16:creationId xmlns:a16="http://schemas.microsoft.com/office/drawing/2014/main" id="{5824DF58-39B1-B04F-BB45-63725565F887}"/>
              </a:ext>
            </a:extLst>
          </p:cNvPr>
          <p:cNvCxnSpPr>
            <a:cxnSpLocks/>
            <a:stCxn id="87" idx="3"/>
            <a:endCxn id="90" idx="1"/>
          </p:cNvCxnSpPr>
          <p:nvPr/>
        </p:nvCxnSpPr>
        <p:spPr>
          <a:xfrm>
            <a:off x="6473239" y="5327887"/>
            <a:ext cx="48001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9045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AC11D32-3A99-2193-6DA4-846D13A9F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8E37854-6C2C-56F2-D313-B9500D0C8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410" y="1214120"/>
            <a:ext cx="11705590" cy="1061720"/>
          </a:xfrm>
        </p:spPr>
        <p:txBody>
          <a:bodyPr>
            <a:normAutofit fontScale="97500"/>
          </a:bodyPr>
          <a:lstStyle/>
          <a:p>
            <a:r>
              <a:rPr kumimoji="1" lang="en-US" altLang="zh-CN"/>
              <a:t>Tensor</a:t>
            </a:r>
            <a:r>
              <a:rPr kumimoji="1" lang="zh-CN" altLang="en-US"/>
              <a:t> </a:t>
            </a:r>
            <a:r>
              <a:rPr kumimoji="1" lang="en-US" altLang="zh-CN"/>
              <a:t>parallelism: </a:t>
            </a:r>
            <a:r>
              <a:rPr kumimoji="1" lang="en" altLang="zh-CN"/>
              <a:t>partitions</a:t>
            </a:r>
            <a:r>
              <a:rPr kumimoji="1" lang="zh-CN" altLang="en-US"/>
              <a:t> </a:t>
            </a:r>
            <a:r>
              <a:rPr kumimoji="1" lang="en-US" altLang="zh-CN"/>
              <a:t>weight</a:t>
            </a:r>
            <a:r>
              <a:rPr kumimoji="1" lang="zh-CN" altLang="en-US"/>
              <a:t> </a:t>
            </a:r>
            <a:r>
              <a:rPr kumimoji="1" lang="en-US" altLang="zh-CN"/>
              <a:t>along</a:t>
            </a:r>
            <a:r>
              <a:rPr kumimoji="1" lang="zh-CN" altLang="en-US"/>
              <a:t>  </a:t>
            </a:r>
            <a:r>
              <a:rPr kumimoji="1" lang="en-US" altLang="zh-CN"/>
              <a:t>hidden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</a:p>
          <a:p>
            <a:pPr lvl="1"/>
            <a:r>
              <a:rPr kumimoji="1" lang="en-US" altLang="zh-CN"/>
              <a:t>TP</a:t>
            </a:r>
            <a:r>
              <a:rPr kumimoji="1" lang="zh-CN" altLang="en-US"/>
              <a:t> </a:t>
            </a:r>
            <a:r>
              <a:rPr kumimoji="1" lang="en-US" altLang="zh-CN"/>
              <a:t>in</a:t>
            </a:r>
            <a:r>
              <a:rPr kumimoji="1" lang="zh-CN" altLang="en-US"/>
              <a:t> </a:t>
            </a:r>
            <a:r>
              <a:rPr kumimoji="1" lang="en-US" altLang="zh-CN"/>
              <a:t>Attention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BC37756-87E3-EE78-C184-9FC3331FF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grpSp>
        <p:nvGrpSpPr>
          <p:cNvPr id="116" name="组合 115">
            <a:extLst>
              <a:ext uri="{FF2B5EF4-FFF2-40B4-BE49-F238E27FC236}">
                <a16:creationId xmlns:a16="http://schemas.microsoft.com/office/drawing/2014/main" id="{67C4BFA1-8485-EE28-D49F-4D7960F799FF}"/>
              </a:ext>
            </a:extLst>
          </p:cNvPr>
          <p:cNvGrpSpPr/>
          <p:nvPr/>
        </p:nvGrpSpPr>
        <p:grpSpPr>
          <a:xfrm>
            <a:off x="4685336" y="1778637"/>
            <a:ext cx="3392386" cy="800709"/>
            <a:chOff x="3352869" y="2121146"/>
            <a:chExt cx="3392386" cy="800709"/>
          </a:xfrm>
        </p:grpSpPr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A21113A-4D82-3BD0-F99C-EA17DA2CDA58}"/>
                </a:ext>
              </a:extLst>
            </p:cNvPr>
            <p:cNvSpPr/>
            <p:nvPr/>
          </p:nvSpPr>
          <p:spPr>
            <a:xfrm>
              <a:off x="3352869" y="2122655"/>
              <a:ext cx="8001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6" name="圆角矩形 105">
              <a:extLst>
                <a:ext uri="{FF2B5EF4-FFF2-40B4-BE49-F238E27FC236}">
                  <a16:creationId xmlns:a16="http://schemas.microsoft.com/office/drawing/2014/main" id="{C2DD28F6-17FD-5340-2EDC-9091C1D62D3C}"/>
                </a:ext>
              </a:extLst>
            </p:cNvPr>
            <p:cNvSpPr/>
            <p:nvPr/>
          </p:nvSpPr>
          <p:spPr>
            <a:xfrm>
              <a:off x="4516333" y="2121146"/>
              <a:ext cx="928299" cy="792721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en-US" altLang="zh-CN" baseline="-250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, k, v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9" name="圆角矩形 108">
              <a:extLst>
                <a:ext uri="{FF2B5EF4-FFF2-40B4-BE49-F238E27FC236}">
                  <a16:creationId xmlns:a16="http://schemas.microsoft.com/office/drawing/2014/main" id="{D583AEF6-F44E-90A3-D66B-3344B221CDE6}"/>
                </a:ext>
              </a:extLst>
            </p:cNvPr>
            <p:cNvSpPr/>
            <p:nvPr/>
          </p:nvSpPr>
          <p:spPr>
            <a:xfrm>
              <a:off x="5945155" y="2121146"/>
              <a:ext cx="800100" cy="792721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Q,K,V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99C6D511-E9D4-88E2-BE5B-638FF398E01E}"/>
                    </a:ext>
                  </a:extLst>
                </p:cNvPr>
                <p:cNvSpPr txBox="1"/>
                <p:nvPr/>
              </p:nvSpPr>
              <p:spPr>
                <a:xfrm>
                  <a:off x="5233397" y="238226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4" name="文本框 113">
                  <a:extLst>
                    <a:ext uri="{FF2B5EF4-FFF2-40B4-BE49-F238E27FC236}">
                      <a16:creationId xmlns:a16="http://schemas.microsoft.com/office/drawing/2014/main" id="{99C6D511-E9D4-88E2-BE5B-638FF398E0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3397" y="2382261"/>
                  <a:ext cx="758535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60B707B-FD06-0ED5-779C-43F9693C8E71}"/>
                    </a:ext>
                  </a:extLst>
                </p:cNvPr>
                <p:cNvSpPr txBox="1"/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文本框 114">
                  <a:extLst>
                    <a:ext uri="{FF2B5EF4-FFF2-40B4-BE49-F238E27FC236}">
                      <a16:creationId xmlns:a16="http://schemas.microsoft.com/office/drawing/2014/main" id="{B60B707B-FD06-0ED5-779C-43F9693C8E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CA5E21D5-A220-3016-FF1C-1D9C0F41F7B9}"/>
              </a:ext>
            </a:extLst>
          </p:cNvPr>
          <p:cNvGrpSpPr/>
          <p:nvPr/>
        </p:nvGrpSpPr>
        <p:grpSpPr>
          <a:xfrm>
            <a:off x="6121922" y="2757082"/>
            <a:ext cx="1739102" cy="732555"/>
            <a:chOff x="6058464" y="3041182"/>
            <a:chExt cx="1739102" cy="732555"/>
          </a:xfrm>
        </p:grpSpPr>
        <p:sp>
          <p:nvSpPr>
            <p:cNvPr id="117" name="下箭头 116">
              <a:extLst>
                <a:ext uri="{FF2B5EF4-FFF2-40B4-BE49-F238E27FC236}">
                  <a16:creationId xmlns:a16="http://schemas.microsoft.com/office/drawing/2014/main" id="{398A3F4D-B177-93F1-3734-44B48BAC0F0F}"/>
                </a:ext>
              </a:extLst>
            </p:cNvPr>
            <p:cNvSpPr/>
            <p:nvPr/>
          </p:nvSpPr>
          <p:spPr>
            <a:xfrm>
              <a:off x="6058464" y="3041182"/>
              <a:ext cx="284755" cy="64709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9" name="文本框 118">
              <a:extLst>
                <a:ext uri="{FF2B5EF4-FFF2-40B4-BE49-F238E27FC236}">
                  <a16:creationId xmlns:a16="http://schemas.microsoft.com/office/drawing/2014/main" id="{B0607710-D39B-E664-9267-9445A81AD188}"/>
                </a:ext>
              </a:extLst>
            </p:cNvPr>
            <p:cNvSpPr txBox="1"/>
            <p:nvPr/>
          </p:nvSpPr>
          <p:spPr>
            <a:xfrm>
              <a:off x="6246757" y="3127406"/>
              <a:ext cx="15508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Tensor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parallel</a:t>
              </a:r>
            </a:p>
            <a:p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B8C438FC-DB82-C243-D4BD-29A885D848AA}"/>
              </a:ext>
            </a:extLst>
          </p:cNvPr>
          <p:cNvGrpSpPr/>
          <p:nvPr/>
        </p:nvGrpSpPr>
        <p:grpSpPr>
          <a:xfrm>
            <a:off x="10442535" y="175697"/>
            <a:ext cx="1670596" cy="799200"/>
            <a:chOff x="10084957" y="286310"/>
            <a:chExt cx="1670596" cy="799200"/>
          </a:xfrm>
        </p:grpSpPr>
        <p:grpSp>
          <p:nvGrpSpPr>
            <p:cNvPr id="394" name="组合 393">
              <a:extLst>
                <a:ext uri="{FF2B5EF4-FFF2-40B4-BE49-F238E27FC236}">
                  <a16:creationId xmlns:a16="http://schemas.microsoft.com/office/drawing/2014/main" id="{E7EC8C15-9DD4-E100-ADC6-88D9D8D3501D}"/>
                </a:ext>
              </a:extLst>
            </p:cNvPr>
            <p:cNvGrpSpPr/>
            <p:nvPr/>
          </p:nvGrpSpPr>
          <p:grpSpPr>
            <a:xfrm>
              <a:off x="10084957" y="286310"/>
              <a:ext cx="800100" cy="799200"/>
              <a:chOff x="3521749" y="3354646"/>
              <a:chExt cx="800099" cy="243357"/>
            </a:xfrm>
          </p:grpSpPr>
          <p:sp>
            <p:nvSpPr>
              <p:cNvPr id="395" name="圆角矩形 394">
                <a:extLst>
                  <a:ext uri="{FF2B5EF4-FFF2-40B4-BE49-F238E27FC236}">
                    <a16:creationId xmlns:a16="http://schemas.microsoft.com/office/drawing/2014/main" id="{1D1D09B3-97EE-ECFF-AB7C-36B335D528AA}"/>
                  </a:ext>
                </a:extLst>
              </p:cNvPr>
              <p:cNvSpPr/>
              <p:nvPr/>
            </p:nvSpPr>
            <p:spPr>
              <a:xfrm>
                <a:off x="3524298" y="3354646"/>
                <a:ext cx="418464" cy="241384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396" name="圆角矩形 395">
                <a:extLst>
                  <a:ext uri="{FF2B5EF4-FFF2-40B4-BE49-F238E27FC236}">
                    <a16:creationId xmlns:a16="http://schemas.microsoft.com/office/drawing/2014/main" id="{E9D9242A-743A-D225-77C4-784EB2EDE162}"/>
                  </a:ext>
                </a:extLst>
              </p:cNvPr>
              <p:cNvSpPr/>
              <p:nvPr/>
            </p:nvSpPr>
            <p:spPr>
              <a:xfrm>
                <a:off x="3521749" y="3356619"/>
                <a:ext cx="800099" cy="241384"/>
              </a:xfrm>
              <a:prstGeom prst="roundRect">
                <a:avLst/>
              </a:prstGeom>
              <a:noFill/>
              <a:ln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0" name="文本框 119">
              <a:extLst>
                <a:ext uri="{FF2B5EF4-FFF2-40B4-BE49-F238E27FC236}">
                  <a16:creationId xmlns:a16="http://schemas.microsoft.com/office/drawing/2014/main" id="{68A9288C-34C1-D976-A188-E631CBFA8A9D}"/>
                </a:ext>
              </a:extLst>
            </p:cNvPr>
            <p:cNvSpPr txBox="1"/>
            <p:nvPr/>
          </p:nvSpPr>
          <p:spPr>
            <a:xfrm>
              <a:off x="10905640" y="510677"/>
              <a:ext cx="8499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weight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9ACBC0A6-C85C-A395-D19E-7A992018B714}"/>
              </a:ext>
            </a:extLst>
          </p:cNvPr>
          <p:cNvGrpSpPr/>
          <p:nvPr/>
        </p:nvGrpSpPr>
        <p:grpSpPr>
          <a:xfrm>
            <a:off x="10442535" y="1155756"/>
            <a:ext cx="1645689" cy="799200"/>
            <a:chOff x="10084957" y="1446669"/>
            <a:chExt cx="1645689" cy="799200"/>
          </a:xfrm>
        </p:grpSpPr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85FB5E1B-82B0-1466-D661-B51618069FBE}"/>
                </a:ext>
              </a:extLst>
            </p:cNvPr>
            <p:cNvGrpSpPr/>
            <p:nvPr/>
          </p:nvGrpSpPr>
          <p:grpSpPr>
            <a:xfrm>
              <a:off x="10084957" y="1446669"/>
              <a:ext cx="800100" cy="799200"/>
              <a:chOff x="7929004" y="4960263"/>
              <a:chExt cx="800100" cy="799200"/>
            </a:xfrm>
          </p:grpSpPr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E8E6A93E-78F3-D6FA-3630-707921DC8CB8}"/>
                  </a:ext>
                </a:extLst>
              </p:cNvPr>
              <p:cNvSpPr/>
              <p:nvPr/>
            </p:nvSpPr>
            <p:spPr>
              <a:xfrm>
                <a:off x="7929004" y="4960263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D</a:t>
                </a:r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D8273F24-2E92-84F1-FDF2-FE52EACC8C2D}"/>
                  </a:ext>
                </a:extLst>
              </p:cNvPr>
              <p:cNvSpPr/>
              <p:nvPr/>
            </p:nvSpPr>
            <p:spPr>
              <a:xfrm>
                <a:off x="7929004" y="4960263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id="{EBF633DA-4A4E-0456-4494-79B6EDE6D47F}"/>
                </a:ext>
              </a:extLst>
            </p:cNvPr>
            <p:cNvSpPr txBox="1"/>
            <p:nvPr/>
          </p:nvSpPr>
          <p:spPr>
            <a:xfrm>
              <a:off x="10930546" y="1684938"/>
              <a:ext cx="8001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76" name="直线箭头连接符 75">
            <a:extLst>
              <a:ext uri="{FF2B5EF4-FFF2-40B4-BE49-F238E27FC236}">
                <a16:creationId xmlns:a16="http://schemas.microsoft.com/office/drawing/2014/main" id="{A7C1544B-AF79-0506-6750-4EF5AFE9A140}"/>
              </a:ext>
            </a:extLst>
          </p:cNvPr>
          <p:cNvCxnSpPr>
            <a:cxnSpLocks/>
            <a:stCxn id="11" idx="3"/>
            <a:endCxn id="32" idx="0"/>
          </p:cNvCxnSpPr>
          <p:nvPr/>
        </p:nvCxnSpPr>
        <p:spPr>
          <a:xfrm flipV="1">
            <a:off x="5145973" y="4024910"/>
            <a:ext cx="974356" cy="12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DE01FCBB-6E67-1297-A0E2-6FF98D9B03BC}"/>
              </a:ext>
            </a:extLst>
          </p:cNvPr>
          <p:cNvSpPr/>
          <p:nvPr/>
        </p:nvSpPr>
        <p:spPr>
          <a:xfrm>
            <a:off x="4345873" y="3626584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527DE62D-0164-C7AF-A8A0-D821159871CA}"/>
              </a:ext>
            </a:extLst>
          </p:cNvPr>
          <p:cNvSpPr/>
          <p:nvPr/>
        </p:nvSpPr>
        <p:spPr>
          <a:xfrm rot="16200000">
            <a:off x="5739251" y="1895993"/>
            <a:ext cx="1012392" cy="426038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25F60E0E-6D55-A141-E27D-B207AF5F8527}"/>
              </a:ext>
            </a:extLst>
          </p:cNvPr>
          <p:cNvSpPr/>
          <p:nvPr/>
        </p:nvSpPr>
        <p:spPr>
          <a:xfrm rot="16200000">
            <a:off x="5744240" y="3213432"/>
            <a:ext cx="1012392" cy="4260381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A565B70-9F45-00AC-1888-84348744DC9A}"/>
              </a:ext>
            </a:extLst>
          </p:cNvPr>
          <p:cNvSpPr/>
          <p:nvPr/>
        </p:nvSpPr>
        <p:spPr>
          <a:xfrm>
            <a:off x="4345873" y="4944022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2827774-1884-C210-AFA3-D316C25DF796}"/>
              </a:ext>
            </a:extLst>
          </p:cNvPr>
          <p:cNvGrpSpPr/>
          <p:nvPr/>
        </p:nvGrpSpPr>
        <p:grpSpPr>
          <a:xfrm rot="16200000">
            <a:off x="6116639" y="3629824"/>
            <a:ext cx="800100" cy="792721"/>
            <a:chOff x="3521749" y="3356619"/>
            <a:chExt cx="800099" cy="241384"/>
          </a:xfrm>
        </p:grpSpPr>
        <p:sp>
          <p:nvSpPr>
            <p:cNvPr id="32" name="圆角矩形 31">
              <a:extLst>
                <a:ext uri="{FF2B5EF4-FFF2-40B4-BE49-F238E27FC236}">
                  <a16:creationId xmlns:a16="http://schemas.microsoft.com/office/drawing/2014/main" id="{7EB3AE75-4C60-0FF9-249F-B59C5A493BBE}"/>
                </a:ext>
              </a:extLst>
            </p:cNvPr>
            <p:cNvSpPr/>
            <p:nvPr/>
          </p:nvSpPr>
          <p:spPr>
            <a:xfrm>
              <a:off x="3524298" y="3356619"/>
              <a:ext cx="797550" cy="12383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3" name="圆角矩形 32">
              <a:extLst>
                <a:ext uri="{FF2B5EF4-FFF2-40B4-BE49-F238E27FC236}">
                  <a16:creationId xmlns:a16="http://schemas.microsoft.com/office/drawing/2014/main" id="{0F9F9FE5-6F83-DDA6-C703-C0761CBCD8A5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42" name="矩形 41">
            <a:extLst>
              <a:ext uri="{FF2B5EF4-FFF2-40B4-BE49-F238E27FC236}">
                <a16:creationId xmlns:a16="http://schemas.microsoft.com/office/drawing/2014/main" id="{744E7A98-B2FC-CC08-8C77-384FD0F21DF2}"/>
              </a:ext>
            </a:extLst>
          </p:cNvPr>
          <p:cNvSpPr/>
          <p:nvPr/>
        </p:nvSpPr>
        <p:spPr>
          <a:xfrm>
            <a:off x="7406693" y="3626134"/>
            <a:ext cx="3996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529BD4E-46D8-0B50-8DBD-6DB20AA23D74}"/>
              </a:ext>
            </a:extLst>
          </p:cNvPr>
          <p:cNvSpPr/>
          <p:nvPr/>
        </p:nvSpPr>
        <p:spPr>
          <a:xfrm>
            <a:off x="7406693" y="3626134"/>
            <a:ext cx="800100" cy="799200"/>
          </a:xfrm>
          <a:prstGeom prst="rect">
            <a:avLst/>
          </a:prstGeom>
          <a:noFill/>
          <a:ln>
            <a:solidFill>
              <a:schemeClr val="accent2"/>
            </a:solidFill>
            <a:prstDash val="dash"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A6DBA82E-6047-2BA3-5084-1F8C4AD92BCB}"/>
              </a:ext>
            </a:extLst>
          </p:cNvPr>
          <p:cNvGrpSpPr/>
          <p:nvPr/>
        </p:nvGrpSpPr>
        <p:grpSpPr>
          <a:xfrm rot="16200000">
            <a:off x="6108137" y="4947262"/>
            <a:ext cx="800100" cy="792721"/>
            <a:chOff x="3521749" y="3356619"/>
            <a:chExt cx="800099" cy="241384"/>
          </a:xfrm>
        </p:grpSpPr>
        <p:sp>
          <p:nvSpPr>
            <p:cNvPr id="83" name="圆角矩形 82">
              <a:extLst>
                <a:ext uri="{FF2B5EF4-FFF2-40B4-BE49-F238E27FC236}">
                  <a16:creationId xmlns:a16="http://schemas.microsoft.com/office/drawing/2014/main" id="{DD5DE5A8-3E75-6D10-9AD2-3B24CA845D04}"/>
                </a:ext>
              </a:extLst>
            </p:cNvPr>
            <p:cNvSpPr/>
            <p:nvPr/>
          </p:nvSpPr>
          <p:spPr>
            <a:xfrm>
              <a:off x="3524298" y="3480457"/>
              <a:ext cx="797550" cy="115573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4" name="圆角矩形 83">
              <a:extLst>
                <a:ext uri="{FF2B5EF4-FFF2-40B4-BE49-F238E27FC236}">
                  <a16:creationId xmlns:a16="http://schemas.microsoft.com/office/drawing/2014/main" id="{5363C6AF-DDFD-707C-1374-AB2510E699A5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5" name="组合 84">
            <a:extLst>
              <a:ext uri="{FF2B5EF4-FFF2-40B4-BE49-F238E27FC236}">
                <a16:creationId xmlns:a16="http://schemas.microsoft.com/office/drawing/2014/main" id="{4BF9B043-2868-81C4-7C13-DED2A5010DC5}"/>
              </a:ext>
            </a:extLst>
          </p:cNvPr>
          <p:cNvGrpSpPr/>
          <p:nvPr/>
        </p:nvGrpSpPr>
        <p:grpSpPr>
          <a:xfrm>
            <a:off x="7398074" y="4943571"/>
            <a:ext cx="800100" cy="799200"/>
            <a:chOff x="7929004" y="4960263"/>
            <a:chExt cx="800100" cy="799200"/>
          </a:xfrm>
        </p:grpSpPr>
        <p:sp>
          <p:nvSpPr>
            <p:cNvPr id="86" name="矩形 85">
              <a:extLst>
                <a:ext uri="{FF2B5EF4-FFF2-40B4-BE49-F238E27FC236}">
                  <a16:creationId xmlns:a16="http://schemas.microsoft.com/office/drawing/2014/main" id="{6EFA058B-4769-E915-2035-C89B81B3F4F3}"/>
                </a:ext>
              </a:extLst>
            </p:cNvPr>
            <p:cNvSpPr/>
            <p:nvPr/>
          </p:nvSpPr>
          <p:spPr>
            <a:xfrm>
              <a:off x="8338286" y="4960263"/>
              <a:ext cx="390816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7" name="矩形 86">
              <a:extLst>
                <a:ext uri="{FF2B5EF4-FFF2-40B4-BE49-F238E27FC236}">
                  <a16:creationId xmlns:a16="http://schemas.microsoft.com/office/drawing/2014/main" id="{804B5DC5-7FB3-FAB1-A4E8-6A1652CB0BCA}"/>
                </a:ext>
              </a:extLst>
            </p:cNvPr>
            <p:cNvSpPr/>
            <p:nvPr/>
          </p:nvSpPr>
          <p:spPr>
            <a:xfrm>
              <a:off x="7929004" y="4960263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CE95FBE7-C39A-B619-6CD8-ACA639C7EF4F}"/>
              </a:ext>
            </a:extLst>
          </p:cNvPr>
          <p:cNvCxnSpPr>
            <a:cxnSpLocks/>
            <a:stCxn id="14" idx="3"/>
            <a:endCxn id="84" idx="0"/>
          </p:cNvCxnSpPr>
          <p:nvPr/>
        </p:nvCxnSpPr>
        <p:spPr>
          <a:xfrm>
            <a:off x="5145973" y="5343622"/>
            <a:ext cx="965854" cy="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圆角矩形 109">
            <a:extLst>
              <a:ext uri="{FF2B5EF4-FFF2-40B4-BE49-F238E27FC236}">
                <a16:creationId xmlns:a16="http://schemas.microsoft.com/office/drawing/2014/main" id="{50DD96EF-0DC7-4D7C-77CD-CC65049430B7}"/>
              </a:ext>
            </a:extLst>
          </p:cNvPr>
          <p:cNvSpPr/>
          <p:nvPr/>
        </p:nvSpPr>
        <p:spPr>
          <a:xfrm>
            <a:off x="5538074" y="3429000"/>
            <a:ext cx="212328" cy="2525918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f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1A69DEC-3347-AF68-C5C7-FB864F2E7AEF}"/>
              </a:ext>
            </a:extLst>
          </p:cNvPr>
          <p:cNvSpPr txBox="1"/>
          <p:nvPr/>
        </p:nvSpPr>
        <p:spPr>
          <a:xfrm>
            <a:off x="4239213" y="5961976"/>
            <a:ext cx="941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S,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5CCED50-9AE4-32B7-8D73-AED677B8AC2C}"/>
              </a:ext>
            </a:extLst>
          </p:cNvPr>
          <p:cNvSpPr txBox="1"/>
          <p:nvPr/>
        </p:nvSpPr>
        <p:spPr>
          <a:xfrm>
            <a:off x="6031102" y="5961976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(H, H/</a:t>
            </a:r>
            <a:r>
              <a:rPr kumimoji="1" lang="en-US" altLang="zh-CN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09D34AA-B72C-50BF-810F-6D5A73F1C2F2}"/>
              </a:ext>
            </a:extLst>
          </p:cNvPr>
          <p:cNvSpPr txBox="1"/>
          <p:nvPr/>
        </p:nvSpPr>
        <p:spPr>
          <a:xfrm>
            <a:off x="7184534" y="5961976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 S, H/</a:t>
            </a:r>
            <a:r>
              <a:rPr kumimoji="1" lang="en-US" altLang="zh-CN" b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A28FD2E-E6B6-A8D0-BA79-4C46DADEF143}"/>
              </a:ext>
            </a:extLst>
          </p:cNvPr>
          <p:cNvSpPr txBox="1"/>
          <p:nvPr/>
        </p:nvSpPr>
        <p:spPr>
          <a:xfrm>
            <a:off x="3173053" y="3856957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0E27FBA0-536E-A30D-3430-BCD71FA15F3E}"/>
              </a:ext>
            </a:extLst>
          </p:cNvPr>
          <p:cNvSpPr txBox="1"/>
          <p:nvPr/>
        </p:nvSpPr>
        <p:spPr>
          <a:xfrm>
            <a:off x="3142178" y="5174394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25" name="直线箭头连接符 124">
            <a:extLst>
              <a:ext uri="{FF2B5EF4-FFF2-40B4-BE49-F238E27FC236}">
                <a16:creationId xmlns:a16="http://schemas.microsoft.com/office/drawing/2014/main" id="{B4C0A922-4C3B-BBCE-85D1-4EF60521E9A0}"/>
              </a:ext>
            </a:extLst>
          </p:cNvPr>
          <p:cNvCxnSpPr>
            <a:cxnSpLocks/>
            <a:stCxn id="33" idx="2"/>
            <a:endCxn id="43" idx="1"/>
          </p:cNvCxnSpPr>
          <p:nvPr/>
        </p:nvCxnSpPr>
        <p:spPr>
          <a:xfrm flipV="1">
            <a:off x="6913050" y="4025734"/>
            <a:ext cx="493643" cy="451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1" name="直线箭头连接符 520">
            <a:extLst>
              <a:ext uri="{FF2B5EF4-FFF2-40B4-BE49-F238E27FC236}">
                <a16:creationId xmlns:a16="http://schemas.microsoft.com/office/drawing/2014/main" id="{450D858E-EBEB-D091-66C5-E392EDBF3FC1}"/>
              </a:ext>
            </a:extLst>
          </p:cNvPr>
          <p:cNvCxnSpPr>
            <a:cxnSpLocks/>
            <a:stCxn id="84" idx="2"/>
            <a:endCxn id="87" idx="1"/>
          </p:cNvCxnSpPr>
          <p:nvPr/>
        </p:nvCxnSpPr>
        <p:spPr>
          <a:xfrm flipV="1">
            <a:off x="6904548" y="5343171"/>
            <a:ext cx="493526" cy="4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81F5E011-8504-10D6-D68C-EF2D2874017A}"/>
              </a:ext>
            </a:extLst>
          </p:cNvPr>
          <p:cNvSpPr txBox="1"/>
          <p:nvPr/>
        </p:nvSpPr>
        <p:spPr>
          <a:xfrm>
            <a:off x="7388174" y="3840010"/>
            <a:ext cx="86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Q, K,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457A062-D013-4A18-3779-7E663FF12249}"/>
              </a:ext>
            </a:extLst>
          </p:cNvPr>
          <p:cNvSpPr txBox="1"/>
          <p:nvPr/>
        </p:nvSpPr>
        <p:spPr>
          <a:xfrm>
            <a:off x="7388174" y="5143517"/>
            <a:ext cx="8651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Q, K,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79586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A1D2AFD-6452-7760-526A-27259D48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135CAE3-E83A-C663-CA40-23EF20F5D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grpSp>
        <p:nvGrpSpPr>
          <p:cNvPr id="394" name="组合 393">
            <a:extLst>
              <a:ext uri="{FF2B5EF4-FFF2-40B4-BE49-F238E27FC236}">
                <a16:creationId xmlns:a16="http://schemas.microsoft.com/office/drawing/2014/main" id="{19544B1C-8405-8AF7-B532-E29D62A81722}"/>
              </a:ext>
            </a:extLst>
          </p:cNvPr>
          <p:cNvGrpSpPr/>
          <p:nvPr/>
        </p:nvGrpSpPr>
        <p:grpSpPr>
          <a:xfrm>
            <a:off x="10442535" y="175697"/>
            <a:ext cx="800100" cy="799207"/>
            <a:chOff x="3521749" y="3354644"/>
            <a:chExt cx="800099" cy="243359"/>
          </a:xfrm>
        </p:grpSpPr>
        <p:sp>
          <p:nvSpPr>
            <p:cNvPr id="395" name="圆角矩形 394">
              <a:extLst>
                <a:ext uri="{FF2B5EF4-FFF2-40B4-BE49-F238E27FC236}">
                  <a16:creationId xmlns:a16="http://schemas.microsoft.com/office/drawing/2014/main" id="{EE9A9678-322B-C8DB-C6D1-B6DDAE588ED0}"/>
                </a:ext>
              </a:extLst>
            </p:cNvPr>
            <p:cNvSpPr/>
            <p:nvPr/>
          </p:nvSpPr>
          <p:spPr>
            <a:xfrm>
              <a:off x="3524298" y="3354644"/>
              <a:ext cx="418464" cy="241384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96" name="圆角矩形 395">
              <a:extLst>
                <a:ext uri="{FF2B5EF4-FFF2-40B4-BE49-F238E27FC236}">
                  <a16:creationId xmlns:a16="http://schemas.microsoft.com/office/drawing/2014/main" id="{1735C31B-BBA0-0776-7D0D-93776B0C6C37}"/>
                </a:ext>
              </a:extLst>
            </p:cNvPr>
            <p:cNvSpPr/>
            <p:nvPr/>
          </p:nvSpPr>
          <p:spPr>
            <a:xfrm>
              <a:off x="3521749" y="3356619"/>
              <a:ext cx="800099" cy="241384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0" name="文本框 119">
            <a:extLst>
              <a:ext uri="{FF2B5EF4-FFF2-40B4-BE49-F238E27FC236}">
                <a16:creationId xmlns:a16="http://schemas.microsoft.com/office/drawing/2014/main" id="{E0D82E1D-4A93-CBEB-D53E-F4EB38475212}"/>
              </a:ext>
            </a:extLst>
          </p:cNvPr>
          <p:cNvSpPr txBox="1"/>
          <p:nvPr/>
        </p:nvSpPr>
        <p:spPr>
          <a:xfrm>
            <a:off x="11263218" y="400064"/>
            <a:ext cx="8499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weight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DB9973F5-1E23-9FD7-21CC-564DBEDB8F41}"/>
              </a:ext>
            </a:extLst>
          </p:cNvPr>
          <p:cNvGrpSpPr/>
          <p:nvPr/>
        </p:nvGrpSpPr>
        <p:grpSpPr>
          <a:xfrm>
            <a:off x="10442535" y="1155756"/>
            <a:ext cx="800100" cy="799200"/>
            <a:chOff x="7929004" y="4960263"/>
            <a:chExt cx="800100" cy="799200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BACB0353-808B-D7B8-C02A-FC1B9C1863C8}"/>
                </a:ext>
              </a:extLst>
            </p:cNvPr>
            <p:cNvSpPr/>
            <p:nvPr/>
          </p:nvSpPr>
          <p:spPr>
            <a:xfrm>
              <a:off x="7929004" y="4960263"/>
              <a:ext cx="3996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FEF52E7-4D2B-EEFA-23B2-B343B5609853}"/>
                </a:ext>
              </a:extLst>
            </p:cNvPr>
            <p:cNvSpPr/>
            <p:nvPr/>
          </p:nvSpPr>
          <p:spPr>
            <a:xfrm>
              <a:off x="7929004" y="4960263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DA1D494-D33B-39F2-3722-E7A61591C36D}"/>
              </a:ext>
            </a:extLst>
          </p:cNvPr>
          <p:cNvSpPr txBox="1"/>
          <p:nvPr/>
        </p:nvSpPr>
        <p:spPr>
          <a:xfrm>
            <a:off x="11288124" y="1394025"/>
            <a:ext cx="800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1" name="圆角矩形 540">
            <a:extLst>
              <a:ext uri="{FF2B5EF4-FFF2-40B4-BE49-F238E27FC236}">
                <a16:creationId xmlns:a16="http://schemas.microsoft.com/office/drawing/2014/main" id="{DE721346-2680-4C91-CD36-0F939BCF616E}"/>
              </a:ext>
            </a:extLst>
          </p:cNvPr>
          <p:cNvSpPr/>
          <p:nvPr/>
        </p:nvSpPr>
        <p:spPr>
          <a:xfrm rot="16200000">
            <a:off x="4843469" y="-223572"/>
            <a:ext cx="2497770" cy="9696530"/>
          </a:xfrm>
          <a:prstGeom prst="roundRect">
            <a:avLst/>
          </a:prstGeom>
          <a:solidFill>
            <a:schemeClr val="bg1"/>
          </a:solidFill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28367A97-A7A5-DEC9-1AA4-F65EAAB3C831}"/>
              </a:ext>
            </a:extLst>
          </p:cNvPr>
          <p:cNvGrpSpPr/>
          <p:nvPr/>
        </p:nvGrpSpPr>
        <p:grpSpPr>
          <a:xfrm>
            <a:off x="2472926" y="3887299"/>
            <a:ext cx="800100" cy="799200"/>
            <a:chOff x="6361720" y="3105434"/>
            <a:chExt cx="800100" cy="799200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0A1BE232-A80B-332E-7BA9-186E1A512AD1}"/>
                </a:ext>
              </a:extLst>
            </p:cNvPr>
            <p:cNvSpPr/>
            <p:nvPr/>
          </p:nvSpPr>
          <p:spPr>
            <a:xfrm>
              <a:off x="6750802" y="3105434"/>
              <a:ext cx="411018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1443C128-96CE-8BA1-1DDF-20B7C6A04BAD}"/>
                </a:ext>
              </a:extLst>
            </p:cNvPr>
            <p:cNvSpPr/>
            <p:nvPr/>
          </p:nvSpPr>
          <p:spPr>
            <a:xfrm>
              <a:off x="6361720" y="3105434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6D037537-E145-29C8-6DFF-C5FDCDF69D24}"/>
              </a:ext>
            </a:extLst>
          </p:cNvPr>
          <p:cNvGrpSpPr/>
          <p:nvPr/>
        </p:nvGrpSpPr>
        <p:grpSpPr>
          <a:xfrm>
            <a:off x="2472926" y="4948936"/>
            <a:ext cx="800100" cy="799200"/>
            <a:chOff x="6361720" y="3105434"/>
            <a:chExt cx="800100" cy="7992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F1A6773-EC89-35C2-311C-96F60830BE57}"/>
                </a:ext>
              </a:extLst>
            </p:cNvPr>
            <p:cNvSpPr/>
            <p:nvPr/>
          </p:nvSpPr>
          <p:spPr>
            <a:xfrm>
              <a:off x="6750802" y="3105434"/>
              <a:ext cx="407184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0725C4B-125A-BA1E-7F63-8E683205F1E6}"/>
                </a:ext>
              </a:extLst>
            </p:cNvPr>
            <p:cNvSpPr/>
            <p:nvPr/>
          </p:nvSpPr>
          <p:spPr>
            <a:xfrm>
              <a:off x="6361720" y="3105434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D39D7D4-1806-A614-710E-6274C0F3A161}"/>
              </a:ext>
            </a:extLst>
          </p:cNvPr>
          <p:cNvGrpSpPr/>
          <p:nvPr/>
        </p:nvGrpSpPr>
        <p:grpSpPr>
          <a:xfrm>
            <a:off x="1356889" y="4420873"/>
            <a:ext cx="803052" cy="799200"/>
            <a:chOff x="6361720" y="3105434"/>
            <a:chExt cx="803052" cy="799200"/>
          </a:xfrm>
        </p:grpSpPr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AB1CB5A-26C4-6532-8D73-15FCE5B667C7}"/>
                </a:ext>
              </a:extLst>
            </p:cNvPr>
            <p:cNvSpPr/>
            <p:nvPr/>
          </p:nvSpPr>
          <p:spPr>
            <a:xfrm>
              <a:off x="6761769" y="3105434"/>
              <a:ext cx="403003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85F275FF-67A9-5FFB-9334-1D0A512FB06F}"/>
                </a:ext>
              </a:extLst>
            </p:cNvPr>
            <p:cNvSpPr/>
            <p:nvPr/>
          </p:nvSpPr>
          <p:spPr>
            <a:xfrm>
              <a:off x="6361720" y="3105434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EC5A13-19B1-0B6C-E51A-AA68FB958C9F}"/>
                  </a:ext>
                </a:extLst>
              </p:cNvPr>
              <p:cNvSpPr txBox="1"/>
              <p:nvPr/>
            </p:nvSpPr>
            <p:spPr>
              <a:xfrm>
                <a:off x="3669693" y="4635807"/>
                <a:ext cx="3386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26EC5A13-19B1-0B6C-E51A-AA68FB958C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9693" y="4635807"/>
                <a:ext cx="33866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肘形连接符 34">
            <a:extLst>
              <a:ext uri="{FF2B5EF4-FFF2-40B4-BE49-F238E27FC236}">
                <a16:creationId xmlns:a16="http://schemas.microsoft.com/office/drawing/2014/main" id="{2AC8C22A-CA50-8E60-8B53-38A42ACDC227}"/>
              </a:ext>
            </a:extLst>
          </p:cNvPr>
          <p:cNvCxnSpPr>
            <a:cxnSpLocks/>
            <a:stCxn id="43" idx="3"/>
            <a:endCxn id="26" idx="0"/>
          </p:cNvCxnSpPr>
          <p:nvPr/>
        </p:nvCxnSpPr>
        <p:spPr>
          <a:xfrm>
            <a:off x="3273026" y="4286899"/>
            <a:ext cx="565999" cy="348908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肘形连接符 35">
            <a:extLst>
              <a:ext uri="{FF2B5EF4-FFF2-40B4-BE49-F238E27FC236}">
                <a16:creationId xmlns:a16="http://schemas.microsoft.com/office/drawing/2014/main" id="{9304613B-E32F-E9E4-2793-A7FDBAD1F5BB}"/>
              </a:ext>
            </a:extLst>
          </p:cNvPr>
          <p:cNvCxnSpPr>
            <a:cxnSpLocks/>
            <a:stCxn id="18" idx="3"/>
            <a:endCxn id="26" idx="2"/>
          </p:cNvCxnSpPr>
          <p:nvPr/>
        </p:nvCxnSpPr>
        <p:spPr>
          <a:xfrm flipV="1">
            <a:off x="3273026" y="5005139"/>
            <a:ext cx="565999" cy="343397"/>
          </a:xfrm>
          <a:prstGeom prst="bentConnector2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D6474F4-965C-9AB7-9316-9832AE4D3117}"/>
                  </a:ext>
                </a:extLst>
              </p:cNvPr>
              <p:cNvSpPr txBox="1"/>
              <p:nvPr/>
            </p:nvSpPr>
            <p:spPr>
              <a:xfrm>
                <a:off x="5505010" y="4635807"/>
                <a:ext cx="31298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1D6474F4-965C-9AB7-9316-9832AE4D31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5010" y="4635807"/>
                <a:ext cx="312984" cy="369332"/>
              </a:xfrm>
              <a:prstGeom prst="rect">
                <a:avLst/>
              </a:prstGeom>
              <a:blipFill>
                <a:blip r:embed="rId4"/>
                <a:stretch>
                  <a:fillRect r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肘形连接符 40">
            <a:extLst>
              <a:ext uri="{FF2B5EF4-FFF2-40B4-BE49-F238E27FC236}">
                <a16:creationId xmlns:a16="http://schemas.microsoft.com/office/drawing/2014/main" id="{9C5AE528-C12F-B17A-1CD5-5DAD4DF030EA}"/>
              </a:ext>
            </a:extLst>
          </p:cNvPr>
          <p:cNvCxnSpPr>
            <a:cxnSpLocks/>
            <a:stCxn id="22" idx="0"/>
            <a:endCxn id="40" idx="0"/>
          </p:cNvCxnSpPr>
          <p:nvPr/>
        </p:nvCxnSpPr>
        <p:spPr>
          <a:xfrm rot="16200000" flipH="1">
            <a:off x="3601753" y="2576059"/>
            <a:ext cx="214934" cy="3904563"/>
          </a:xfrm>
          <a:prstGeom prst="bentConnector3">
            <a:avLst>
              <a:gd name="adj1" fmla="val -324983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C3966197-0AD9-F029-6C19-983D10D16132}"/>
              </a:ext>
            </a:extLst>
          </p:cNvPr>
          <p:cNvSpPr/>
          <p:nvPr/>
        </p:nvSpPr>
        <p:spPr>
          <a:xfrm rot="5400000">
            <a:off x="4250309" y="4620673"/>
            <a:ext cx="1012748" cy="399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8C0B6DB-8DB9-FBEF-2763-BCF9ADDAAB34}"/>
              </a:ext>
            </a:extLst>
          </p:cNvPr>
          <p:cNvGrpSpPr/>
          <p:nvPr/>
        </p:nvGrpSpPr>
        <p:grpSpPr>
          <a:xfrm>
            <a:off x="6366521" y="4420873"/>
            <a:ext cx="804732" cy="799200"/>
            <a:chOff x="6361720" y="3105434"/>
            <a:chExt cx="804732" cy="799200"/>
          </a:xfrm>
        </p:grpSpPr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F3C16FF4-9B12-B03A-605A-13286995B5BD}"/>
                </a:ext>
              </a:extLst>
            </p:cNvPr>
            <p:cNvSpPr/>
            <p:nvPr/>
          </p:nvSpPr>
          <p:spPr>
            <a:xfrm>
              <a:off x="6756045" y="3105434"/>
              <a:ext cx="410407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4A8B83E-0DA9-F6E7-F883-B396A25E4256}"/>
                </a:ext>
              </a:extLst>
            </p:cNvPr>
            <p:cNvSpPr/>
            <p:nvPr/>
          </p:nvSpPr>
          <p:spPr>
            <a:xfrm>
              <a:off x="6361720" y="3105434"/>
              <a:ext cx="800100" cy="799200"/>
            </a:xfrm>
            <a:prstGeom prst="rect">
              <a:avLst/>
            </a:prstGeom>
            <a:noFill/>
            <a:ln>
              <a:solidFill>
                <a:schemeClr val="accent2"/>
              </a:solidFill>
              <a:prstDash val="dash"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7029E31-F49B-FF37-1970-04F6AEA5FE88}"/>
              </a:ext>
            </a:extLst>
          </p:cNvPr>
          <p:cNvGrpSpPr/>
          <p:nvPr/>
        </p:nvGrpSpPr>
        <p:grpSpPr>
          <a:xfrm>
            <a:off x="7715148" y="4424113"/>
            <a:ext cx="800100" cy="802725"/>
            <a:chOff x="7599243" y="3181714"/>
            <a:chExt cx="800100" cy="802725"/>
          </a:xfrm>
        </p:grpSpPr>
        <p:sp>
          <p:nvSpPr>
            <p:cNvPr id="70" name="圆角矩形 69">
              <a:extLst>
                <a:ext uri="{FF2B5EF4-FFF2-40B4-BE49-F238E27FC236}">
                  <a16:creationId xmlns:a16="http://schemas.microsoft.com/office/drawing/2014/main" id="{13B8AFAE-36F8-7A9A-88B6-0038D217E9FC}"/>
                </a:ext>
              </a:extLst>
            </p:cNvPr>
            <p:cNvSpPr/>
            <p:nvPr/>
          </p:nvSpPr>
          <p:spPr>
            <a:xfrm>
              <a:off x="7601792" y="3576701"/>
              <a:ext cx="797551" cy="407738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1" name="圆角矩形 70">
              <a:extLst>
                <a:ext uri="{FF2B5EF4-FFF2-40B4-BE49-F238E27FC236}">
                  <a16:creationId xmlns:a16="http://schemas.microsoft.com/office/drawing/2014/main" id="{29D39EF2-AFEF-CF6B-20E7-6E491B6C369B}"/>
                </a:ext>
              </a:extLst>
            </p:cNvPr>
            <p:cNvSpPr/>
            <p:nvPr/>
          </p:nvSpPr>
          <p:spPr>
            <a:xfrm>
              <a:off x="7599243" y="3181714"/>
              <a:ext cx="800100" cy="792721"/>
            </a:xfrm>
            <a:prstGeom prst="roundRect">
              <a:avLst/>
            </a:prstGeom>
            <a:noFill/>
            <a:ln>
              <a:solidFill>
                <a:schemeClr val="accent5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043FF127-B620-1BEE-EDD9-D4AF4616D33B}"/>
              </a:ext>
            </a:extLst>
          </p:cNvPr>
          <p:cNvCxnSpPr>
            <a:cxnSpLocks/>
            <a:stCxn id="26" idx="3"/>
            <a:endCxn id="55" idx="2"/>
          </p:cNvCxnSpPr>
          <p:nvPr/>
        </p:nvCxnSpPr>
        <p:spPr>
          <a:xfrm>
            <a:off x="4008356" y="4820473"/>
            <a:ext cx="54852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7F11EA32-3EAC-D10A-314A-D74EC48203C5}"/>
              </a:ext>
            </a:extLst>
          </p:cNvPr>
          <p:cNvCxnSpPr>
            <a:cxnSpLocks/>
            <a:stCxn id="55" idx="0"/>
            <a:endCxn id="40" idx="1"/>
          </p:cNvCxnSpPr>
          <p:nvPr/>
        </p:nvCxnSpPr>
        <p:spPr>
          <a:xfrm>
            <a:off x="4956483" y="4820473"/>
            <a:ext cx="54852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7FF65B5C-506A-D20D-168F-135B2F2C0795}"/>
              </a:ext>
            </a:extLst>
          </p:cNvPr>
          <p:cNvCxnSpPr>
            <a:cxnSpLocks/>
            <a:stCxn id="40" idx="3"/>
            <a:endCxn id="65" idx="1"/>
          </p:cNvCxnSpPr>
          <p:nvPr/>
        </p:nvCxnSpPr>
        <p:spPr>
          <a:xfrm>
            <a:off x="5817994" y="4820473"/>
            <a:ext cx="548527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F1F8DC7D-E81D-820B-792C-6762BE7E8E4B}"/>
              </a:ext>
            </a:extLst>
          </p:cNvPr>
          <p:cNvCxnSpPr>
            <a:cxnSpLocks/>
            <a:stCxn id="65" idx="3"/>
            <a:endCxn id="71" idx="1"/>
          </p:cNvCxnSpPr>
          <p:nvPr/>
        </p:nvCxnSpPr>
        <p:spPr>
          <a:xfrm>
            <a:off x="7166621" y="4820473"/>
            <a:ext cx="548527" cy="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线箭头连接符 50">
            <a:extLst>
              <a:ext uri="{FF2B5EF4-FFF2-40B4-BE49-F238E27FC236}">
                <a16:creationId xmlns:a16="http://schemas.microsoft.com/office/drawing/2014/main" id="{8990ADDE-1B5F-8795-3348-81032978C87D}"/>
              </a:ext>
            </a:extLst>
          </p:cNvPr>
          <p:cNvCxnSpPr>
            <a:cxnSpLocks/>
            <a:stCxn id="71" idx="3"/>
            <a:endCxn id="96" idx="1"/>
          </p:cNvCxnSpPr>
          <p:nvPr/>
        </p:nvCxnSpPr>
        <p:spPr>
          <a:xfrm flipV="1">
            <a:off x="8515248" y="4820473"/>
            <a:ext cx="561885" cy="1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>
            <a:extLst>
              <a:ext uri="{FF2B5EF4-FFF2-40B4-BE49-F238E27FC236}">
                <a16:creationId xmlns:a16="http://schemas.microsoft.com/office/drawing/2014/main" id="{40407E46-3EA5-7314-3FD4-ABD3C0F2A7B3}"/>
              </a:ext>
            </a:extLst>
          </p:cNvPr>
          <p:cNvSpPr/>
          <p:nvPr/>
        </p:nvSpPr>
        <p:spPr>
          <a:xfrm>
            <a:off x="9077133" y="4420873"/>
            <a:ext cx="800100" cy="7992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Data</a:t>
            </a:r>
            <a:endParaRPr kumimoji="1" lang="zh-CN" altLang="en-US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579F96C3-91C8-99B5-DE40-B59E8801617B}"/>
              </a:ext>
            </a:extLst>
          </p:cNvPr>
          <p:cNvSpPr txBox="1"/>
          <p:nvPr/>
        </p:nvSpPr>
        <p:spPr>
          <a:xfrm>
            <a:off x="5602451" y="3375806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6" name="圆角矩形 545">
            <a:extLst>
              <a:ext uri="{FF2B5EF4-FFF2-40B4-BE49-F238E27FC236}">
                <a16:creationId xmlns:a16="http://schemas.microsoft.com/office/drawing/2014/main" id="{3BFF65F5-1CEF-D1EE-782E-3DC9044AC1D6}"/>
              </a:ext>
            </a:extLst>
          </p:cNvPr>
          <p:cNvSpPr/>
          <p:nvPr/>
        </p:nvSpPr>
        <p:spPr>
          <a:xfrm>
            <a:off x="10491071" y="4054927"/>
            <a:ext cx="195289" cy="1528345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>
                <a:latin typeface="Calibri" panose="020F0502020204030204" pitchFamily="34" charset="0"/>
                <a:cs typeface="Calibri" panose="020F0502020204030204" pitchFamily="34" charset="0"/>
              </a:rPr>
              <a:t>g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7" name="直线箭头连接符 546">
            <a:extLst>
              <a:ext uri="{FF2B5EF4-FFF2-40B4-BE49-F238E27FC236}">
                <a16:creationId xmlns:a16="http://schemas.microsoft.com/office/drawing/2014/main" id="{4BAC4536-CB9A-DF55-FA15-3160395D9208}"/>
              </a:ext>
            </a:extLst>
          </p:cNvPr>
          <p:cNvCxnSpPr>
            <a:cxnSpLocks/>
            <a:stCxn id="96" idx="3"/>
            <a:endCxn id="546" idx="1"/>
          </p:cNvCxnSpPr>
          <p:nvPr/>
        </p:nvCxnSpPr>
        <p:spPr>
          <a:xfrm flipV="1">
            <a:off x="9877233" y="4819100"/>
            <a:ext cx="613838" cy="1373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0" name="文本占位符 1">
            <a:extLst>
              <a:ext uri="{FF2B5EF4-FFF2-40B4-BE49-F238E27FC236}">
                <a16:creationId xmlns:a16="http://schemas.microsoft.com/office/drawing/2014/main" id="{16FCB064-DEFD-1687-3737-1D34D5ED6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410" y="1049237"/>
            <a:ext cx="11705590" cy="1061720"/>
          </a:xfrm>
        </p:spPr>
        <p:txBody>
          <a:bodyPr>
            <a:normAutofit fontScale="97500"/>
          </a:bodyPr>
          <a:lstStyle/>
          <a:p>
            <a:r>
              <a:rPr kumimoji="1" lang="en-US" altLang="zh-CN"/>
              <a:t>Tensor</a:t>
            </a:r>
            <a:r>
              <a:rPr kumimoji="1" lang="zh-CN" altLang="en-US"/>
              <a:t> </a:t>
            </a:r>
            <a:r>
              <a:rPr kumimoji="1" lang="en-US" altLang="zh-CN"/>
              <a:t>parallelism: </a:t>
            </a:r>
            <a:r>
              <a:rPr kumimoji="1" lang="en" altLang="zh-CN"/>
              <a:t>partitions</a:t>
            </a:r>
            <a:r>
              <a:rPr kumimoji="1" lang="zh-CN" altLang="en-US"/>
              <a:t> </a:t>
            </a:r>
            <a:r>
              <a:rPr kumimoji="1" lang="en-US" altLang="zh-CN"/>
              <a:t>weight</a:t>
            </a:r>
            <a:r>
              <a:rPr kumimoji="1" lang="zh-CN" altLang="en-US"/>
              <a:t> </a:t>
            </a:r>
            <a:r>
              <a:rPr kumimoji="1" lang="en-US" altLang="zh-CN"/>
              <a:t>along</a:t>
            </a:r>
            <a:r>
              <a:rPr kumimoji="1" lang="zh-CN" altLang="en-US"/>
              <a:t>  </a:t>
            </a:r>
            <a:r>
              <a:rPr kumimoji="1" lang="en-US" altLang="zh-CN"/>
              <a:t>hidden</a:t>
            </a:r>
            <a:r>
              <a:rPr kumimoji="1" lang="zh-CN" altLang="en-US"/>
              <a:t> </a:t>
            </a:r>
            <a:r>
              <a:rPr kumimoji="1" lang="en-US" altLang="zh-CN"/>
              <a:t>size</a:t>
            </a:r>
          </a:p>
          <a:p>
            <a:pPr lvl="1"/>
            <a:r>
              <a:rPr kumimoji="1" lang="en-US" altLang="zh-CN"/>
              <a:t>TP</a:t>
            </a:r>
            <a:r>
              <a:rPr kumimoji="1" lang="zh-CN" altLang="en-US"/>
              <a:t> </a:t>
            </a:r>
            <a:r>
              <a:rPr kumimoji="1" lang="en-US" altLang="zh-CN"/>
              <a:t>in</a:t>
            </a:r>
            <a:r>
              <a:rPr kumimoji="1" lang="zh-CN" altLang="en-US"/>
              <a:t> </a:t>
            </a:r>
            <a:r>
              <a:rPr kumimoji="1" lang="en-US" altLang="zh-CN"/>
              <a:t>Attention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AC4E90-8F82-7EEF-177F-D82F5729284A}"/>
              </a:ext>
            </a:extLst>
          </p:cNvPr>
          <p:cNvSpPr txBox="1"/>
          <p:nvPr/>
        </p:nvSpPr>
        <p:spPr>
          <a:xfrm>
            <a:off x="1985225" y="6306485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 S, 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D9992BA-0B5C-AE9E-1F0F-BB31AF5121D9}"/>
              </a:ext>
            </a:extLst>
          </p:cNvPr>
          <p:cNvSpPr txBox="1"/>
          <p:nvPr/>
        </p:nvSpPr>
        <p:spPr>
          <a:xfrm>
            <a:off x="5835785" y="6306485"/>
            <a:ext cx="12779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S, 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917C08C-CEF6-AEBB-1F25-05EE1E2F0A25}"/>
              </a:ext>
            </a:extLst>
          </p:cNvPr>
          <p:cNvSpPr txBox="1"/>
          <p:nvPr/>
        </p:nvSpPr>
        <p:spPr>
          <a:xfrm>
            <a:off x="7582528" y="6306485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(H, H/</a:t>
            </a:r>
            <a:r>
              <a:rPr kumimoji="1" lang="en-US" altLang="zh-CN" b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TP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FB12550-3DFA-C2A2-6932-C9DB4E86B5EA}"/>
              </a:ext>
            </a:extLst>
          </p:cNvPr>
          <p:cNvSpPr txBox="1"/>
          <p:nvPr/>
        </p:nvSpPr>
        <p:spPr>
          <a:xfrm>
            <a:off x="9009555" y="6306485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(B</a:t>
            </a:r>
            <a:r>
              <a:rPr kumimoji="1" lang="zh-CN" altLang="en-US" b="1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 S, H)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C3BE6080-F61C-4D37-0DB2-21DCC9924003}"/>
              </a:ext>
            </a:extLst>
          </p:cNvPr>
          <p:cNvGrpSpPr/>
          <p:nvPr/>
        </p:nvGrpSpPr>
        <p:grpSpPr>
          <a:xfrm>
            <a:off x="1005545" y="3714261"/>
            <a:ext cx="9696530" cy="2497772"/>
            <a:chOff x="921201" y="3051812"/>
            <a:chExt cx="9696530" cy="2497772"/>
          </a:xfrm>
        </p:grpSpPr>
        <p:sp>
          <p:nvSpPr>
            <p:cNvPr id="75" name="圆角矩形 74">
              <a:extLst>
                <a:ext uri="{FF2B5EF4-FFF2-40B4-BE49-F238E27FC236}">
                  <a16:creationId xmlns:a16="http://schemas.microsoft.com/office/drawing/2014/main" id="{6CB17429-C2AE-D3AD-083A-BF9267D56183}"/>
                </a:ext>
              </a:extLst>
            </p:cNvPr>
            <p:cNvSpPr/>
            <p:nvPr/>
          </p:nvSpPr>
          <p:spPr>
            <a:xfrm rot="16200000">
              <a:off x="4520581" y="-547566"/>
              <a:ext cx="2497770" cy="9696530"/>
            </a:xfrm>
            <a:prstGeom prst="roundRect">
              <a:avLst/>
            </a:prstGeom>
            <a:solidFill>
              <a:schemeClr val="bg1"/>
            </a:solidFill>
            <a:ln>
              <a:prstDash val="dash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D6DB352F-71E6-9FE3-C38C-ACD3CD5B02AD}"/>
                </a:ext>
              </a:extLst>
            </p:cNvPr>
            <p:cNvGrpSpPr/>
            <p:nvPr/>
          </p:nvGrpSpPr>
          <p:grpSpPr>
            <a:xfrm>
              <a:off x="2150038" y="3563305"/>
              <a:ext cx="800100" cy="799200"/>
              <a:chOff x="6361720" y="3105434"/>
              <a:chExt cx="800100" cy="799200"/>
            </a:xfrm>
          </p:grpSpPr>
          <p:sp>
            <p:nvSpPr>
              <p:cNvPr id="106" name="矩形 105">
                <a:extLst>
                  <a:ext uri="{FF2B5EF4-FFF2-40B4-BE49-F238E27FC236}">
                    <a16:creationId xmlns:a16="http://schemas.microsoft.com/office/drawing/2014/main" id="{D3B95EAE-17EA-84DD-6C4B-5C3FE957A098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Q</a:t>
                </a:r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A1CA3D8E-4D50-F1D8-100C-8238B881D558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2B89ED51-7734-AF4A-88E1-F598CF996FDB}"/>
                </a:ext>
              </a:extLst>
            </p:cNvPr>
            <p:cNvGrpSpPr/>
            <p:nvPr/>
          </p:nvGrpSpPr>
          <p:grpSpPr>
            <a:xfrm>
              <a:off x="2150038" y="4624942"/>
              <a:ext cx="800100" cy="799200"/>
              <a:chOff x="6361720" y="3105434"/>
              <a:chExt cx="800100" cy="799200"/>
            </a:xfrm>
          </p:grpSpPr>
          <p:sp>
            <p:nvSpPr>
              <p:cNvPr id="104" name="矩形 103">
                <a:extLst>
                  <a:ext uri="{FF2B5EF4-FFF2-40B4-BE49-F238E27FC236}">
                    <a16:creationId xmlns:a16="http://schemas.microsoft.com/office/drawing/2014/main" id="{953F8AFB-59BD-DC2C-30A9-01B05821F6DB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K</a:t>
                </a:r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5" name="矩形 104">
                <a:extLst>
                  <a:ext uri="{FF2B5EF4-FFF2-40B4-BE49-F238E27FC236}">
                    <a16:creationId xmlns:a16="http://schemas.microsoft.com/office/drawing/2014/main" id="{93681D19-A545-8ED5-12ED-F6A46040AA36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2B400151-081D-E828-3BE4-0776019796B6}"/>
                </a:ext>
              </a:extLst>
            </p:cNvPr>
            <p:cNvGrpSpPr/>
            <p:nvPr/>
          </p:nvGrpSpPr>
          <p:grpSpPr>
            <a:xfrm>
              <a:off x="1034001" y="4096879"/>
              <a:ext cx="800100" cy="799200"/>
              <a:chOff x="6361720" y="3105434"/>
              <a:chExt cx="800100" cy="799200"/>
            </a:xfrm>
          </p:grpSpPr>
          <p:sp>
            <p:nvSpPr>
              <p:cNvPr id="102" name="矩形 101">
                <a:extLst>
                  <a:ext uri="{FF2B5EF4-FFF2-40B4-BE49-F238E27FC236}">
                    <a16:creationId xmlns:a16="http://schemas.microsoft.com/office/drawing/2014/main" id="{BF38984D-DDDE-5AE4-9F67-FF0AF5830BCD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 sz="1600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V</a:t>
                </a:r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3" name="矩形 102">
                <a:extLst>
                  <a:ext uri="{FF2B5EF4-FFF2-40B4-BE49-F238E27FC236}">
                    <a16:creationId xmlns:a16="http://schemas.microsoft.com/office/drawing/2014/main" id="{8D0FA159-C5F4-356E-5E3D-7AA89A7C09A6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BF293FC-8D13-1FBA-4FAF-971926B0D0E1}"/>
                    </a:ext>
                  </a:extLst>
                </p:cNvPr>
                <p:cNvSpPr txBox="1"/>
                <p:nvPr/>
              </p:nvSpPr>
              <p:spPr>
                <a:xfrm>
                  <a:off x="3346805" y="4311813"/>
                  <a:ext cx="33866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1BF293FC-8D13-1FBA-4FAF-971926B0D0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6805" y="4311813"/>
                  <a:ext cx="338663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0" name="肘形连接符 79">
              <a:extLst>
                <a:ext uri="{FF2B5EF4-FFF2-40B4-BE49-F238E27FC236}">
                  <a16:creationId xmlns:a16="http://schemas.microsoft.com/office/drawing/2014/main" id="{4C38EFE6-3446-6EAF-D3BE-3A66BC4B784A}"/>
                </a:ext>
              </a:extLst>
            </p:cNvPr>
            <p:cNvCxnSpPr>
              <a:cxnSpLocks/>
              <a:stCxn id="107" idx="3"/>
              <a:endCxn id="79" idx="0"/>
            </p:cNvCxnSpPr>
            <p:nvPr/>
          </p:nvCxnSpPr>
          <p:spPr>
            <a:xfrm>
              <a:off x="2950138" y="3962905"/>
              <a:ext cx="565999" cy="348908"/>
            </a:xfrm>
            <a:prstGeom prst="bentConnector2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肘形连接符 80">
              <a:extLst>
                <a:ext uri="{FF2B5EF4-FFF2-40B4-BE49-F238E27FC236}">
                  <a16:creationId xmlns:a16="http://schemas.microsoft.com/office/drawing/2014/main" id="{70EEC38E-378C-F884-1AEC-AD3E91E59165}"/>
                </a:ext>
              </a:extLst>
            </p:cNvPr>
            <p:cNvCxnSpPr>
              <a:cxnSpLocks/>
              <a:stCxn id="105" idx="3"/>
              <a:endCxn id="79" idx="2"/>
            </p:cNvCxnSpPr>
            <p:nvPr/>
          </p:nvCxnSpPr>
          <p:spPr>
            <a:xfrm flipV="1">
              <a:off x="2950138" y="4681145"/>
              <a:ext cx="565999" cy="343397"/>
            </a:xfrm>
            <a:prstGeom prst="bentConnector2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A3D833E-F226-FF5D-302B-0D24C6524656}"/>
                    </a:ext>
                  </a:extLst>
                </p:cNvPr>
                <p:cNvSpPr txBox="1"/>
                <p:nvPr/>
              </p:nvSpPr>
              <p:spPr>
                <a:xfrm>
                  <a:off x="5182122" y="4311813"/>
                  <a:ext cx="31298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A3D833E-F226-FF5D-302B-0D24C65246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2122" y="4311813"/>
                  <a:ext cx="312984" cy="369332"/>
                </a:xfrm>
                <a:prstGeom prst="rect">
                  <a:avLst/>
                </a:prstGeom>
                <a:blipFill>
                  <a:blip r:embed="rId4"/>
                  <a:stretch>
                    <a:fillRect r="-39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肘形连接符 82">
              <a:extLst>
                <a:ext uri="{FF2B5EF4-FFF2-40B4-BE49-F238E27FC236}">
                  <a16:creationId xmlns:a16="http://schemas.microsoft.com/office/drawing/2014/main" id="{05C2894D-0268-8CE6-4863-FFC531364C08}"/>
                </a:ext>
              </a:extLst>
            </p:cNvPr>
            <p:cNvCxnSpPr>
              <a:cxnSpLocks/>
              <a:stCxn id="103" idx="0"/>
              <a:endCxn id="82" idx="0"/>
            </p:cNvCxnSpPr>
            <p:nvPr/>
          </p:nvCxnSpPr>
          <p:spPr>
            <a:xfrm rot="16200000" flipH="1">
              <a:off x="3278865" y="2252065"/>
              <a:ext cx="214934" cy="3904563"/>
            </a:xfrm>
            <a:prstGeom prst="bentConnector3">
              <a:avLst>
                <a:gd name="adj1" fmla="val -324983"/>
              </a:avLst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圆角矩形 83">
              <a:extLst>
                <a:ext uri="{FF2B5EF4-FFF2-40B4-BE49-F238E27FC236}">
                  <a16:creationId xmlns:a16="http://schemas.microsoft.com/office/drawing/2014/main" id="{45BB331D-5567-7FB0-FCC4-0801AA53D5BE}"/>
                </a:ext>
              </a:extLst>
            </p:cNvPr>
            <p:cNvSpPr/>
            <p:nvPr/>
          </p:nvSpPr>
          <p:spPr>
            <a:xfrm rot="5400000">
              <a:off x="3927421" y="4296679"/>
              <a:ext cx="1012748" cy="3996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i="1" err="1">
                  <a:latin typeface="Calibri" panose="020F0502020204030204" pitchFamily="34" charset="0"/>
                  <a:cs typeface="Calibri" panose="020F0502020204030204" pitchFamily="34" charset="0"/>
                </a:rPr>
                <a:t>Softmax</a:t>
              </a:r>
              <a:endParaRPr kumimoji="1" lang="zh-CN" altLang="en-US" i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85" name="组合 84">
              <a:extLst>
                <a:ext uri="{FF2B5EF4-FFF2-40B4-BE49-F238E27FC236}">
                  <a16:creationId xmlns:a16="http://schemas.microsoft.com/office/drawing/2014/main" id="{D26189DE-0E9E-C951-05A5-C85CFA6E9DBB}"/>
                </a:ext>
              </a:extLst>
            </p:cNvPr>
            <p:cNvGrpSpPr/>
            <p:nvPr/>
          </p:nvGrpSpPr>
          <p:grpSpPr>
            <a:xfrm>
              <a:off x="6043633" y="4096879"/>
              <a:ext cx="800100" cy="799200"/>
              <a:chOff x="6361720" y="3105434"/>
              <a:chExt cx="800100" cy="799200"/>
            </a:xfrm>
          </p:grpSpPr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FC5FBBD2-5478-0996-079F-C19F44EA786E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399600" cy="79920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100" name="矩形 99">
                <a:extLst>
                  <a:ext uri="{FF2B5EF4-FFF2-40B4-BE49-F238E27FC236}">
                    <a16:creationId xmlns:a16="http://schemas.microsoft.com/office/drawing/2014/main" id="{1CCA94CC-9375-7D61-AEDE-737DB4B16485}"/>
                  </a:ext>
                </a:extLst>
              </p:cNvPr>
              <p:cNvSpPr/>
              <p:nvPr/>
            </p:nvSpPr>
            <p:spPr>
              <a:xfrm>
                <a:off x="6361720" y="3105434"/>
                <a:ext cx="800100" cy="79920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  <a:prstDash val="dash"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7CBFC7BA-E5D0-855C-7474-2BCB7B158552}"/>
                </a:ext>
              </a:extLst>
            </p:cNvPr>
            <p:cNvGrpSpPr/>
            <p:nvPr/>
          </p:nvGrpSpPr>
          <p:grpSpPr>
            <a:xfrm>
              <a:off x="7392260" y="4100119"/>
              <a:ext cx="800100" cy="792721"/>
              <a:chOff x="7599243" y="3181714"/>
              <a:chExt cx="800100" cy="792721"/>
            </a:xfrm>
          </p:grpSpPr>
          <p:sp>
            <p:nvSpPr>
              <p:cNvPr id="97" name="圆角矩形 96">
                <a:extLst>
                  <a:ext uri="{FF2B5EF4-FFF2-40B4-BE49-F238E27FC236}">
                    <a16:creationId xmlns:a16="http://schemas.microsoft.com/office/drawing/2014/main" id="{3386634B-E5F1-C97E-F387-21856B6963E3}"/>
                  </a:ext>
                </a:extLst>
              </p:cNvPr>
              <p:cNvSpPr/>
              <p:nvPr/>
            </p:nvSpPr>
            <p:spPr>
              <a:xfrm>
                <a:off x="7601792" y="3185243"/>
                <a:ext cx="797551" cy="406692"/>
              </a:xfrm>
              <a:prstGeom prst="round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98" name="圆角矩形 97">
                <a:extLst>
                  <a:ext uri="{FF2B5EF4-FFF2-40B4-BE49-F238E27FC236}">
                    <a16:creationId xmlns:a16="http://schemas.microsoft.com/office/drawing/2014/main" id="{A22F5320-E219-A0AD-5342-8E3EF05DA0FD}"/>
                  </a:ext>
                </a:extLst>
              </p:cNvPr>
              <p:cNvSpPr/>
              <p:nvPr/>
            </p:nvSpPr>
            <p:spPr>
              <a:xfrm>
                <a:off x="7599243" y="3181714"/>
                <a:ext cx="800100" cy="792721"/>
              </a:xfrm>
              <a:prstGeom prst="roundRect">
                <a:avLst/>
              </a:prstGeom>
              <a:noFill/>
              <a:ln>
                <a:solidFill>
                  <a:schemeClr val="accent5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cxnSp>
          <p:nvCxnSpPr>
            <p:cNvPr id="87" name="直线箭头连接符 86">
              <a:extLst>
                <a:ext uri="{FF2B5EF4-FFF2-40B4-BE49-F238E27FC236}">
                  <a16:creationId xmlns:a16="http://schemas.microsoft.com/office/drawing/2014/main" id="{59EB2248-46DA-FE36-CB95-CA741B4CBE84}"/>
                </a:ext>
              </a:extLst>
            </p:cNvPr>
            <p:cNvCxnSpPr>
              <a:cxnSpLocks/>
              <a:stCxn id="79" idx="3"/>
              <a:endCxn id="84" idx="2"/>
            </p:cNvCxnSpPr>
            <p:nvPr/>
          </p:nvCxnSpPr>
          <p:spPr>
            <a:xfrm>
              <a:off x="3685468" y="4496479"/>
              <a:ext cx="548527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线箭头连接符 87">
              <a:extLst>
                <a:ext uri="{FF2B5EF4-FFF2-40B4-BE49-F238E27FC236}">
                  <a16:creationId xmlns:a16="http://schemas.microsoft.com/office/drawing/2014/main" id="{658FF7A8-89DD-A5E7-EEB6-3426375DC03D}"/>
                </a:ext>
              </a:extLst>
            </p:cNvPr>
            <p:cNvCxnSpPr>
              <a:cxnSpLocks/>
              <a:stCxn id="84" idx="0"/>
              <a:endCxn id="82" idx="1"/>
            </p:cNvCxnSpPr>
            <p:nvPr/>
          </p:nvCxnSpPr>
          <p:spPr>
            <a:xfrm>
              <a:off x="4633595" y="4496479"/>
              <a:ext cx="548527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线箭头连接符 88">
              <a:extLst>
                <a:ext uri="{FF2B5EF4-FFF2-40B4-BE49-F238E27FC236}">
                  <a16:creationId xmlns:a16="http://schemas.microsoft.com/office/drawing/2014/main" id="{40D06867-0CF9-902E-B2D9-C8BF2F583F83}"/>
                </a:ext>
              </a:extLst>
            </p:cNvPr>
            <p:cNvCxnSpPr>
              <a:cxnSpLocks/>
              <a:stCxn id="82" idx="3"/>
              <a:endCxn id="99" idx="1"/>
            </p:cNvCxnSpPr>
            <p:nvPr/>
          </p:nvCxnSpPr>
          <p:spPr>
            <a:xfrm>
              <a:off x="5495106" y="4496479"/>
              <a:ext cx="548527" cy="0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7076CCEB-0E1F-0690-F6EA-1C7010D7C58F}"/>
                </a:ext>
              </a:extLst>
            </p:cNvPr>
            <p:cNvCxnSpPr>
              <a:cxnSpLocks/>
              <a:stCxn id="100" idx="3"/>
              <a:endCxn id="98" idx="1"/>
            </p:cNvCxnSpPr>
            <p:nvPr/>
          </p:nvCxnSpPr>
          <p:spPr>
            <a:xfrm>
              <a:off x="6843733" y="4496479"/>
              <a:ext cx="548527" cy="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D87964BD-5060-71A9-B54B-4861DE9520BA}"/>
                </a:ext>
              </a:extLst>
            </p:cNvPr>
            <p:cNvCxnSpPr>
              <a:cxnSpLocks/>
              <a:stCxn id="98" idx="3"/>
              <a:endCxn id="92" idx="1"/>
            </p:cNvCxnSpPr>
            <p:nvPr/>
          </p:nvCxnSpPr>
          <p:spPr>
            <a:xfrm flipV="1">
              <a:off x="8192360" y="4496479"/>
              <a:ext cx="561885" cy="1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3DBE0EAD-442B-17EB-0516-82E87675134E}"/>
                </a:ext>
              </a:extLst>
            </p:cNvPr>
            <p:cNvSpPr/>
            <p:nvPr/>
          </p:nvSpPr>
          <p:spPr>
            <a:xfrm>
              <a:off x="8754245" y="4096879"/>
              <a:ext cx="8001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Data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2C0D54A5-073B-9C48-8175-03F7FBCCD81A}"/>
                </a:ext>
              </a:extLst>
            </p:cNvPr>
            <p:cNvSpPr txBox="1"/>
            <p:nvPr/>
          </p:nvSpPr>
          <p:spPr>
            <a:xfrm>
              <a:off x="5044169" y="3051812"/>
              <a:ext cx="979805" cy="3384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>
                  <a:latin typeface="Calibri" panose="020F0502020204030204" pitchFamily="34" charset="0"/>
                  <a:cs typeface="Calibri" panose="020F0502020204030204" pitchFamily="34" charset="0"/>
                </a:rPr>
                <a:t>Device</a:t>
              </a:r>
              <a:r>
                <a:rPr kumimoji="1" lang="zh-CN" altLang="en-US" sz="160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 sz="1600"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94" name="圆角矩形 93">
              <a:extLst>
                <a:ext uri="{FF2B5EF4-FFF2-40B4-BE49-F238E27FC236}">
                  <a16:creationId xmlns:a16="http://schemas.microsoft.com/office/drawing/2014/main" id="{99EA316E-5C65-281A-46F7-CE16F4201E52}"/>
                </a:ext>
              </a:extLst>
            </p:cNvPr>
            <p:cNvSpPr/>
            <p:nvPr/>
          </p:nvSpPr>
          <p:spPr>
            <a:xfrm>
              <a:off x="10168183" y="3730933"/>
              <a:ext cx="195289" cy="1528345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prstDash val="soli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i="1">
                  <a:latin typeface="Calibri" panose="020F0502020204030204" pitchFamily="34" charset="0"/>
                  <a:cs typeface="Calibri" panose="020F0502020204030204" pitchFamily="34" charset="0"/>
                </a:rPr>
                <a:t>g</a:t>
              </a:r>
              <a:endParaRPr kumimoji="1" lang="zh-CN" altLang="en-US" i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95" name="直线箭头连接符 94">
              <a:extLst>
                <a:ext uri="{FF2B5EF4-FFF2-40B4-BE49-F238E27FC236}">
                  <a16:creationId xmlns:a16="http://schemas.microsoft.com/office/drawing/2014/main" id="{4B06713F-F94D-F1D3-D750-A34A3D1373EC}"/>
                </a:ext>
              </a:extLst>
            </p:cNvPr>
            <p:cNvCxnSpPr>
              <a:cxnSpLocks/>
              <a:stCxn id="92" idx="3"/>
              <a:endCxn id="94" idx="1"/>
            </p:cNvCxnSpPr>
            <p:nvPr/>
          </p:nvCxnSpPr>
          <p:spPr>
            <a:xfrm flipV="1">
              <a:off x="9554345" y="4495106"/>
              <a:ext cx="613838" cy="1373"/>
            </a:xfrm>
            <a:prstGeom prst="straightConnector1">
              <a:avLst/>
            </a:prstGeom>
            <a:ln w="158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组合 107">
            <a:extLst>
              <a:ext uri="{FF2B5EF4-FFF2-40B4-BE49-F238E27FC236}">
                <a16:creationId xmlns:a16="http://schemas.microsoft.com/office/drawing/2014/main" id="{7CB0309A-F7B4-1786-97C8-F270E3F3E447}"/>
              </a:ext>
            </a:extLst>
          </p:cNvPr>
          <p:cNvGrpSpPr/>
          <p:nvPr/>
        </p:nvGrpSpPr>
        <p:grpSpPr>
          <a:xfrm>
            <a:off x="10392535" y="4332228"/>
            <a:ext cx="935325" cy="1354763"/>
            <a:chOff x="10335475" y="3690105"/>
            <a:chExt cx="935325" cy="1354763"/>
          </a:xfrm>
        </p:grpSpPr>
        <p:sp>
          <p:nvSpPr>
            <p:cNvPr id="109" name="左右箭头 108">
              <a:extLst>
                <a:ext uri="{FF2B5EF4-FFF2-40B4-BE49-F238E27FC236}">
                  <a16:creationId xmlns:a16="http://schemas.microsoft.com/office/drawing/2014/main" id="{CCF69E35-24F4-3C7E-833C-BA362C4662A9}"/>
                </a:ext>
              </a:extLst>
            </p:cNvPr>
            <p:cNvSpPr/>
            <p:nvPr/>
          </p:nvSpPr>
          <p:spPr>
            <a:xfrm rot="8220000">
              <a:off x="10335475" y="4092607"/>
              <a:ext cx="935325" cy="231768"/>
            </a:xfrm>
            <a:prstGeom prst="leftRightArrow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0" name="文本框 109">
              <a:extLst>
                <a:ext uri="{FF2B5EF4-FFF2-40B4-BE49-F238E27FC236}">
                  <a16:creationId xmlns:a16="http://schemas.microsoft.com/office/drawing/2014/main" id="{F271D28A-9133-A54B-C976-4D03F809BAB4}"/>
                </a:ext>
              </a:extLst>
            </p:cNvPr>
            <p:cNvSpPr txBox="1"/>
            <p:nvPr/>
          </p:nvSpPr>
          <p:spPr>
            <a:xfrm rot="18893151">
              <a:off x="10344091" y="4183337"/>
              <a:ext cx="1354763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All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Reduce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15C9DB5-878F-3687-2A22-1373C1198D2F}"/>
              </a:ext>
            </a:extLst>
          </p:cNvPr>
          <p:cNvGrpSpPr/>
          <p:nvPr/>
        </p:nvGrpSpPr>
        <p:grpSpPr>
          <a:xfrm>
            <a:off x="3581321" y="1820756"/>
            <a:ext cx="6168539" cy="853927"/>
            <a:chOff x="3352869" y="2067928"/>
            <a:chExt cx="6168539" cy="853927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71DA18-F12D-8369-BB1B-5BD7A541DFA7}"/>
                </a:ext>
              </a:extLst>
            </p:cNvPr>
            <p:cNvSpPr/>
            <p:nvPr/>
          </p:nvSpPr>
          <p:spPr>
            <a:xfrm>
              <a:off x="3352869" y="2122655"/>
              <a:ext cx="800100" cy="7992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6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endParaRPr kumimoji="1" lang="zh-CN" altLang="en-US" sz="160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4" name="圆角矩形 13">
              <a:extLst>
                <a:ext uri="{FF2B5EF4-FFF2-40B4-BE49-F238E27FC236}">
                  <a16:creationId xmlns:a16="http://schemas.microsoft.com/office/drawing/2014/main" id="{105D6F8B-F6BC-D852-6992-852775E198B5}"/>
                </a:ext>
              </a:extLst>
            </p:cNvPr>
            <p:cNvSpPr/>
            <p:nvPr/>
          </p:nvSpPr>
          <p:spPr>
            <a:xfrm>
              <a:off x="4516333" y="2121146"/>
              <a:ext cx="928299" cy="792721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en-US" altLang="zh-CN" baseline="30000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T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圆角矩形 14">
              <a:extLst>
                <a:ext uri="{FF2B5EF4-FFF2-40B4-BE49-F238E27FC236}">
                  <a16:creationId xmlns:a16="http://schemas.microsoft.com/office/drawing/2014/main" id="{C5CA77EF-1BFA-659F-9BDB-7F98F7BECFB6}"/>
                </a:ext>
              </a:extLst>
            </p:cNvPr>
            <p:cNvSpPr/>
            <p:nvPr/>
          </p:nvSpPr>
          <p:spPr>
            <a:xfrm>
              <a:off x="8721308" y="2067928"/>
              <a:ext cx="800100" cy="792721"/>
            </a:xfrm>
            <a:prstGeom prst="round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Q,K,V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68E1BD2-2DDE-384A-EFFB-0CBC07B270D2}"/>
                    </a:ext>
                  </a:extLst>
                </p:cNvPr>
                <p:cNvSpPr txBox="1"/>
                <p:nvPr/>
              </p:nvSpPr>
              <p:spPr>
                <a:xfrm>
                  <a:off x="8051064" y="231358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568E1BD2-2DDE-384A-EFFB-0CBC07B270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51064" y="2313581"/>
                  <a:ext cx="758535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0670EDE-D434-CA21-41A1-1B99932C8821}"/>
                    </a:ext>
                  </a:extLst>
                </p:cNvPr>
                <p:cNvSpPr txBox="1"/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oMath>
                    </m:oMathPara>
                  </a14:m>
                  <a:endParaRPr kumimoji="1" lang="zh-CN" altLang="en-US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0670EDE-D434-CA21-41A1-1B99932C88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4340" y="2382261"/>
                  <a:ext cx="758535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6A7C3D20-3CEE-4803-4927-1945FC749556}"/>
              </a:ext>
            </a:extLst>
          </p:cNvPr>
          <p:cNvGrpSpPr/>
          <p:nvPr/>
        </p:nvGrpSpPr>
        <p:grpSpPr>
          <a:xfrm>
            <a:off x="5891294" y="2688378"/>
            <a:ext cx="1739102" cy="732555"/>
            <a:chOff x="6058464" y="3041182"/>
            <a:chExt cx="1739102" cy="732555"/>
          </a:xfrm>
        </p:grpSpPr>
        <p:sp>
          <p:nvSpPr>
            <p:cNvPr id="24" name="下箭头 23">
              <a:extLst>
                <a:ext uri="{FF2B5EF4-FFF2-40B4-BE49-F238E27FC236}">
                  <a16:creationId xmlns:a16="http://schemas.microsoft.com/office/drawing/2014/main" id="{992C9A6B-55D0-EF93-C317-E7D8D7BE53E3}"/>
                </a:ext>
              </a:extLst>
            </p:cNvPr>
            <p:cNvSpPr/>
            <p:nvPr/>
          </p:nvSpPr>
          <p:spPr>
            <a:xfrm>
              <a:off x="6058464" y="3041182"/>
              <a:ext cx="284755" cy="647093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5949B166-3053-10DA-530B-428EC3B0FD74}"/>
                </a:ext>
              </a:extLst>
            </p:cNvPr>
            <p:cNvSpPr txBox="1"/>
            <p:nvPr/>
          </p:nvSpPr>
          <p:spPr>
            <a:xfrm>
              <a:off x="6246757" y="3127406"/>
              <a:ext cx="155080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Tensor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parallel</a:t>
              </a:r>
            </a:p>
            <a:p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60A3AF8-190C-C7E1-6167-A8FCE65F7971}"/>
                  </a:ext>
                </a:extLst>
              </p:cNvPr>
              <p:cNvSpPr txBox="1"/>
              <p:nvPr/>
            </p:nvSpPr>
            <p:spPr>
              <a:xfrm>
                <a:off x="5849883" y="2084203"/>
                <a:ext cx="41964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60A3AF8-190C-C7E1-6167-A8FCE65F79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9883" y="2084203"/>
                <a:ext cx="419641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圆角矩形 30">
            <a:extLst>
              <a:ext uri="{FF2B5EF4-FFF2-40B4-BE49-F238E27FC236}">
                <a16:creationId xmlns:a16="http://schemas.microsoft.com/office/drawing/2014/main" id="{9584B813-D5D0-BE60-94EB-D9C510EC4A95}"/>
              </a:ext>
            </a:extLst>
          </p:cNvPr>
          <p:cNvSpPr/>
          <p:nvPr/>
        </p:nvSpPr>
        <p:spPr>
          <a:xfrm>
            <a:off x="6227462" y="1850526"/>
            <a:ext cx="928299" cy="7927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35A2BF-8EBB-D232-7344-E59021DCB6F8}"/>
                  </a:ext>
                </a:extLst>
              </p:cNvPr>
              <p:cNvSpPr txBox="1"/>
              <p:nvPr/>
            </p:nvSpPr>
            <p:spPr>
              <a:xfrm>
                <a:off x="7113699" y="2045212"/>
                <a:ext cx="5027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kumimoji="1" lang="zh-CN" altLang="en-US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735A2BF-8EBB-D232-7344-E59021DCB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3699" y="2045212"/>
                <a:ext cx="502712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圆角矩形 37">
            <a:extLst>
              <a:ext uri="{FF2B5EF4-FFF2-40B4-BE49-F238E27FC236}">
                <a16:creationId xmlns:a16="http://schemas.microsoft.com/office/drawing/2014/main" id="{C872F5AD-AE1F-11B1-0669-B334E3BB5FFD}"/>
              </a:ext>
            </a:extLst>
          </p:cNvPr>
          <p:cNvSpPr/>
          <p:nvPr/>
        </p:nvSpPr>
        <p:spPr>
          <a:xfrm>
            <a:off x="7508166" y="1840443"/>
            <a:ext cx="928299" cy="792721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Wo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737AA127-773C-429C-07F5-05D8BF97CEDE}"/>
              </a:ext>
            </a:extLst>
          </p:cNvPr>
          <p:cNvSpPr/>
          <p:nvPr/>
        </p:nvSpPr>
        <p:spPr>
          <a:xfrm>
            <a:off x="2296735" y="2076892"/>
            <a:ext cx="1012748" cy="3996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>
            <a:prstDash val="soli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i="1" err="1">
                <a:latin typeface="Calibri" panose="020F0502020204030204" pitchFamily="34" charset="0"/>
                <a:cs typeface="Calibri" panose="020F0502020204030204" pitchFamily="34" charset="0"/>
              </a:rPr>
              <a:t>Softmax</a:t>
            </a:r>
            <a:endParaRPr kumimoji="1" lang="zh-CN" altLang="en-US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BFDE6DD2-07A4-1D22-89F5-1BC2B0475852}"/>
              </a:ext>
            </a:extLst>
          </p:cNvPr>
          <p:cNvSpPr txBox="1"/>
          <p:nvPr/>
        </p:nvSpPr>
        <p:spPr>
          <a:xfrm flipH="1">
            <a:off x="3283624" y="1982616"/>
            <a:ext cx="633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2CBFD6F-FE10-431E-6B2B-673F74A41144}"/>
              </a:ext>
            </a:extLst>
          </p:cNvPr>
          <p:cNvSpPr txBox="1"/>
          <p:nvPr/>
        </p:nvSpPr>
        <p:spPr>
          <a:xfrm flipH="1">
            <a:off x="5695943" y="1982616"/>
            <a:ext cx="614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A2211EE-22EF-F7B4-3D6F-0C959771F062}"/>
              </a:ext>
            </a:extLst>
          </p:cNvPr>
          <p:cNvSpPr/>
          <p:nvPr/>
        </p:nvSpPr>
        <p:spPr>
          <a:xfrm>
            <a:off x="767000" y="3782908"/>
            <a:ext cx="6542374" cy="2345248"/>
          </a:xfrm>
          <a:prstGeom prst="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993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45E8DE7-F429-D59C-8221-FAA9F0817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3AD4A3F-F0B9-BFD8-FE41-DE8F957F3F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6410" y="979068"/>
            <a:ext cx="11705590" cy="1061720"/>
          </a:xfrm>
        </p:spPr>
        <p:txBody>
          <a:bodyPr>
            <a:normAutofit fontScale="90000"/>
          </a:bodyPr>
          <a:lstStyle/>
          <a:p>
            <a:r>
              <a:rPr kumimoji="1" lang="en-US" altLang="zh-CN"/>
              <a:t>Sequence</a:t>
            </a:r>
            <a:r>
              <a:rPr kumimoji="1" lang="zh-CN" altLang="en-US"/>
              <a:t> </a:t>
            </a:r>
            <a:r>
              <a:rPr kumimoji="1" lang="en-US" altLang="zh-CN"/>
              <a:t>parallelism (Ulysses)</a:t>
            </a:r>
          </a:p>
          <a:p>
            <a:pPr lvl="1"/>
            <a:r>
              <a:rPr kumimoji="1" lang="en-US" altLang="zh-CN"/>
              <a:t>SP</a:t>
            </a:r>
            <a:r>
              <a:rPr kumimoji="1" lang="zh-CN" altLang="en-US"/>
              <a:t> </a:t>
            </a:r>
            <a:r>
              <a:rPr kumimoji="1" lang="en" altLang="zh-CN"/>
              <a:t>partitions input along the sequence dim</a:t>
            </a:r>
            <a:r>
              <a:rPr kumimoji="1" lang="zh-CN" altLang="en-US"/>
              <a:t> </a:t>
            </a:r>
            <a:r>
              <a:rPr kumimoji="1" lang="en" altLang="zh-CN"/>
              <a:t>while keeping the weights unchanged </a:t>
            </a:r>
            <a:endParaRPr kumimoji="1" lang="en-US" altLang="zh-CN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E63F0DE8-2374-6A5C-0D7E-EFCDCCDF5CB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403172" y="6424333"/>
            <a:ext cx="381001" cy="300555"/>
          </a:xfrm>
        </p:spPr>
        <p:txBody>
          <a:bodyPr/>
          <a:lstStyle/>
          <a:p>
            <a:fld id="{86CB4B4D-7CA3-9044-876B-883B54F8677D}" type="slidenum">
              <a:rPr lang="en-US" altLang="zh-CN" smtClean="0">
                <a:latin typeface="Calibri" panose="020F0502020204030204" pitchFamily="34" charset="0"/>
                <a:cs typeface="Calibri" panose="020F0502020204030204" pitchFamily="34" charset="0"/>
              </a:rPr>
              <a:t>41</a:t>
            </a:fld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97BE0EC5-7AD2-C87C-B758-23E9025A7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570" y="283937"/>
            <a:ext cx="11759918" cy="688516"/>
          </a:xfrm>
        </p:spPr>
        <p:txBody>
          <a:bodyPr/>
          <a:lstStyle/>
          <a:p>
            <a:r>
              <a:rPr kumimoji="1" lang="en-US" altLang="zh-CN"/>
              <a:t>Background</a:t>
            </a:r>
            <a:endParaRPr kumimoji="1" lang="zh-CN" altLang="en-US"/>
          </a:p>
        </p:txBody>
      </p:sp>
      <p:sp>
        <p:nvSpPr>
          <p:cNvPr id="28" name="AutoShape 2">
            <a:extLst>
              <a:ext uri="{FF2B5EF4-FFF2-40B4-BE49-F238E27FC236}">
                <a16:creationId xmlns:a16="http://schemas.microsoft.com/office/drawing/2014/main" id="{B09F723A-8442-B1C2-530F-66F58DB595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31787" y="283937"/>
            <a:ext cx="115284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27" name="组合 126">
            <a:extLst>
              <a:ext uri="{FF2B5EF4-FFF2-40B4-BE49-F238E27FC236}">
                <a16:creationId xmlns:a16="http://schemas.microsoft.com/office/drawing/2014/main" id="{5C663BE8-4194-9F83-1B85-205163178130}"/>
              </a:ext>
            </a:extLst>
          </p:cNvPr>
          <p:cNvGrpSpPr/>
          <p:nvPr/>
        </p:nvGrpSpPr>
        <p:grpSpPr>
          <a:xfrm>
            <a:off x="-54351" y="3964344"/>
            <a:ext cx="1129861" cy="1024303"/>
            <a:chOff x="-137481" y="3964344"/>
            <a:chExt cx="1129861" cy="1024303"/>
          </a:xfrm>
        </p:grpSpPr>
        <p:sp>
          <p:nvSpPr>
            <p:cNvPr id="622" name="圆角矩形 621">
              <a:extLst>
                <a:ext uri="{FF2B5EF4-FFF2-40B4-BE49-F238E27FC236}">
                  <a16:creationId xmlns:a16="http://schemas.microsoft.com/office/drawing/2014/main" id="{D266C5A3-8848-BCE5-1F9F-D7BEF58C0599}"/>
                </a:ext>
              </a:extLst>
            </p:cNvPr>
            <p:cNvSpPr/>
            <p:nvPr/>
          </p:nvSpPr>
          <p:spPr>
            <a:xfrm>
              <a:off x="662180" y="3964344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3" name="圆角矩形 622">
              <a:extLst>
                <a:ext uri="{FF2B5EF4-FFF2-40B4-BE49-F238E27FC236}">
                  <a16:creationId xmlns:a16="http://schemas.microsoft.com/office/drawing/2014/main" id="{3800ABD0-C2CB-8F92-CE58-5B0003CF34DB}"/>
                </a:ext>
              </a:extLst>
            </p:cNvPr>
            <p:cNvSpPr/>
            <p:nvPr/>
          </p:nvSpPr>
          <p:spPr>
            <a:xfrm>
              <a:off x="331980" y="3964344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4" name="圆角矩形 623">
              <a:extLst>
                <a:ext uri="{FF2B5EF4-FFF2-40B4-BE49-F238E27FC236}">
                  <a16:creationId xmlns:a16="http://schemas.microsoft.com/office/drawing/2014/main" id="{57057309-A78F-C5D1-8048-9293EC865905}"/>
                </a:ext>
              </a:extLst>
            </p:cNvPr>
            <p:cNvSpPr/>
            <p:nvPr/>
          </p:nvSpPr>
          <p:spPr>
            <a:xfrm>
              <a:off x="662180" y="4285982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5" name="圆角矩形 624">
              <a:extLst>
                <a:ext uri="{FF2B5EF4-FFF2-40B4-BE49-F238E27FC236}">
                  <a16:creationId xmlns:a16="http://schemas.microsoft.com/office/drawing/2014/main" id="{D95D2B20-35A8-40DC-52DE-073B7E484207}"/>
                </a:ext>
              </a:extLst>
            </p:cNvPr>
            <p:cNvSpPr/>
            <p:nvPr/>
          </p:nvSpPr>
          <p:spPr>
            <a:xfrm>
              <a:off x="331980" y="4285982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6" name="文本框 625">
              <a:extLst>
                <a:ext uri="{FF2B5EF4-FFF2-40B4-BE49-F238E27FC236}">
                  <a16:creationId xmlns:a16="http://schemas.microsoft.com/office/drawing/2014/main" id="{5EF380D6-27E2-3A56-5BA4-1FCD9BAE51A1}"/>
                </a:ext>
              </a:extLst>
            </p:cNvPr>
            <p:cNvSpPr txBox="1"/>
            <p:nvPr/>
          </p:nvSpPr>
          <p:spPr>
            <a:xfrm>
              <a:off x="-137481" y="4115394"/>
              <a:ext cx="57854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Seq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7" name="文本框 626">
              <a:extLst>
                <a:ext uri="{FF2B5EF4-FFF2-40B4-BE49-F238E27FC236}">
                  <a16:creationId xmlns:a16="http://schemas.microsoft.com/office/drawing/2014/main" id="{DE84B1C0-345D-7F25-AEA5-94642A5ED244}"/>
                </a:ext>
              </a:extLst>
            </p:cNvPr>
            <p:cNvSpPr txBox="1"/>
            <p:nvPr/>
          </p:nvSpPr>
          <p:spPr>
            <a:xfrm>
              <a:off x="456990" y="4619315"/>
              <a:ext cx="4699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>
                  <a:latin typeface="Calibri" panose="020F0502020204030204" pitchFamily="34" charset="0"/>
                  <a:cs typeface="Calibri" panose="020F0502020204030204" pitchFamily="34" charset="0"/>
                </a:rPr>
                <a:t>D</a:t>
              </a:r>
              <a:endParaRPr kumimoji="1" lang="zh-CN" altLang="en-US" b="1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15" name="文本框 514">
            <a:extLst>
              <a:ext uri="{FF2B5EF4-FFF2-40B4-BE49-F238E27FC236}">
                <a16:creationId xmlns:a16="http://schemas.microsoft.com/office/drawing/2014/main" id="{6DE7833D-6B67-874E-7772-938ACFE9976E}"/>
              </a:ext>
            </a:extLst>
          </p:cNvPr>
          <p:cNvSpPr txBox="1"/>
          <p:nvPr/>
        </p:nvSpPr>
        <p:spPr>
          <a:xfrm>
            <a:off x="4386403" y="4075594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67" name="组合 566">
            <a:extLst>
              <a:ext uri="{FF2B5EF4-FFF2-40B4-BE49-F238E27FC236}">
                <a16:creationId xmlns:a16="http://schemas.microsoft.com/office/drawing/2014/main" id="{152815E7-DDEC-B8A9-6DA7-BAAA8F9780DA}"/>
              </a:ext>
            </a:extLst>
          </p:cNvPr>
          <p:cNvGrpSpPr/>
          <p:nvPr/>
        </p:nvGrpSpPr>
        <p:grpSpPr>
          <a:xfrm>
            <a:off x="1385762" y="3098926"/>
            <a:ext cx="661988" cy="331200"/>
            <a:chOff x="367636" y="2409445"/>
            <a:chExt cx="661988" cy="331200"/>
          </a:xfrm>
        </p:grpSpPr>
        <p:sp>
          <p:nvSpPr>
            <p:cNvPr id="620" name="圆角矩形 619">
              <a:extLst>
                <a:ext uri="{FF2B5EF4-FFF2-40B4-BE49-F238E27FC236}">
                  <a16:creationId xmlns:a16="http://schemas.microsoft.com/office/drawing/2014/main" id="{7F8B441E-D6E3-7400-3825-4F1E7F3C4049}"/>
                </a:ext>
              </a:extLst>
            </p:cNvPr>
            <p:cNvSpPr/>
            <p:nvPr/>
          </p:nvSpPr>
          <p:spPr>
            <a:xfrm>
              <a:off x="367636" y="240944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1" name="圆角矩形 620">
              <a:extLst>
                <a:ext uri="{FF2B5EF4-FFF2-40B4-BE49-F238E27FC236}">
                  <a16:creationId xmlns:a16="http://schemas.microsoft.com/office/drawing/2014/main" id="{A77D2222-38A3-FE8E-9D0F-CDE9122B3460}"/>
                </a:ext>
              </a:extLst>
            </p:cNvPr>
            <p:cNvSpPr/>
            <p:nvPr/>
          </p:nvSpPr>
          <p:spPr>
            <a:xfrm>
              <a:off x="699424" y="240944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68" name="图形 567" descr="关闭 纯色填充">
            <a:extLst>
              <a:ext uri="{FF2B5EF4-FFF2-40B4-BE49-F238E27FC236}">
                <a16:creationId xmlns:a16="http://schemas.microsoft.com/office/drawing/2014/main" id="{2370B10C-9D54-B855-D1C2-2DC3DA3F0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1100" y="3090283"/>
            <a:ext cx="331200" cy="331200"/>
          </a:xfrm>
          <a:prstGeom prst="rect">
            <a:avLst/>
          </a:prstGeom>
        </p:spPr>
      </p:pic>
      <p:grpSp>
        <p:nvGrpSpPr>
          <p:cNvPr id="569" name="组合 568">
            <a:extLst>
              <a:ext uri="{FF2B5EF4-FFF2-40B4-BE49-F238E27FC236}">
                <a16:creationId xmlns:a16="http://schemas.microsoft.com/office/drawing/2014/main" id="{B29E564E-2365-481E-5126-86B360BC3301}"/>
              </a:ext>
            </a:extLst>
          </p:cNvPr>
          <p:cNvGrpSpPr/>
          <p:nvPr/>
        </p:nvGrpSpPr>
        <p:grpSpPr>
          <a:xfrm>
            <a:off x="4396742" y="2877025"/>
            <a:ext cx="878756" cy="1125553"/>
            <a:chOff x="5093587" y="2151979"/>
            <a:chExt cx="878756" cy="1125553"/>
          </a:xfrm>
        </p:grpSpPr>
        <p:sp>
          <p:nvSpPr>
            <p:cNvPr id="613" name="圆角矩形 612">
              <a:extLst>
                <a:ext uri="{FF2B5EF4-FFF2-40B4-BE49-F238E27FC236}">
                  <a16:creationId xmlns:a16="http://schemas.microsoft.com/office/drawing/2014/main" id="{E0E9FACC-4904-DD3A-DC00-FCF958ACCC74}"/>
                </a:ext>
              </a:extLst>
            </p:cNvPr>
            <p:cNvSpPr/>
            <p:nvPr/>
          </p:nvSpPr>
          <p:spPr>
            <a:xfrm>
              <a:off x="5310355" y="2151979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4" name="圆角矩形 613">
              <a:extLst>
                <a:ext uri="{FF2B5EF4-FFF2-40B4-BE49-F238E27FC236}">
                  <a16:creationId xmlns:a16="http://schemas.microsoft.com/office/drawing/2014/main" id="{7BD63EF3-7BDA-5037-F6AF-15F70C6A408B}"/>
                </a:ext>
              </a:extLst>
            </p:cNvPr>
            <p:cNvSpPr/>
            <p:nvPr/>
          </p:nvSpPr>
          <p:spPr>
            <a:xfrm>
              <a:off x="5642143" y="2151979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5" name="圆角矩形 614">
              <a:extLst>
                <a:ext uri="{FF2B5EF4-FFF2-40B4-BE49-F238E27FC236}">
                  <a16:creationId xmlns:a16="http://schemas.microsoft.com/office/drawing/2014/main" id="{49950007-5F66-F7F5-8A2A-17FD5A8F3492}"/>
                </a:ext>
              </a:extLst>
            </p:cNvPr>
            <p:cNvSpPr/>
            <p:nvPr/>
          </p:nvSpPr>
          <p:spPr>
            <a:xfrm>
              <a:off x="5220171" y="229992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6" name="圆角矩形 615">
              <a:extLst>
                <a:ext uri="{FF2B5EF4-FFF2-40B4-BE49-F238E27FC236}">
                  <a16:creationId xmlns:a16="http://schemas.microsoft.com/office/drawing/2014/main" id="{80FB51D1-F638-379C-5BBF-A60A67EE6AC4}"/>
                </a:ext>
              </a:extLst>
            </p:cNvPr>
            <p:cNvSpPr/>
            <p:nvPr/>
          </p:nvSpPr>
          <p:spPr>
            <a:xfrm>
              <a:off x="5551959" y="229992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7" name="圆角矩形 616">
              <a:extLst>
                <a:ext uri="{FF2B5EF4-FFF2-40B4-BE49-F238E27FC236}">
                  <a16:creationId xmlns:a16="http://schemas.microsoft.com/office/drawing/2014/main" id="{D008B3F2-3230-5425-34F9-806BA362C7B9}"/>
                </a:ext>
              </a:extLst>
            </p:cNvPr>
            <p:cNvSpPr/>
            <p:nvPr/>
          </p:nvSpPr>
          <p:spPr>
            <a:xfrm>
              <a:off x="5093587" y="246552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8" name="圆角矩形 617">
              <a:extLst>
                <a:ext uri="{FF2B5EF4-FFF2-40B4-BE49-F238E27FC236}">
                  <a16:creationId xmlns:a16="http://schemas.microsoft.com/office/drawing/2014/main" id="{D82792F3-3EDB-F289-4543-E26CDF2C167E}"/>
                </a:ext>
              </a:extLst>
            </p:cNvPr>
            <p:cNvSpPr/>
            <p:nvPr/>
          </p:nvSpPr>
          <p:spPr>
            <a:xfrm>
              <a:off x="5425375" y="2465525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9" name="文本框 618">
              <a:extLst>
                <a:ext uri="{FF2B5EF4-FFF2-40B4-BE49-F238E27FC236}">
                  <a16:creationId xmlns:a16="http://schemas.microsoft.com/office/drawing/2014/main" id="{15A2E903-6D14-6BFF-BAA6-D43E785BA6B3}"/>
                </a:ext>
              </a:extLst>
            </p:cNvPr>
            <p:cNvSpPr txBox="1"/>
            <p:nvPr/>
          </p:nvSpPr>
          <p:spPr>
            <a:xfrm>
              <a:off x="5159368" y="2908200"/>
              <a:ext cx="7134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Q K 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0" name="组合 569">
            <a:extLst>
              <a:ext uri="{FF2B5EF4-FFF2-40B4-BE49-F238E27FC236}">
                <a16:creationId xmlns:a16="http://schemas.microsoft.com/office/drawing/2014/main" id="{29FCC6A3-648D-D5EF-403F-B625DF27DBE1}"/>
              </a:ext>
            </a:extLst>
          </p:cNvPr>
          <p:cNvGrpSpPr/>
          <p:nvPr/>
        </p:nvGrpSpPr>
        <p:grpSpPr>
          <a:xfrm>
            <a:off x="2650568" y="2839913"/>
            <a:ext cx="1269040" cy="1162665"/>
            <a:chOff x="2566455" y="2242960"/>
            <a:chExt cx="1269040" cy="1162665"/>
          </a:xfrm>
        </p:grpSpPr>
        <p:sp>
          <p:nvSpPr>
            <p:cNvPr id="607" name="文本框 606">
              <a:extLst>
                <a:ext uri="{FF2B5EF4-FFF2-40B4-BE49-F238E27FC236}">
                  <a16:creationId xmlns:a16="http://schemas.microsoft.com/office/drawing/2014/main" id="{C73C957D-A146-70ED-C0B9-23C776085A68}"/>
                </a:ext>
              </a:extLst>
            </p:cNvPr>
            <p:cNvSpPr txBox="1"/>
            <p:nvPr/>
          </p:nvSpPr>
          <p:spPr>
            <a:xfrm>
              <a:off x="2566455" y="3036293"/>
              <a:ext cx="1269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W</a:t>
              </a:r>
              <a:r>
                <a:rPr kumimoji="1" lang="en-US" altLang="zh-CN" baseline="-25000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608" name="组合 607">
              <a:extLst>
                <a:ext uri="{FF2B5EF4-FFF2-40B4-BE49-F238E27FC236}">
                  <a16:creationId xmlns:a16="http://schemas.microsoft.com/office/drawing/2014/main" id="{A9DF7B59-F347-08F7-B0F4-289AA76F05D5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609" name="矩形 608">
                <a:extLst>
                  <a:ext uri="{FF2B5EF4-FFF2-40B4-BE49-F238E27FC236}">
                    <a16:creationId xmlns:a16="http://schemas.microsoft.com/office/drawing/2014/main" id="{72F9462F-F446-8997-8E5A-C4BC9439E892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0" name="矩形 609">
                <a:extLst>
                  <a:ext uri="{FF2B5EF4-FFF2-40B4-BE49-F238E27FC236}">
                    <a16:creationId xmlns:a16="http://schemas.microsoft.com/office/drawing/2014/main" id="{BC8779BB-3F94-791B-B380-4FFB03E69609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1" name="矩形 610">
                <a:extLst>
                  <a:ext uri="{FF2B5EF4-FFF2-40B4-BE49-F238E27FC236}">
                    <a16:creationId xmlns:a16="http://schemas.microsoft.com/office/drawing/2014/main" id="{8E3573AB-3BA6-F928-B19A-505A9D88D5D7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12" name="矩形 611">
                <a:extLst>
                  <a:ext uri="{FF2B5EF4-FFF2-40B4-BE49-F238E27FC236}">
                    <a16:creationId xmlns:a16="http://schemas.microsoft.com/office/drawing/2014/main" id="{837269E2-65E6-F156-DAC9-C831047A29C3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571" name="组合 570">
            <a:extLst>
              <a:ext uri="{FF2B5EF4-FFF2-40B4-BE49-F238E27FC236}">
                <a16:creationId xmlns:a16="http://schemas.microsoft.com/office/drawing/2014/main" id="{EDA89354-4523-433C-79CB-CF887E8AF9B8}"/>
              </a:ext>
            </a:extLst>
          </p:cNvPr>
          <p:cNvGrpSpPr/>
          <p:nvPr/>
        </p:nvGrpSpPr>
        <p:grpSpPr>
          <a:xfrm>
            <a:off x="5709729" y="2798809"/>
            <a:ext cx="697627" cy="1203770"/>
            <a:chOff x="7340255" y="2113925"/>
            <a:chExt cx="697627" cy="1203770"/>
          </a:xfrm>
        </p:grpSpPr>
        <p:grpSp>
          <p:nvGrpSpPr>
            <p:cNvPr id="599" name="组合 598">
              <a:extLst>
                <a:ext uri="{FF2B5EF4-FFF2-40B4-BE49-F238E27FC236}">
                  <a16:creationId xmlns:a16="http://schemas.microsoft.com/office/drawing/2014/main" id="{1CB84425-6EF5-7410-5CAF-EBE0D2D98292}"/>
                </a:ext>
              </a:extLst>
            </p:cNvPr>
            <p:cNvGrpSpPr/>
            <p:nvPr/>
          </p:nvGrpSpPr>
          <p:grpSpPr>
            <a:xfrm>
              <a:off x="7455094" y="2113925"/>
              <a:ext cx="568818" cy="833186"/>
              <a:chOff x="7164505" y="2114368"/>
              <a:chExt cx="568818" cy="833186"/>
            </a:xfrm>
          </p:grpSpPr>
          <p:sp>
            <p:nvSpPr>
              <p:cNvPr id="601" name="圆角矩形 600">
                <a:extLst>
                  <a:ext uri="{FF2B5EF4-FFF2-40B4-BE49-F238E27FC236}">
                    <a16:creationId xmlns:a16="http://schemas.microsoft.com/office/drawing/2014/main" id="{35C3F084-99AD-1B06-F3B6-3897D045403D}"/>
                  </a:ext>
                </a:extLst>
              </p:cNvPr>
              <p:cNvSpPr/>
              <p:nvPr/>
            </p:nvSpPr>
            <p:spPr>
              <a:xfrm>
                <a:off x="7400722" y="2114368"/>
                <a:ext cx="330200" cy="331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2" name="圆角矩形 601">
                <a:extLst>
                  <a:ext uri="{FF2B5EF4-FFF2-40B4-BE49-F238E27FC236}">
                    <a16:creationId xmlns:a16="http://schemas.microsoft.com/office/drawing/2014/main" id="{37E62B6B-E609-57D0-B384-35B8947C46C2}"/>
                  </a:ext>
                </a:extLst>
              </p:cNvPr>
              <p:cNvSpPr/>
              <p:nvPr/>
            </p:nvSpPr>
            <p:spPr>
              <a:xfrm>
                <a:off x="7403123" y="2450754"/>
                <a:ext cx="330200" cy="3312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3" name="圆角矩形 602">
                <a:extLst>
                  <a:ext uri="{FF2B5EF4-FFF2-40B4-BE49-F238E27FC236}">
                    <a16:creationId xmlns:a16="http://schemas.microsoft.com/office/drawing/2014/main" id="{6B43B92D-6520-3D48-440D-B7F7B45FBDE0}"/>
                  </a:ext>
                </a:extLst>
              </p:cNvPr>
              <p:cNvSpPr/>
              <p:nvPr/>
            </p:nvSpPr>
            <p:spPr>
              <a:xfrm>
                <a:off x="7287362" y="2199829"/>
                <a:ext cx="330200" cy="331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4" name="圆角矩形 603">
                <a:extLst>
                  <a:ext uri="{FF2B5EF4-FFF2-40B4-BE49-F238E27FC236}">
                    <a16:creationId xmlns:a16="http://schemas.microsoft.com/office/drawing/2014/main" id="{4D3BA255-0B06-8F82-75B1-585226C7EA0A}"/>
                  </a:ext>
                </a:extLst>
              </p:cNvPr>
              <p:cNvSpPr/>
              <p:nvPr/>
            </p:nvSpPr>
            <p:spPr>
              <a:xfrm>
                <a:off x="7289763" y="2536215"/>
                <a:ext cx="330200" cy="3312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5" name="圆角矩形 604">
                <a:extLst>
                  <a:ext uri="{FF2B5EF4-FFF2-40B4-BE49-F238E27FC236}">
                    <a16:creationId xmlns:a16="http://schemas.microsoft.com/office/drawing/2014/main" id="{C3323CC8-523B-08E6-47AE-D53124B44CA9}"/>
                  </a:ext>
                </a:extLst>
              </p:cNvPr>
              <p:cNvSpPr/>
              <p:nvPr/>
            </p:nvSpPr>
            <p:spPr>
              <a:xfrm>
                <a:off x="7164505" y="2279968"/>
                <a:ext cx="330200" cy="331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06" name="圆角矩形 605">
                <a:extLst>
                  <a:ext uri="{FF2B5EF4-FFF2-40B4-BE49-F238E27FC236}">
                    <a16:creationId xmlns:a16="http://schemas.microsoft.com/office/drawing/2014/main" id="{81D45AF9-5735-E86C-CC24-1EA5FC801CF0}"/>
                  </a:ext>
                </a:extLst>
              </p:cNvPr>
              <p:cNvSpPr/>
              <p:nvPr/>
            </p:nvSpPr>
            <p:spPr>
              <a:xfrm>
                <a:off x="7166906" y="2616354"/>
                <a:ext cx="330200" cy="331200"/>
              </a:xfrm>
              <a:prstGeom prst="round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00" name="文本框 599">
              <a:extLst>
                <a:ext uri="{FF2B5EF4-FFF2-40B4-BE49-F238E27FC236}">
                  <a16:creationId xmlns:a16="http://schemas.microsoft.com/office/drawing/2014/main" id="{F33CB91D-2905-62B7-A2C3-BC556D392C16}"/>
                </a:ext>
              </a:extLst>
            </p:cNvPr>
            <p:cNvSpPr txBox="1"/>
            <p:nvPr/>
          </p:nvSpPr>
          <p:spPr>
            <a:xfrm>
              <a:off x="7340255" y="2948363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2" name="组合 571">
            <a:extLst>
              <a:ext uri="{FF2B5EF4-FFF2-40B4-BE49-F238E27FC236}">
                <a16:creationId xmlns:a16="http://schemas.microsoft.com/office/drawing/2014/main" id="{F7506046-4C65-6E74-D058-1B3238C24A47}"/>
              </a:ext>
            </a:extLst>
          </p:cNvPr>
          <p:cNvGrpSpPr/>
          <p:nvPr/>
        </p:nvGrpSpPr>
        <p:grpSpPr>
          <a:xfrm>
            <a:off x="6892167" y="2856806"/>
            <a:ext cx="1118511" cy="1145773"/>
            <a:chOff x="8459622" y="2214134"/>
            <a:chExt cx="1118511" cy="1145773"/>
          </a:xfrm>
        </p:grpSpPr>
        <p:sp>
          <p:nvSpPr>
            <p:cNvPr id="596" name="圆角矩形 595">
              <a:extLst>
                <a:ext uri="{FF2B5EF4-FFF2-40B4-BE49-F238E27FC236}">
                  <a16:creationId xmlns:a16="http://schemas.microsoft.com/office/drawing/2014/main" id="{91C1121D-F06D-20FE-4C90-031C591BF5BA}"/>
                </a:ext>
              </a:extLst>
            </p:cNvPr>
            <p:cNvSpPr/>
            <p:nvPr/>
          </p:nvSpPr>
          <p:spPr>
            <a:xfrm>
              <a:off x="8864625" y="2214134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7" name="圆角矩形 596">
              <a:extLst>
                <a:ext uri="{FF2B5EF4-FFF2-40B4-BE49-F238E27FC236}">
                  <a16:creationId xmlns:a16="http://schemas.microsoft.com/office/drawing/2014/main" id="{EA3D718E-F349-062D-C02D-E65CDA96794C}"/>
                </a:ext>
              </a:extLst>
            </p:cNvPr>
            <p:cNvSpPr/>
            <p:nvPr/>
          </p:nvSpPr>
          <p:spPr>
            <a:xfrm>
              <a:off x="8864625" y="2535772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8" name="文本框 597">
              <a:extLst>
                <a:ext uri="{FF2B5EF4-FFF2-40B4-BE49-F238E27FC236}">
                  <a16:creationId xmlns:a16="http://schemas.microsoft.com/office/drawing/2014/main" id="{E1E929D0-41A9-9D16-1BB3-CDD6A6555E6F}"/>
                </a:ext>
              </a:extLst>
            </p:cNvPr>
            <p:cNvSpPr txBox="1"/>
            <p:nvPr/>
          </p:nvSpPr>
          <p:spPr>
            <a:xfrm>
              <a:off x="8459622" y="2990575"/>
              <a:ext cx="11185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attn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score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3" name="组合 572">
            <a:extLst>
              <a:ext uri="{FF2B5EF4-FFF2-40B4-BE49-F238E27FC236}">
                <a16:creationId xmlns:a16="http://schemas.microsoft.com/office/drawing/2014/main" id="{0FDF5D98-A802-AF1B-95B5-F50A9729574A}"/>
              </a:ext>
            </a:extLst>
          </p:cNvPr>
          <p:cNvGrpSpPr/>
          <p:nvPr/>
        </p:nvGrpSpPr>
        <p:grpSpPr>
          <a:xfrm>
            <a:off x="8409332" y="3045922"/>
            <a:ext cx="1259704" cy="956657"/>
            <a:chOff x="9672788" y="2370172"/>
            <a:chExt cx="1259704" cy="956657"/>
          </a:xfrm>
        </p:grpSpPr>
        <p:grpSp>
          <p:nvGrpSpPr>
            <p:cNvPr id="592" name="组合 591">
              <a:extLst>
                <a:ext uri="{FF2B5EF4-FFF2-40B4-BE49-F238E27FC236}">
                  <a16:creationId xmlns:a16="http://schemas.microsoft.com/office/drawing/2014/main" id="{6D9B74C0-E060-7BCA-668C-7597F9FB83C9}"/>
                </a:ext>
              </a:extLst>
            </p:cNvPr>
            <p:cNvGrpSpPr/>
            <p:nvPr/>
          </p:nvGrpSpPr>
          <p:grpSpPr>
            <a:xfrm>
              <a:off x="10028039" y="2370172"/>
              <a:ext cx="661988" cy="331200"/>
              <a:chOff x="367636" y="2409445"/>
              <a:chExt cx="661988" cy="331200"/>
            </a:xfrm>
          </p:grpSpPr>
          <p:sp>
            <p:nvSpPr>
              <p:cNvPr id="594" name="圆角矩形 593">
                <a:extLst>
                  <a:ext uri="{FF2B5EF4-FFF2-40B4-BE49-F238E27FC236}">
                    <a16:creationId xmlns:a16="http://schemas.microsoft.com/office/drawing/2014/main" id="{369A351E-B3CA-0795-C4F8-C6F984E34A0C}"/>
                  </a:ext>
                </a:extLst>
              </p:cNvPr>
              <p:cNvSpPr/>
              <p:nvPr/>
            </p:nvSpPr>
            <p:spPr>
              <a:xfrm>
                <a:off x="367636" y="2409445"/>
                <a:ext cx="330200" cy="331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1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5" name="圆角矩形 594">
                <a:extLst>
                  <a:ext uri="{FF2B5EF4-FFF2-40B4-BE49-F238E27FC236}">
                    <a16:creationId xmlns:a16="http://schemas.microsoft.com/office/drawing/2014/main" id="{55535643-46B3-8C53-125A-2952FD90B932}"/>
                  </a:ext>
                </a:extLst>
              </p:cNvPr>
              <p:cNvSpPr/>
              <p:nvPr/>
            </p:nvSpPr>
            <p:spPr>
              <a:xfrm>
                <a:off x="699424" y="2409445"/>
                <a:ext cx="330200" cy="331200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kumimoji="1" lang="en-US" altLang="zh-CN">
                    <a:solidFill>
                      <a:schemeClr val="tx1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2</a:t>
                </a:r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93" name="文本框 592">
              <a:extLst>
                <a:ext uri="{FF2B5EF4-FFF2-40B4-BE49-F238E27FC236}">
                  <a16:creationId xmlns:a16="http://schemas.microsoft.com/office/drawing/2014/main" id="{6A8530F5-A0EC-D537-9402-83C9B051C516}"/>
                </a:ext>
              </a:extLst>
            </p:cNvPr>
            <p:cNvSpPr txBox="1"/>
            <p:nvPr/>
          </p:nvSpPr>
          <p:spPr>
            <a:xfrm>
              <a:off x="9672788" y="2957497"/>
              <a:ext cx="1259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attn</a:t>
              </a:r>
              <a:r>
                <a:rPr kumimoji="1" lang="zh-CN" altLang="en-US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output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574" name="组合 573">
            <a:extLst>
              <a:ext uri="{FF2B5EF4-FFF2-40B4-BE49-F238E27FC236}">
                <a16:creationId xmlns:a16="http://schemas.microsoft.com/office/drawing/2014/main" id="{73D10642-2A93-42C6-9C9D-F49B5A3A1E8A}"/>
              </a:ext>
            </a:extLst>
          </p:cNvPr>
          <p:cNvGrpSpPr/>
          <p:nvPr/>
        </p:nvGrpSpPr>
        <p:grpSpPr>
          <a:xfrm>
            <a:off x="10305951" y="2853864"/>
            <a:ext cx="767671" cy="1148715"/>
            <a:chOff x="2811837" y="2242960"/>
            <a:chExt cx="767671" cy="1148715"/>
          </a:xfrm>
        </p:grpSpPr>
        <p:sp>
          <p:nvSpPr>
            <p:cNvPr id="586" name="文本框 585">
              <a:extLst>
                <a:ext uri="{FF2B5EF4-FFF2-40B4-BE49-F238E27FC236}">
                  <a16:creationId xmlns:a16="http://schemas.microsoft.com/office/drawing/2014/main" id="{3F407C3A-3F8E-5303-7555-19BE77AF7DA6}"/>
                </a:ext>
              </a:extLst>
            </p:cNvPr>
            <p:cNvSpPr txBox="1"/>
            <p:nvPr/>
          </p:nvSpPr>
          <p:spPr>
            <a:xfrm>
              <a:off x="2830668" y="3022343"/>
              <a:ext cx="7488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MLP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87" name="组合 586">
              <a:extLst>
                <a:ext uri="{FF2B5EF4-FFF2-40B4-BE49-F238E27FC236}">
                  <a16:creationId xmlns:a16="http://schemas.microsoft.com/office/drawing/2014/main" id="{87666679-6F1F-FC10-F8FE-D9FB1B55FE1E}"/>
                </a:ext>
              </a:extLst>
            </p:cNvPr>
            <p:cNvGrpSpPr/>
            <p:nvPr/>
          </p:nvGrpSpPr>
          <p:grpSpPr>
            <a:xfrm>
              <a:off x="2811837" y="2242960"/>
              <a:ext cx="651882" cy="664169"/>
              <a:chOff x="5181536" y="4377688"/>
              <a:chExt cx="651882" cy="664169"/>
            </a:xfrm>
          </p:grpSpPr>
          <p:sp>
            <p:nvSpPr>
              <p:cNvPr id="588" name="矩形 587">
                <a:extLst>
                  <a:ext uri="{FF2B5EF4-FFF2-40B4-BE49-F238E27FC236}">
                    <a16:creationId xmlns:a16="http://schemas.microsoft.com/office/drawing/2014/main" id="{F355AF77-5E34-286D-EF72-5600159E7268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89" name="矩形 588">
                <a:extLst>
                  <a:ext uri="{FF2B5EF4-FFF2-40B4-BE49-F238E27FC236}">
                    <a16:creationId xmlns:a16="http://schemas.microsoft.com/office/drawing/2014/main" id="{5CCE8F15-6E51-B10C-DAB4-27B8A3975EE9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0" name="矩形 589">
                <a:extLst>
                  <a:ext uri="{FF2B5EF4-FFF2-40B4-BE49-F238E27FC236}">
                    <a16:creationId xmlns:a16="http://schemas.microsoft.com/office/drawing/2014/main" id="{9C4F7571-9D9D-D458-89C3-F34AAE8FD51A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91" name="矩形 590">
                <a:extLst>
                  <a:ext uri="{FF2B5EF4-FFF2-40B4-BE49-F238E27FC236}">
                    <a16:creationId xmlns:a16="http://schemas.microsoft.com/office/drawing/2014/main" id="{6E5B8DE4-9C61-D899-5BFF-D285F89073EE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sp>
        <p:nvSpPr>
          <p:cNvPr id="575" name="文本框 574">
            <a:extLst>
              <a:ext uri="{FF2B5EF4-FFF2-40B4-BE49-F238E27FC236}">
                <a16:creationId xmlns:a16="http://schemas.microsoft.com/office/drawing/2014/main" id="{3A8E2FFA-9367-7252-82C6-0355D30F8CB4}"/>
              </a:ext>
            </a:extLst>
          </p:cNvPr>
          <p:cNvSpPr txBox="1"/>
          <p:nvPr/>
        </p:nvSpPr>
        <p:spPr>
          <a:xfrm>
            <a:off x="11553427" y="2994414"/>
            <a:ext cx="48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76" name="圆角矩形 575">
            <a:extLst>
              <a:ext uri="{FF2B5EF4-FFF2-40B4-BE49-F238E27FC236}">
                <a16:creationId xmlns:a16="http://schemas.microsoft.com/office/drawing/2014/main" id="{00477121-062A-922C-51B2-74723AF343B0}"/>
              </a:ext>
            </a:extLst>
          </p:cNvPr>
          <p:cNvSpPr/>
          <p:nvPr/>
        </p:nvSpPr>
        <p:spPr>
          <a:xfrm rot="16200000">
            <a:off x="5797094" y="-2268536"/>
            <a:ext cx="1640632" cy="1093904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77" name="直线箭头连接符 576">
            <a:extLst>
              <a:ext uri="{FF2B5EF4-FFF2-40B4-BE49-F238E27FC236}">
                <a16:creationId xmlns:a16="http://schemas.microsoft.com/office/drawing/2014/main" id="{9345E5AD-2420-287C-000A-E82BA6549791}"/>
              </a:ext>
            </a:extLst>
          </p:cNvPr>
          <p:cNvCxnSpPr>
            <a:cxnSpLocks/>
            <a:stCxn id="618" idx="3"/>
            <a:endCxn id="605" idx="1"/>
          </p:cNvCxnSpPr>
          <p:nvPr/>
        </p:nvCxnSpPr>
        <p:spPr>
          <a:xfrm flipV="1">
            <a:off x="5058730" y="3130009"/>
            <a:ext cx="765838" cy="226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8" name="直线箭头连接符 577">
            <a:extLst>
              <a:ext uri="{FF2B5EF4-FFF2-40B4-BE49-F238E27FC236}">
                <a16:creationId xmlns:a16="http://schemas.microsoft.com/office/drawing/2014/main" id="{1D67E6A6-25FF-8CB3-F62E-1119BB5BBE64}"/>
              </a:ext>
            </a:extLst>
          </p:cNvPr>
          <p:cNvCxnSpPr>
            <a:cxnSpLocks/>
          </p:cNvCxnSpPr>
          <p:nvPr/>
        </p:nvCxnSpPr>
        <p:spPr>
          <a:xfrm>
            <a:off x="10957833" y="3183439"/>
            <a:ext cx="64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9" name="直线箭头连接符 578">
            <a:extLst>
              <a:ext uri="{FF2B5EF4-FFF2-40B4-BE49-F238E27FC236}">
                <a16:creationId xmlns:a16="http://schemas.microsoft.com/office/drawing/2014/main" id="{9497A6E2-6351-A4CF-0DB9-0680D2D48A79}"/>
              </a:ext>
            </a:extLst>
          </p:cNvPr>
          <p:cNvCxnSpPr>
            <a:cxnSpLocks/>
          </p:cNvCxnSpPr>
          <p:nvPr/>
        </p:nvCxnSpPr>
        <p:spPr>
          <a:xfrm>
            <a:off x="9426571" y="3183439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0" name="直线箭头连接符 579">
            <a:extLst>
              <a:ext uri="{FF2B5EF4-FFF2-40B4-BE49-F238E27FC236}">
                <a16:creationId xmlns:a16="http://schemas.microsoft.com/office/drawing/2014/main" id="{26078D3B-4FED-EDED-1A84-73701E992EDD}"/>
              </a:ext>
            </a:extLst>
          </p:cNvPr>
          <p:cNvCxnSpPr>
            <a:cxnSpLocks/>
          </p:cNvCxnSpPr>
          <p:nvPr/>
        </p:nvCxnSpPr>
        <p:spPr>
          <a:xfrm>
            <a:off x="3593556" y="3171113"/>
            <a:ext cx="82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1" name="直线箭头连接符 580">
            <a:extLst>
              <a:ext uri="{FF2B5EF4-FFF2-40B4-BE49-F238E27FC236}">
                <a16:creationId xmlns:a16="http://schemas.microsoft.com/office/drawing/2014/main" id="{E8F7DD27-E3CF-EB0F-DA2F-CA12C3383A7C}"/>
              </a:ext>
            </a:extLst>
          </p:cNvPr>
          <p:cNvCxnSpPr>
            <a:cxnSpLocks/>
          </p:cNvCxnSpPr>
          <p:nvPr/>
        </p:nvCxnSpPr>
        <p:spPr>
          <a:xfrm>
            <a:off x="6390985" y="3185064"/>
            <a:ext cx="90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2" name="文本框 581">
            <a:extLst>
              <a:ext uri="{FF2B5EF4-FFF2-40B4-BE49-F238E27FC236}">
                <a16:creationId xmlns:a16="http://schemas.microsoft.com/office/drawing/2014/main" id="{C9B13A08-B9A3-BFCB-50AC-BEE9E7BFEA96}"/>
              </a:ext>
            </a:extLst>
          </p:cNvPr>
          <p:cNvSpPr txBox="1"/>
          <p:nvPr/>
        </p:nvSpPr>
        <p:spPr>
          <a:xfrm>
            <a:off x="6127507" y="2394925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0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83" name="直线箭头连接符 582">
            <a:extLst>
              <a:ext uri="{FF2B5EF4-FFF2-40B4-BE49-F238E27FC236}">
                <a16:creationId xmlns:a16="http://schemas.microsoft.com/office/drawing/2014/main" id="{FB7325E9-0D1E-16E7-F526-6507A83AB972}"/>
              </a:ext>
            </a:extLst>
          </p:cNvPr>
          <p:cNvCxnSpPr>
            <a:cxnSpLocks/>
            <a:stCxn id="618" idx="3"/>
            <a:endCxn id="561" idx="1"/>
          </p:cNvCxnSpPr>
          <p:nvPr/>
        </p:nvCxnSpPr>
        <p:spPr>
          <a:xfrm>
            <a:off x="5058730" y="3356171"/>
            <a:ext cx="765838" cy="199251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4" name="直线箭头连接符 583">
            <a:extLst>
              <a:ext uri="{FF2B5EF4-FFF2-40B4-BE49-F238E27FC236}">
                <a16:creationId xmlns:a16="http://schemas.microsoft.com/office/drawing/2014/main" id="{383D7115-40CF-304D-5D11-8B8B6D141063}"/>
              </a:ext>
            </a:extLst>
          </p:cNvPr>
          <p:cNvCxnSpPr>
            <a:cxnSpLocks/>
            <a:stCxn id="596" idx="3"/>
            <a:endCxn id="594" idx="1"/>
          </p:cNvCxnSpPr>
          <p:nvPr/>
        </p:nvCxnSpPr>
        <p:spPr>
          <a:xfrm>
            <a:off x="7627370" y="3022406"/>
            <a:ext cx="1137213" cy="18911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5" name="直线箭头连接符 584">
            <a:extLst>
              <a:ext uri="{FF2B5EF4-FFF2-40B4-BE49-F238E27FC236}">
                <a16:creationId xmlns:a16="http://schemas.microsoft.com/office/drawing/2014/main" id="{05035DDE-C851-ABD2-819A-BD3A2ED84AB9}"/>
              </a:ext>
            </a:extLst>
          </p:cNvPr>
          <p:cNvCxnSpPr>
            <a:cxnSpLocks/>
            <a:stCxn id="597" idx="3"/>
            <a:endCxn id="555" idx="1"/>
          </p:cNvCxnSpPr>
          <p:nvPr/>
        </p:nvCxnSpPr>
        <p:spPr>
          <a:xfrm>
            <a:off x="7627370" y="3344044"/>
            <a:ext cx="1137213" cy="208615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9" name="圆角矩形 518">
            <a:extLst>
              <a:ext uri="{FF2B5EF4-FFF2-40B4-BE49-F238E27FC236}">
                <a16:creationId xmlns:a16="http://schemas.microsoft.com/office/drawing/2014/main" id="{0DA725AC-B7EE-98AF-6456-CC678D92554A}"/>
              </a:ext>
            </a:extLst>
          </p:cNvPr>
          <p:cNvSpPr/>
          <p:nvPr/>
        </p:nvSpPr>
        <p:spPr>
          <a:xfrm>
            <a:off x="1397022" y="5215188"/>
            <a:ext cx="330200" cy="331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20" name="圆角矩形 519">
            <a:extLst>
              <a:ext uri="{FF2B5EF4-FFF2-40B4-BE49-F238E27FC236}">
                <a16:creationId xmlns:a16="http://schemas.microsoft.com/office/drawing/2014/main" id="{01E2AF9C-EB45-F83E-BA76-73CB0919E596}"/>
              </a:ext>
            </a:extLst>
          </p:cNvPr>
          <p:cNvSpPr/>
          <p:nvPr/>
        </p:nvSpPr>
        <p:spPr>
          <a:xfrm>
            <a:off x="1728810" y="5215188"/>
            <a:ext cx="330200" cy="3312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21" name="图形 520" descr="关闭 纯色填充">
            <a:extLst>
              <a:ext uri="{FF2B5EF4-FFF2-40B4-BE49-F238E27FC236}">
                <a16:creationId xmlns:a16="http://schemas.microsoft.com/office/drawing/2014/main" id="{B4483F87-A3B8-A4C3-6C91-3EA1BDDA10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2360" y="5206545"/>
            <a:ext cx="331200" cy="331200"/>
          </a:xfrm>
          <a:prstGeom prst="rect">
            <a:avLst/>
          </a:prstGeom>
        </p:spPr>
      </p:pic>
      <p:grpSp>
        <p:nvGrpSpPr>
          <p:cNvPr id="5" name="组合 4">
            <a:extLst>
              <a:ext uri="{FF2B5EF4-FFF2-40B4-BE49-F238E27FC236}">
                <a16:creationId xmlns:a16="http://schemas.microsoft.com/office/drawing/2014/main" id="{1305A0D9-9229-3EC1-6DBC-2C8CDD5A4370}"/>
              </a:ext>
            </a:extLst>
          </p:cNvPr>
          <p:cNvGrpSpPr/>
          <p:nvPr/>
        </p:nvGrpSpPr>
        <p:grpSpPr>
          <a:xfrm>
            <a:off x="4408002" y="4993287"/>
            <a:ext cx="878756" cy="644746"/>
            <a:chOff x="4324872" y="4993287"/>
            <a:chExt cx="878756" cy="644746"/>
          </a:xfrm>
        </p:grpSpPr>
        <p:sp>
          <p:nvSpPr>
            <p:cNvPr id="522" name="圆角矩形 521">
              <a:extLst>
                <a:ext uri="{FF2B5EF4-FFF2-40B4-BE49-F238E27FC236}">
                  <a16:creationId xmlns:a16="http://schemas.microsoft.com/office/drawing/2014/main" id="{FA203772-4A80-CF4D-9BCF-3093654ABCC3}"/>
                </a:ext>
              </a:extLst>
            </p:cNvPr>
            <p:cNvSpPr/>
            <p:nvPr/>
          </p:nvSpPr>
          <p:spPr>
            <a:xfrm>
              <a:off x="4541640" y="4993287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3" name="圆角矩形 522">
              <a:extLst>
                <a:ext uri="{FF2B5EF4-FFF2-40B4-BE49-F238E27FC236}">
                  <a16:creationId xmlns:a16="http://schemas.microsoft.com/office/drawing/2014/main" id="{3F0E01CD-E1D5-5E96-358C-1174150C5627}"/>
                </a:ext>
              </a:extLst>
            </p:cNvPr>
            <p:cNvSpPr/>
            <p:nvPr/>
          </p:nvSpPr>
          <p:spPr>
            <a:xfrm>
              <a:off x="4873428" y="4993287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4" name="圆角矩形 523">
              <a:extLst>
                <a:ext uri="{FF2B5EF4-FFF2-40B4-BE49-F238E27FC236}">
                  <a16:creationId xmlns:a16="http://schemas.microsoft.com/office/drawing/2014/main" id="{19A0A21D-C3ED-EDE4-469D-703B314D70F3}"/>
                </a:ext>
              </a:extLst>
            </p:cNvPr>
            <p:cNvSpPr/>
            <p:nvPr/>
          </p:nvSpPr>
          <p:spPr>
            <a:xfrm>
              <a:off x="4451456" y="5141233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5" name="圆角矩形 524">
              <a:extLst>
                <a:ext uri="{FF2B5EF4-FFF2-40B4-BE49-F238E27FC236}">
                  <a16:creationId xmlns:a16="http://schemas.microsoft.com/office/drawing/2014/main" id="{96B776DE-AB57-4F12-BA88-DCD4441CA8C1}"/>
                </a:ext>
              </a:extLst>
            </p:cNvPr>
            <p:cNvSpPr/>
            <p:nvPr/>
          </p:nvSpPr>
          <p:spPr>
            <a:xfrm>
              <a:off x="4783244" y="5141233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6" name="圆角矩形 525">
              <a:extLst>
                <a:ext uri="{FF2B5EF4-FFF2-40B4-BE49-F238E27FC236}">
                  <a16:creationId xmlns:a16="http://schemas.microsoft.com/office/drawing/2014/main" id="{CFBFB355-5571-E620-BB52-FD92BE6DCB67}"/>
                </a:ext>
              </a:extLst>
            </p:cNvPr>
            <p:cNvSpPr/>
            <p:nvPr/>
          </p:nvSpPr>
          <p:spPr>
            <a:xfrm>
              <a:off x="4324872" y="5306833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27" name="圆角矩形 526">
              <a:extLst>
                <a:ext uri="{FF2B5EF4-FFF2-40B4-BE49-F238E27FC236}">
                  <a16:creationId xmlns:a16="http://schemas.microsoft.com/office/drawing/2014/main" id="{A6CDE3DE-9EC0-D9F7-4A2C-26B321723C52}"/>
                </a:ext>
              </a:extLst>
            </p:cNvPr>
            <p:cNvSpPr/>
            <p:nvPr/>
          </p:nvSpPr>
          <p:spPr>
            <a:xfrm>
              <a:off x="4656660" y="5306833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28" name="文本框 527">
            <a:extLst>
              <a:ext uri="{FF2B5EF4-FFF2-40B4-BE49-F238E27FC236}">
                <a16:creationId xmlns:a16="http://schemas.microsoft.com/office/drawing/2014/main" id="{41B50C28-9215-3483-211A-52CBCE48ED0E}"/>
              </a:ext>
            </a:extLst>
          </p:cNvPr>
          <p:cNvSpPr txBox="1"/>
          <p:nvPr/>
        </p:nvSpPr>
        <p:spPr>
          <a:xfrm>
            <a:off x="4474226" y="5749508"/>
            <a:ext cx="691459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 K 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F33BBE49-3F2C-CAFD-E8EB-8D0986B7F09E}"/>
              </a:ext>
            </a:extLst>
          </p:cNvPr>
          <p:cNvGrpSpPr/>
          <p:nvPr/>
        </p:nvGrpSpPr>
        <p:grpSpPr>
          <a:xfrm>
            <a:off x="2650568" y="4956175"/>
            <a:ext cx="1269040" cy="1162665"/>
            <a:chOff x="2567438" y="4956175"/>
            <a:chExt cx="1269040" cy="1162665"/>
          </a:xfrm>
        </p:grpSpPr>
        <p:sp>
          <p:nvSpPr>
            <p:cNvPr id="529" name="文本框 528">
              <a:extLst>
                <a:ext uri="{FF2B5EF4-FFF2-40B4-BE49-F238E27FC236}">
                  <a16:creationId xmlns:a16="http://schemas.microsoft.com/office/drawing/2014/main" id="{12EC7142-9CA9-B14E-EB69-6805ED6A5C62}"/>
                </a:ext>
              </a:extLst>
            </p:cNvPr>
            <p:cNvSpPr txBox="1"/>
            <p:nvPr/>
          </p:nvSpPr>
          <p:spPr>
            <a:xfrm>
              <a:off x="2567438" y="5749508"/>
              <a:ext cx="1269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q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</a:t>
              </a:r>
              <a:r>
                <a:rPr kumimoji="1" lang="en-US" altLang="zh-CN" err="1">
                  <a:latin typeface="Calibri" panose="020F0502020204030204" pitchFamily="34" charset="0"/>
                  <a:cs typeface="Calibri" panose="020F0502020204030204" pitchFamily="34" charset="0"/>
                </a:rPr>
                <a:t>W</a:t>
              </a:r>
              <a:r>
                <a:rPr kumimoji="1" lang="en-US" altLang="zh-CN" baseline="-25000" err="1">
                  <a:latin typeface="Calibri" panose="020F0502020204030204" pitchFamily="34" charset="0"/>
                  <a:cs typeface="Calibri" panose="020F0502020204030204" pitchFamily="34" charset="0"/>
                </a:rPr>
                <a:t>k</a:t>
              </a:r>
              <a:r>
                <a:rPr kumimoji="1" lang="en-US" altLang="zh-CN">
                  <a:latin typeface="Calibri" panose="020F0502020204030204" pitchFamily="34" charset="0"/>
                  <a:cs typeface="Calibri" panose="020F0502020204030204" pitchFamily="34" charset="0"/>
                </a:rPr>
                <a:t>, W</a:t>
              </a:r>
              <a:r>
                <a:rPr kumimoji="1" lang="en-US" altLang="zh-CN" baseline="-25000">
                  <a:latin typeface="Calibri" panose="020F0502020204030204" pitchFamily="34" charset="0"/>
                  <a:cs typeface="Calibri" panose="020F0502020204030204" pitchFamily="34" charset="0"/>
                </a:rPr>
                <a:t>v</a:t>
              </a:r>
              <a:endParaRPr kumimoji="1" lang="zh-CN" altLang="en-US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30" name="组合 529">
              <a:extLst>
                <a:ext uri="{FF2B5EF4-FFF2-40B4-BE49-F238E27FC236}">
                  <a16:creationId xmlns:a16="http://schemas.microsoft.com/office/drawing/2014/main" id="{5059C23C-7645-5570-BCB7-B18C1C78455F}"/>
                </a:ext>
              </a:extLst>
            </p:cNvPr>
            <p:cNvGrpSpPr/>
            <p:nvPr/>
          </p:nvGrpSpPr>
          <p:grpSpPr>
            <a:xfrm>
              <a:off x="2824080" y="4956175"/>
              <a:ext cx="651882" cy="664169"/>
              <a:chOff x="5181536" y="4377688"/>
              <a:chExt cx="651882" cy="664169"/>
            </a:xfrm>
          </p:grpSpPr>
          <p:sp>
            <p:nvSpPr>
              <p:cNvPr id="563" name="矩形 562">
                <a:extLst>
                  <a:ext uri="{FF2B5EF4-FFF2-40B4-BE49-F238E27FC236}">
                    <a16:creationId xmlns:a16="http://schemas.microsoft.com/office/drawing/2014/main" id="{40002686-662B-366A-7C8E-D8B38A0338AF}"/>
                  </a:ext>
                </a:extLst>
              </p:cNvPr>
              <p:cNvSpPr/>
              <p:nvPr/>
            </p:nvSpPr>
            <p:spPr>
              <a:xfrm>
                <a:off x="5181536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4" name="矩形 563">
                <a:extLst>
                  <a:ext uri="{FF2B5EF4-FFF2-40B4-BE49-F238E27FC236}">
                    <a16:creationId xmlns:a16="http://schemas.microsoft.com/office/drawing/2014/main" id="{46299E13-137F-EE1D-6D0C-EB5A979538FA}"/>
                  </a:ext>
                </a:extLst>
              </p:cNvPr>
              <p:cNvSpPr/>
              <p:nvPr/>
            </p:nvSpPr>
            <p:spPr>
              <a:xfrm>
                <a:off x="5507477" y="4377688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5" name="矩形 564">
                <a:extLst>
                  <a:ext uri="{FF2B5EF4-FFF2-40B4-BE49-F238E27FC236}">
                    <a16:creationId xmlns:a16="http://schemas.microsoft.com/office/drawing/2014/main" id="{371862BB-7CEA-C4AB-297E-005A1D26B121}"/>
                  </a:ext>
                </a:extLst>
              </p:cNvPr>
              <p:cNvSpPr/>
              <p:nvPr/>
            </p:nvSpPr>
            <p:spPr>
              <a:xfrm>
                <a:off x="5181536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566" name="矩形 565">
                <a:extLst>
                  <a:ext uri="{FF2B5EF4-FFF2-40B4-BE49-F238E27FC236}">
                    <a16:creationId xmlns:a16="http://schemas.microsoft.com/office/drawing/2014/main" id="{14A7C5CF-F22F-DE36-2FD5-AAF6FA0AEA70}"/>
                  </a:ext>
                </a:extLst>
              </p:cNvPr>
              <p:cNvSpPr/>
              <p:nvPr/>
            </p:nvSpPr>
            <p:spPr>
              <a:xfrm>
                <a:off x="5507477" y="4710657"/>
                <a:ext cx="325941" cy="33120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</p:grpSp>
      <p:grpSp>
        <p:nvGrpSpPr>
          <p:cNvPr id="531" name="组合 530">
            <a:extLst>
              <a:ext uri="{FF2B5EF4-FFF2-40B4-BE49-F238E27FC236}">
                <a16:creationId xmlns:a16="http://schemas.microsoft.com/office/drawing/2014/main" id="{88B122A4-709A-4B43-236C-1D4249E21520}"/>
              </a:ext>
            </a:extLst>
          </p:cNvPr>
          <p:cNvGrpSpPr/>
          <p:nvPr/>
        </p:nvGrpSpPr>
        <p:grpSpPr>
          <a:xfrm>
            <a:off x="5835828" y="4915071"/>
            <a:ext cx="568818" cy="833186"/>
            <a:chOff x="7164505" y="2114368"/>
            <a:chExt cx="568818" cy="833186"/>
          </a:xfrm>
        </p:grpSpPr>
        <p:sp>
          <p:nvSpPr>
            <p:cNvPr id="557" name="圆角矩形 556">
              <a:extLst>
                <a:ext uri="{FF2B5EF4-FFF2-40B4-BE49-F238E27FC236}">
                  <a16:creationId xmlns:a16="http://schemas.microsoft.com/office/drawing/2014/main" id="{E48F27EA-103E-31C1-9F5F-99B82DA57190}"/>
                </a:ext>
              </a:extLst>
            </p:cNvPr>
            <p:cNvSpPr/>
            <p:nvPr/>
          </p:nvSpPr>
          <p:spPr>
            <a:xfrm>
              <a:off x="7400722" y="2114368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8" name="圆角矩形 557">
              <a:extLst>
                <a:ext uri="{FF2B5EF4-FFF2-40B4-BE49-F238E27FC236}">
                  <a16:creationId xmlns:a16="http://schemas.microsoft.com/office/drawing/2014/main" id="{65FEC3B0-605B-53F9-B256-A71F52E49A2B}"/>
                </a:ext>
              </a:extLst>
            </p:cNvPr>
            <p:cNvSpPr/>
            <p:nvPr/>
          </p:nvSpPr>
          <p:spPr>
            <a:xfrm>
              <a:off x="7403123" y="2450754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9" name="圆角矩形 558">
              <a:extLst>
                <a:ext uri="{FF2B5EF4-FFF2-40B4-BE49-F238E27FC236}">
                  <a16:creationId xmlns:a16="http://schemas.microsoft.com/office/drawing/2014/main" id="{55F6C3DE-04C2-8A39-1DD9-F306741BF581}"/>
                </a:ext>
              </a:extLst>
            </p:cNvPr>
            <p:cNvSpPr/>
            <p:nvPr/>
          </p:nvSpPr>
          <p:spPr>
            <a:xfrm>
              <a:off x="7287362" y="2199829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0" name="圆角矩形 559">
              <a:extLst>
                <a:ext uri="{FF2B5EF4-FFF2-40B4-BE49-F238E27FC236}">
                  <a16:creationId xmlns:a16="http://schemas.microsoft.com/office/drawing/2014/main" id="{7308EC8A-0860-0DA4-A9EF-CF5A61C78E85}"/>
                </a:ext>
              </a:extLst>
            </p:cNvPr>
            <p:cNvSpPr/>
            <p:nvPr/>
          </p:nvSpPr>
          <p:spPr>
            <a:xfrm>
              <a:off x="7289763" y="2536215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1" name="圆角矩形 560">
              <a:extLst>
                <a:ext uri="{FF2B5EF4-FFF2-40B4-BE49-F238E27FC236}">
                  <a16:creationId xmlns:a16="http://schemas.microsoft.com/office/drawing/2014/main" id="{CD2E2F49-D3B9-7DE1-91DA-BEE377A56E2F}"/>
                </a:ext>
              </a:extLst>
            </p:cNvPr>
            <p:cNvSpPr/>
            <p:nvPr/>
          </p:nvSpPr>
          <p:spPr>
            <a:xfrm>
              <a:off x="7164505" y="2279968"/>
              <a:ext cx="330200" cy="331200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62" name="圆角矩形 561">
              <a:extLst>
                <a:ext uri="{FF2B5EF4-FFF2-40B4-BE49-F238E27FC236}">
                  <a16:creationId xmlns:a16="http://schemas.microsoft.com/office/drawing/2014/main" id="{2CF99384-5518-8001-A1AE-78EA98F67650}"/>
                </a:ext>
              </a:extLst>
            </p:cNvPr>
            <p:cNvSpPr/>
            <p:nvPr/>
          </p:nvSpPr>
          <p:spPr>
            <a:xfrm>
              <a:off x="7166906" y="2616354"/>
              <a:ext cx="330200" cy="33120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2" name="文本框 531">
            <a:extLst>
              <a:ext uri="{FF2B5EF4-FFF2-40B4-BE49-F238E27FC236}">
                <a16:creationId xmlns:a16="http://schemas.microsoft.com/office/drawing/2014/main" id="{0211CBDE-5A76-57C4-E554-5F366A447CA4}"/>
              </a:ext>
            </a:extLst>
          </p:cNvPr>
          <p:cNvSpPr txBox="1"/>
          <p:nvPr/>
        </p:nvSpPr>
        <p:spPr>
          <a:xfrm>
            <a:off x="5720989" y="5749509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Q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K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V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3" name="圆角矩形 532">
            <a:extLst>
              <a:ext uri="{FF2B5EF4-FFF2-40B4-BE49-F238E27FC236}">
                <a16:creationId xmlns:a16="http://schemas.microsoft.com/office/drawing/2014/main" id="{0B69492B-9081-6F08-D289-CEB26AF36267}"/>
              </a:ext>
            </a:extLst>
          </p:cNvPr>
          <p:cNvSpPr/>
          <p:nvPr/>
        </p:nvSpPr>
        <p:spPr>
          <a:xfrm>
            <a:off x="7308430" y="4973068"/>
            <a:ext cx="330200" cy="33120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4" name="圆角矩形 533">
            <a:extLst>
              <a:ext uri="{FF2B5EF4-FFF2-40B4-BE49-F238E27FC236}">
                <a16:creationId xmlns:a16="http://schemas.microsoft.com/office/drawing/2014/main" id="{A9BDFC5E-8D2D-2642-A38C-5E5A24F0903E}"/>
              </a:ext>
            </a:extLst>
          </p:cNvPr>
          <p:cNvSpPr/>
          <p:nvPr/>
        </p:nvSpPr>
        <p:spPr>
          <a:xfrm>
            <a:off x="7308430" y="5294706"/>
            <a:ext cx="330200" cy="331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1" lang="en-US" altLang="zh-CN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  <a:endParaRPr kumimoji="1" lang="zh-CN" altLang="en-US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5" name="文本框 534">
            <a:extLst>
              <a:ext uri="{FF2B5EF4-FFF2-40B4-BE49-F238E27FC236}">
                <a16:creationId xmlns:a16="http://schemas.microsoft.com/office/drawing/2014/main" id="{DDE0475D-386A-0325-2A24-14FFD3924FE3}"/>
              </a:ext>
            </a:extLst>
          </p:cNvPr>
          <p:cNvSpPr txBox="1"/>
          <p:nvPr/>
        </p:nvSpPr>
        <p:spPr>
          <a:xfrm>
            <a:off x="6903427" y="5749509"/>
            <a:ext cx="111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attn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score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6" name="组合 535">
            <a:extLst>
              <a:ext uri="{FF2B5EF4-FFF2-40B4-BE49-F238E27FC236}">
                <a16:creationId xmlns:a16="http://schemas.microsoft.com/office/drawing/2014/main" id="{983D6BC1-008A-9415-E05A-902E7EC69F65}"/>
              </a:ext>
            </a:extLst>
          </p:cNvPr>
          <p:cNvGrpSpPr/>
          <p:nvPr/>
        </p:nvGrpSpPr>
        <p:grpSpPr>
          <a:xfrm>
            <a:off x="8775843" y="5162184"/>
            <a:ext cx="661988" cy="331200"/>
            <a:chOff x="367636" y="2409445"/>
            <a:chExt cx="661988" cy="33120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555" name="圆角矩形 554">
              <a:extLst>
                <a:ext uri="{FF2B5EF4-FFF2-40B4-BE49-F238E27FC236}">
                  <a16:creationId xmlns:a16="http://schemas.microsoft.com/office/drawing/2014/main" id="{A7CD48AE-A90D-0AD2-50D6-9BCD7D463F1D}"/>
                </a:ext>
              </a:extLst>
            </p:cNvPr>
            <p:cNvSpPr/>
            <p:nvPr/>
          </p:nvSpPr>
          <p:spPr>
            <a:xfrm>
              <a:off x="367636" y="240944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1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6" name="圆角矩形 555">
              <a:extLst>
                <a:ext uri="{FF2B5EF4-FFF2-40B4-BE49-F238E27FC236}">
                  <a16:creationId xmlns:a16="http://schemas.microsoft.com/office/drawing/2014/main" id="{1C4E6C29-8911-A4AD-8921-0001BE78AB9F}"/>
                </a:ext>
              </a:extLst>
            </p:cNvPr>
            <p:cNvSpPr/>
            <p:nvPr/>
          </p:nvSpPr>
          <p:spPr>
            <a:xfrm>
              <a:off x="699424" y="2409445"/>
              <a:ext cx="330200" cy="331200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>
                  <a:solidFill>
                    <a:schemeClr val="tx1"/>
                  </a:solidFill>
                  <a:latin typeface="Calibri" panose="020F0502020204030204" pitchFamily="34" charset="0"/>
                  <a:cs typeface="Calibri" panose="020F0502020204030204" pitchFamily="34" charset="0"/>
                </a:rPr>
                <a:t>2</a:t>
              </a:r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37" name="文本框 536">
            <a:extLst>
              <a:ext uri="{FF2B5EF4-FFF2-40B4-BE49-F238E27FC236}">
                <a16:creationId xmlns:a16="http://schemas.microsoft.com/office/drawing/2014/main" id="{A0758E7A-6210-C012-8824-24AA9453C914}"/>
              </a:ext>
            </a:extLst>
          </p:cNvPr>
          <p:cNvSpPr txBox="1"/>
          <p:nvPr/>
        </p:nvSpPr>
        <p:spPr>
          <a:xfrm>
            <a:off x="8441088" y="5749509"/>
            <a:ext cx="1259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attn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output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38" name="文本框 537">
            <a:extLst>
              <a:ext uri="{FF2B5EF4-FFF2-40B4-BE49-F238E27FC236}">
                <a16:creationId xmlns:a16="http://schemas.microsoft.com/office/drawing/2014/main" id="{25D23362-542E-442A-0559-53BA4DC63D76}"/>
              </a:ext>
            </a:extLst>
          </p:cNvPr>
          <p:cNvSpPr txBox="1"/>
          <p:nvPr/>
        </p:nvSpPr>
        <p:spPr>
          <a:xfrm>
            <a:off x="10336042" y="5749509"/>
            <a:ext cx="748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MLP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539" name="组合 538">
            <a:extLst>
              <a:ext uri="{FF2B5EF4-FFF2-40B4-BE49-F238E27FC236}">
                <a16:creationId xmlns:a16="http://schemas.microsoft.com/office/drawing/2014/main" id="{AE6F168D-C078-1296-44BF-F44E5DCFDA1F}"/>
              </a:ext>
            </a:extLst>
          </p:cNvPr>
          <p:cNvGrpSpPr/>
          <p:nvPr/>
        </p:nvGrpSpPr>
        <p:grpSpPr>
          <a:xfrm>
            <a:off x="10317211" y="4970126"/>
            <a:ext cx="651882" cy="664169"/>
            <a:chOff x="5181536" y="4377688"/>
            <a:chExt cx="651882" cy="664169"/>
          </a:xfrm>
        </p:grpSpPr>
        <p:sp>
          <p:nvSpPr>
            <p:cNvPr id="551" name="矩形 550">
              <a:extLst>
                <a:ext uri="{FF2B5EF4-FFF2-40B4-BE49-F238E27FC236}">
                  <a16:creationId xmlns:a16="http://schemas.microsoft.com/office/drawing/2014/main" id="{54033E66-4CBE-8B80-53BC-20453319EAEB}"/>
                </a:ext>
              </a:extLst>
            </p:cNvPr>
            <p:cNvSpPr/>
            <p:nvPr/>
          </p:nvSpPr>
          <p:spPr>
            <a:xfrm>
              <a:off x="5181536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2" name="矩形 551">
              <a:extLst>
                <a:ext uri="{FF2B5EF4-FFF2-40B4-BE49-F238E27FC236}">
                  <a16:creationId xmlns:a16="http://schemas.microsoft.com/office/drawing/2014/main" id="{AFDDF998-F7B0-6CCE-6914-9D9C84F57023}"/>
                </a:ext>
              </a:extLst>
            </p:cNvPr>
            <p:cNvSpPr/>
            <p:nvPr/>
          </p:nvSpPr>
          <p:spPr>
            <a:xfrm>
              <a:off x="5507477" y="4377688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3" name="矩形 552">
              <a:extLst>
                <a:ext uri="{FF2B5EF4-FFF2-40B4-BE49-F238E27FC236}">
                  <a16:creationId xmlns:a16="http://schemas.microsoft.com/office/drawing/2014/main" id="{A36BD157-CEC2-3FA1-47AD-98DF5285BC35}"/>
                </a:ext>
              </a:extLst>
            </p:cNvPr>
            <p:cNvSpPr/>
            <p:nvPr/>
          </p:nvSpPr>
          <p:spPr>
            <a:xfrm>
              <a:off x="5181536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54" name="矩形 553">
              <a:extLst>
                <a:ext uri="{FF2B5EF4-FFF2-40B4-BE49-F238E27FC236}">
                  <a16:creationId xmlns:a16="http://schemas.microsoft.com/office/drawing/2014/main" id="{A6034A1A-D902-00CF-CECE-03E26D5C1B3C}"/>
                </a:ext>
              </a:extLst>
            </p:cNvPr>
            <p:cNvSpPr/>
            <p:nvPr/>
          </p:nvSpPr>
          <p:spPr>
            <a:xfrm>
              <a:off x="5507477" y="4710657"/>
              <a:ext cx="325941" cy="3312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540" name="文本框 539">
            <a:extLst>
              <a:ext uri="{FF2B5EF4-FFF2-40B4-BE49-F238E27FC236}">
                <a16:creationId xmlns:a16="http://schemas.microsoft.com/office/drawing/2014/main" id="{70A3FA3B-6C53-A5A2-9805-58E929787C9A}"/>
              </a:ext>
            </a:extLst>
          </p:cNvPr>
          <p:cNvSpPr txBox="1"/>
          <p:nvPr/>
        </p:nvSpPr>
        <p:spPr>
          <a:xfrm>
            <a:off x="11564687" y="5110676"/>
            <a:ext cx="485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  <a:endParaRPr kumimoji="1"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41" name="圆角矩形 540">
            <a:extLst>
              <a:ext uri="{FF2B5EF4-FFF2-40B4-BE49-F238E27FC236}">
                <a16:creationId xmlns:a16="http://schemas.microsoft.com/office/drawing/2014/main" id="{A7904217-E1BF-A1AD-2E2D-77C4B9F4333C}"/>
              </a:ext>
            </a:extLst>
          </p:cNvPr>
          <p:cNvSpPr/>
          <p:nvPr/>
        </p:nvSpPr>
        <p:spPr>
          <a:xfrm rot="16200000">
            <a:off x="5808354" y="-152274"/>
            <a:ext cx="1640632" cy="10939043"/>
          </a:xfrm>
          <a:prstGeom prst="roundRect">
            <a:avLst/>
          </a:prstGeom>
          <a:noFill/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2" name="直线箭头连接符 541">
            <a:extLst>
              <a:ext uri="{FF2B5EF4-FFF2-40B4-BE49-F238E27FC236}">
                <a16:creationId xmlns:a16="http://schemas.microsoft.com/office/drawing/2014/main" id="{4A550AC5-54EF-8685-9D42-401D6470351F}"/>
              </a:ext>
            </a:extLst>
          </p:cNvPr>
          <p:cNvCxnSpPr>
            <a:cxnSpLocks/>
            <a:stCxn id="527" idx="3"/>
            <a:endCxn id="561" idx="1"/>
          </p:cNvCxnSpPr>
          <p:nvPr/>
        </p:nvCxnSpPr>
        <p:spPr>
          <a:xfrm flipV="1">
            <a:off x="5069990" y="5246271"/>
            <a:ext cx="765838" cy="22616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直线箭头连接符 542">
            <a:extLst>
              <a:ext uri="{FF2B5EF4-FFF2-40B4-BE49-F238E27FC236}">
                <a16:creationId xmlns:a16="http://schemas.microsoft.com/office/drawing/2014/main" id="{4D68AA5A-3FF9-C198-7342-D32DEC3C3DAF}"/>
              </a:ext>
            </a:extLst>
          </p:cNvPr>
          <p:cNvCxnSpPr>
            <a:cxnSpLocks/>
          </p:cNvCxnSpPr>
          <p:nvPr/>
        </p:nvCxnSpPr>
        <p:spPr>
          <a:xfrm>
            <a:off x="10969093" y="5299701"/>
            <a:ext cx="64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4" name="直线箭头连接符 543">
            <a:extLst>
              <a:ext uri="{FF2B5EF4-FFF2-40B4-BE49-F238E27FC236}">
                <a16:creationId xmlns:a16="http://schemas.microsoft.com/office/drawing/2014/main" id="{A3A68104-BD02-BD7B-11BC-DFD21D4EBFBF}"/>
              </a:ext>
            </a:extLst>
          </p:cNvPr>
          <p:cNvCxnSpPr>
            <a:cxnSpLocks/>
          </p:cNvCxnSpPr>
          <p:nvPr/>
        </p:nvCxnSpPr>
        <p:spPr>
          <a:xfrm>
            <a:off x="9437831" y="5299701"/>
            <a:ext cx="864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5" name="直线箭头连接符 544">
            <a:extLst>
              <a:ext uri="{FF2B5EF4-FFF2-40B4-BE49-F238E27FC236}">
                <a16:creationId xmlns:a16="http://schemas.microsoft.com/office/drawing/2014/main" id="{044BDC9C-004D-8CCC-308C-90AADF31D732}"/>
              </a:ext>
            </a:extLst>
          </p:cNvPr>
          <p:cNvCxnSpPr>
            <a:cxnSpLocks/>
          </p:cNvCxnSpPr>
          <p:nvPr/>
        </p:nvCxnSpPr>
        <p:spPr>
          <a:xfrm>
            <a:off x="3604816" y="5287375"/>
            <a:ext cx="828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6" name="直线箭头连接符 545">
            <a:extLst>
              <a:ext uri="{FF2B5EF4-FFF2-40B4-BE49-F238E27FC236}">
                <a16:creationId xmlns:a16="http://schemas.microsoft.com/office/drawing/2014/main" id="{B9E06ADF-0529-F12A-62C7-C5579F9E2BC8}"/>
              </a:ext>
            </a:extLst>
          </p:cNvPr>
          <p:cNvCxnSpPr>
            <a:cxnSpLocks/>
          </p:cNvCxnSpPr>
          <p:nvPr/>
        </p:nvCxnSpPr>
        <p:spPr>
          <a:xfrm>
            <a:off x="6402245" y="5301326"/>
            <a:ext cx="9000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7" name="文本框 546">
            <a:extLst>
              <a:ext uri="{FF2B5EF4-FFF2-40B4-BE49-F238E27FC236}">
                <a16:creationId xmlns:a16="http://schemas.microsoft.com/office/drawing/2014/main" id="{CD8EBB27-2CFF-B2D9-2B9A-1EB3CE5BD8A2}"/>
              </a:ext>
            </a:extLst>
          </p:cNvPr>
          <p:cNvSpPr txBox="1"/>
          <p:nvPr/>
        </p:nvSpPr>
        <p:spPr>
          <a:xfrm>
            <a:off x="6138767" y="4511187"/>
            <a:ext cx="979805" cy="3384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Device</a:t>
            </a:r>
            <a:r>
              <a:rPr kumimoji="1" lang="zh-CN" altLang="en-US" sz="160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 sz="160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endParaRPr kumimoji="1" lang="zh-CN" alt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48" name="直线箭头连接符 547">
            <a:extLst>
              <a:ext uri="{FF2B5EF4-FFF2-40B4-BE49-F238E27FC236}">
                <a16:creationId xmlns:a16="http://schemas.microsoft.com/office/drawing/2014/main" id="{726202A2-B1CC-4A52-ABEC-9C78044CCAF8}"/>
              </a:ext>
            </a:extLst>
          </p:cNvPr>
          <p:cNvCxnSpPr>
            <a:cxnSpLocks/>
            <a:stCxn id="527" idx="3"/>
            <a:endCxn id="606" idx="1"/>
          </p:cNvCxnSpPr>
          <p:nvPr/>
        </p:nvCxnSpPr>
        <p:spPr>
          <a:xfrm flipV="1">
            <a:off x="5069990" y="3466395"/>
            <a:ext cx="756979" cy="20060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9" name="直线箭头连接符 548">
            <a:extLst>
              <a:ext uri="{FF2B5EF4-FFF2-40B4-BE49-F238E27FC236}">
                <a16:creationId xmlns:a16="http://schemas.microsoft.com/office/drawing/2014/main" id="{A355F974-B45B-0815-8B3B-CF457C584B93}"/>
              </a:ext>
            </a:extLst>
          </p:cNvPr>
          <p:cNvCxnSpPr>
            <a:cxnSpLocks/>
            <a:stCxn id="534" idx="3"/>
            <a:endCxn id="555" idx="1"/>
          </p:cNvCxnSpPr>
          <p:nvPr/>
        </p:nvCxnSpPr>
        <p:spPr>
          <a:xfrm flipV="1">
            <a:off x="7638630" y="5327784"/>
            <a:ext cx="1137213" cy="1325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0" name="直线箭头连接符 549">
            <a:extLst>
              <a:ext uri="{FF2B5EF4-FFF2-40B4-BE49-F238E27FC236}">
                <a16:creationId xmlns:a16="http://schemas.microsoft.com/office/drawing/2014/main" id="{5E572D7D-350A-22A3-D705-5B5289376D61}"/>
              </a:ext>
            </a:extLst>
          </p:cNvPr>
          <p:cNvCxnSpPr>
            <a:cxnSpLocks/>
            <a:stCxn id="533" idx="3"/>
            <a:endCxn id="594" idx="1"/>
          </p:cNvCxnSpPr>
          <p:nvPr/>
        </p:nvCxnSpPr>
        <p:spPr>
          <a:xfrm flipV="1">
            <a:off x="7638630" y="3211522"/>
            <a:ext cx="1125953" cy="192714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文本框 517">
            <a:extLst>
              <a:ext uri="{FF2B5EF4-FFF2-40B4-BE49-F238E27FC236}">
                <a16:creationId xmlns:a16="http://schemas.microsoft.com/office/drawing/2014/main" id="{192939F3-A736-B028-0487-19C3571C1306}"/>
              </a:ext>
            </a:extLst>
          </p:cNvPr>
          <p:cNvSpPr txBox="1"/>
          <p:nvPr/>
        </p:nvSpPr>
        <p:spPr>
          <a:xfrm>
            <a:off x="7087718" y="4075594"/>
            <a:ext cx="964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kumimoji="1" lang="zh-CN" altLang="en-US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1" lang="en-US" altLang="zh-CN">
                <a:latin typeface="Calibri" panose="020F0502020204030204" pitchFamily="34" charset="0"/>
                <a:cs typeface="Calibri" panose="020F0502020204030204" pitchFamily="34" charset="0"/>
              </a:rPr>
              <a:t>All</a:t>
            </a:r>
            <a:endParaRPr kumimoji="1" lang="zh-CN" alt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513" name="直线箭头连接符 512">
            <a:extLst>
              <a:ext uri="{FF2B5EF4-FFF2-40B4-BE49-F238E27FC236}">
                <a16:creationId xmlns:a16="http://schemas.microsoft.com/office/drawing/2014/main" id="{8D1DC2BD-EDE9-B4FB-3F80-E7FE93646A02}"/>
              </a:ext>
            </a:extLst>
          </p:cNvPr>
          <p:cNvCxnSpPr>
            <a:cxnSpLocks/>
            <a:stCxn id="622" idx="3"/>
            <a:endCxn id="620" idx="2"/>
          </p:cNvCxnSpPr>
          <p:nvPr/>
        </p:nvCxnSpPr>
        <p:spPr>
          <a:xfrm flipV="1">
            <a:off x="1075510" y="3430126"/>
            <a:ext cx="475352" cy="6998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直线箭头连接符 513">
            <a:extLst>
              <a:ext uri="{FF2B5EF4-FFF2-40B4-BE49-F238E27FC236}">
                <a16:creationId xmlns:a16="http://schemas.microsoft.com/office/drawing/2014/main" id="{E9A45B82-A48A-D301-168F-FB86B1421369}"/>
              </a:ext>
            </a:extLst>
          </p:cNvPr>
          <p:cNvCxnSpPr>
            <a:cxnSpLocks/>
            <a:stCxn id="624" idx="3"/>
            <a:endCxn id="519" idx="0"/>
          </p:cNvCxnSpPr>
          <p:nvPr/>
        </p:nvCxnSpPr>
        <p:spPr>
          <a:xfrm>
            <a:off x="1075510" y="4451582"/>
            <a:ext cx="486612" cy="7636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DDFEBE1C-C337-8C3C-B273-D588B21EA639}"/>
              </a:ext>
            </a:extLst>
          </p:cNvPr>
          <p:cNvSpPr/>
          <p:nvPr/>
        </p:nvSpPr>
        <p:spPr>
          <a:xfrm>
            <a:off x="5584835" y="2082018"/>
            <a:ext cx="2615353" cy="4342315"/>
          </a:xfrm>
          <a:prstGeom prst="rect">
            <a:avLst/>
          </a:prstGeom>
          <a:noFill/>
          <a:ln w="31750">
            <a:solidFill>
              <a:srgbClr val="C0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5217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6579</Words>
  <Application>Microsoft Macintosh PowerPoint</Application>
  <PresentationFormat>宽屏</PresentationFormat>
  <Paragraphs>938</Paragraphs>
  <Slides>41</Slides>
  <Notes>40</Notes>
  <HiddenSlides>5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41</vt:i4>
      </vt:variant>
    </vt:vector>
  </HeadingPairs>
  <TitlesOfParts>
    <vt:vector size="54" baseType="lpstr">
      <vt:lpstr>等线</vt:lpstr>
      <vt:lpstr>Microsoft YaHei</vt:lpstr>
      <vt:lpstr>Microsoft YaHei</vt:lpstr>
      <vt:lpstr>系统字体常规体</vt:lpstr>
      <vt:lpstr>rival-sans</vt:lpstr>
      <vt:lpstr>Arial</vt:lpstr>
      <vt:lpstr>Calibri</vt:lpstr>
      <vt:lpstr>Cambria Math</vt:lpstr>
      <vt:lpstr>Gill Sans MT</vt:lpstr>
      <vt:lpstr>Verdana</vt:lpstr>
      <vt:lpstr>Wingdings</vt:lpstr>
      <vt:lpstr>自定义设计方案</vt:lpstr>
      <vt:lpstr>1_自定义设计方案</vt:lpstr>
      <vt:lpstr>PowerPoint 演示文稿</vt:lpstr>
      <vt:lpstr>Outline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Background</vt:lpstr>
      <vt:lpstr>Outline</vt:lpstr>
      <vt:lpstr>Key ideas</vt:lpstr>
      <vt:lpstr>Further Challenges</vt:lpstr>
      <vt:lpstr>Further Challenges</vt:lpstr>
      <vt:lpstr>Design of Shift Parallelism</vt:lpstr>
      <vt:lpstr>Design of Shift Parallelism</vt:lpstr>
      <vt:lpstr>Design of Shift Parallelism</vt:lpstr>
      <vt:lpstr>Design of Shift Parallelism</vt:lpstr>
      <vt:lpstr>Design of Shift Parallelism</vt:lpstr>
      <vt:lpstr>Design of Shift Parallelism</vt:lpstr>
      <vt:lpstr>Design of Shift Parallelism</vt:lpstr>
      <vt:lpstr>Design of Shift Parallelism</vt:lpstr>
      <vt:lpstr>Design of Shift Parallelism</vt:lpstr>
      <vt:lpstr>Implementation of Shift Parallelism</vt:lpstr>
      <vt:lpstr>Outline</vt:lpstr>
      <vt:lpstr>Evaluation</vt:lpstr>
      <vt:lpstr>Evaluation Setup</vt:lpstr>
      <vt:lpstr>Evaluation Setup</vt:lpstr>
      <vt:lpstr>Performance ﻿in Real-World Traffic</vt:lpstr>
      <vt:lpstr>Performance Benchmarks</vt:lpstr>
      <vt:lpstr>Performance Benchmarks</vt:lpstr>
      <vt:lpstr>Performance Benchmarks</vt:lpstr>
      <vt:lpstr>Shift Parallelism in Production</vt:lpstr>
      <vt:lpstr>Breakdown</vt:lpstr>
      <vt:lpstr>Outline</vt:lpstr>
      <vt:lpstr>Conclusion</vt:lpstr>
      <vt:lpstr>Background</vt:lpstr>
      <vt:lpstr>Background</vt:lpstr>
      <vt:lpstr>Background</vt:lpstr>
      <vt:lpstr>Background</vt:lpstr>
      <vt:lpstr>Background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金泽文</dc:creator>
  <cp:lastModifiedBy>嘉安 朱</cp:lastModifiedBy>
  <cp:revision>2</cp:revision>
  <dcterms:created xsi:type="dcterms:W3CDTF">2025-10-24T05:21:00Z</dcterms:created>
  <dcterms:modified xsi:type="dcterms:W3CDTF">2025-11-02T16:15:21Z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80EB324D385CB664840BFB6816B2F0C0_43</vt:lpwstr>
  </property>
  <property fmtid="{D5CDD505-2E9C-101B-9397-08002B2CF9AE}" pid="3" name="KSOProductBuildVer">
    <vt:lpwstr>2052-6.14.0.8924</vt:lpwstr>
  </property>
</Properties>
</file>